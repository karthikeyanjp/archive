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I'm going to spend the next forty-five minutes walking you through how the industry is thinking about productivity and value in the age of AI-assisted engineering. This is a briefing, not a pitch — I'll point you to the research as we go, and I'll flag where I'm sharing opinion versus data. By the end I want you to have a framework you can take back to your teams on Monday. Let's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provocation I want to sit with for a minute. Every engineering organization in this room is getting faster. Commit volume is up, PR throughput is up, story points are up. And yet — if you ask the CFO whether engineering is delivering more value this year than last, the honest answer is usually 'we don't know.' We are measuring the wrong things, faster than ever. That's the problem I want to unpack.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context on how we got here. Fifteen years ago we measured velocity and story points. Ten years ago DORA gave us a real industry standard — four keys that genuinely predict delivery performance. Five years ago SPACE added the human side: flow, satisfaction, communication. Each framework was a response to the failures of the one before it. And then, starting in 2023, AI-assisted coding walked in and made the cost of producing code collapse. Every assumption baked into the prior frameworks is now up for re-examination.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we are in 2026. Three quarters of professional developers are in AI tools every day. Roughly a third of committed code in sampled repositories is AI-influenced. And a randomized field experiment from MIT, Microsoft, and Princeton found a twenty-six percent productivity lift — concentrated among less-experienced developers. Adoption is essentially saturated. The open question is not whether AI tools work; it's whether the downstream metrics we use to run the business have kept pace. They have not. That's the gap we'll explore.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value question. Before we talk about what to measure, we have to talk about what we're actually measuring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oldest trap in software management, and AI has made it worse. We conflate output with outcome. Pull requests merged is output; the customer problem being solved is the outcome. Lines of code generated is volume; features actually adopted in production is value. AI increases the left column much faster than it increases the right column. If your dashboard is full of left-column metrics, you are flying blind in a very specific and dangerous way — the plane feels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four-level framework that I find useful. Activity — keystrokes, prompts sent — is trivially easy to measure and almost always meaningless. Output — commits, PRs, features shipped — is a reasonable health signal but a terrible target. Outcome — reliability, adoption, cycle time — is what the business feels. And Value — revenue, retention, cost avoided — is what the business pays for. The columns get narrower as you go right because they get harder to measure. Most organizations live in the first two columns because they're easy. The opportunity is to push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talk to CEOs and CFOs, these are the five questions they actually ask about engineering. Not one of them is answered by a velocity chart. 'Are we shipping the things that matter, faster than last quarter?' 'Is AI making seniors more productive or just less necessary?' 'Where is the quality debt hiding?' 'Can a smaller team do what a larger one did a year ago?' 'What's our ROI on AI tooling?' Your measurement system should be designed to answer these. If it can't, it's the wrong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Now that we've established what we're trying to measure, let's talk about how metrics lie — because they do, constantly, and AI has given them new ways to 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traps I see everywhere. Velocity theater: counting PRs as if each were equally valuable. The acceptance fallacy: copilot acceptance rate measuring tolerance, not value. Goodhart's curse: every measure becomes a target, and with AI, engineers can game targets at machine speed. And debt laundered as speed: short-term throughput rises while rework rises on a lag. We'll take each one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trap one made concrete. This is a composite pattern from several 2024–25 field studies. PRs merged went up one hundred seventy percent after AI rollout. Features actually adopted by customers went up twelve percent. The ratio is the point. AI made it cheap to ship more. It did not, by itself, make it cheap to ship better. If your measurement system only sees the orange bar, you will declare victory. If it sees the teal bar too, you will ask a harder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Trap two. If your AI tooling dashboard leads with 'acceptance rate,' I want you to think about what that number actually tells you. It tells you developers tolerate the suggestions. It does not tell you whether the accepted code was correct, whether it was kept through review, whether it was functionally different from what the developer would have written, or whether it was still running in production a week later. The metric I'd replace it with is persistence — what share of AI-suggested code is unchanged in the repo thirty days later. That number correlates with value. Acceptance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Goodhart's law, 1975. Every experienced manager in this room has lived this. The moment you reward a measure, people optimize for the measure, not for the thing underneath. AI compresses the cycle time on this phenomenon. If you reward commits per week, you will get trivial AI commits. If you reward lines of code, you will get verbose code. The only defense is to pair every quantitative target with a qualitative check, and to rotate the targets before they calcify.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Trap four — and this is the one that scares me the most, because it's invisible for months. Throughput rises immediately when teams adopt AI. Rework, incidents, refactoring cost — those rise on a lag of six to twelve months. There's a crossover point where the debt begins to eat the throughput gains. Several studies in 2024 and 2025 picked this pattern up in large codebases. The implication for managers: do not declare victory at T-plus-three-months. Wait for the full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If the old metrics lie and the new tools break them faster, what should we actually measure? This is the part of the talk that's most opinionated, and I'll flag where I'm synthesizing industry practice versus proposing.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DORA and SPACE are the incumbents and they earned that status. DORA's four keys still predict delivery performance — but a 2026 Stackademic piece by Ganesh Gurudu argues a fifth is now non-negotiable: Mean Time to Value, the elapsed time from idea approval to measurable business outcome. The argument: AI coding tools have collapsed lead time so far that DORA can no longer tell you whether what you shipped was worth shipping. SPACE's five dimensions cover the human side DORA never touched. If you don't have these in place, start here. Don't skip to the shiny new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here's what neither framework captures cleanly in the AI era. AI leverage: how much of the improvement is the tool versus the team. Economic value: neither framework maps to revenue or margin. Cognitive load: review burden is rising, and nobody's tracking it. Quality half-life: AI-written code ages differently than human-written code, and the defect curves don't look the same. We need additions, not replacements.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framework I propose, synthesizing what I see working across the industry. Three lenses. Flow — how the work moves. Experience — how the team feels. Impact — what the business gets. Each lens has three to four metrics, and critically, each lens has a different audience. Flow is for the team. Experience is for the manager. Impact is for the executive. One scorecard does not fit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Lens one, Flow. Keep DORA's four keys — they're the floor. Add two AI-era metrics. Rework ratio: what share of shipped code is modified within thirty days. Defect half-life: time until half of a cohort's bugs have surfaced. The formula on the right is a way to express this in one number: ship rate divided by one-plus-rework. A denominator that penalizes rework makes speed honest. If you can't produce this number today, that's the first thing I'd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Lens two, Experience. This is half survey, half telemetry. The survey is five questions, ninety seconds, quarterly. You're tracking perceived productivity, flow, trust in AI tools, review load, and would-recommend. The telemetry side watches context-switching, review latency, onboarding time, an AI trust index — what percent of AI suggestions get inspected before accept — and incident load. Together these tell you whether the team is accumulating energy or bleeding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Lens three, Impact. The lens executives actually care about. Value delivered per quarter — features shipped weighted by adoption, not effort. Cost per engineer-week, fully loaded including tooling. And ROI on AI spend, attributed carefully because the confounds are many. These are not three metrics; they are three scorecards. Resist the urge to roll them into a single number. You will hide more than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 balanced quarterly scorecard looks like in practice. Three rows for Flow, three for Experience, two for Impact. Targets in the middle column, actuals on the right, a simple traffic-light in the last. Notice that this team is beating target on some dimensions and behind on others — which is what a real scorecard should look like. If everything is green, you are measuring the wrong things. Or 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and this is the shortest section. Because the way we measure is changing, so is the way we organize. I'll touch it briefly; this deserves its own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engineering teams is changing. Two years ago, a typical product team looked like the left diagram — fifteen people, pyramidal. Today, the same charter is increasingly handled by what looks like the right diagram — three humans with high AI leverage, sometimes supported by six agents. Same surface area, different math. This is not theoretical. This is what Stripe, Shopify, Anthropic, and a cohort of AI-native companies are publicly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stated plainly. The unit of productivity is shrinking. A three-person pod with strong AI leverage is beginning to out-ship a fifteen-person team with weak leverage. Two to five engineers per pod. One clear owner per surface. Effectively infinite agent-hours on demand. The manager's job is no longer to staff projects. It's to design the minimum viable pod. That reframing is where a lot of the change resistance lives — because it implies fewer managers.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implications for you as managers, starting Monday. One: coach, don't assign — every engineer in a pod of three is senior-adjacent. Two: budget for review, not just build — AI halves write-time and doubles review-time. Three: flatten the reporting tree — fewer managers, bigger spans, higher bar for written clarity. Four: invest in seniors early — juniors get the largest AI lift, but seniors are the ones who catch the mistakes. If you only remember one of these, remember the fourth.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ninety-day reset, if you want something concrete to do with this talk. First thirty days: audit every metric you have and classify each as activity, output, outcome, or value. Retire the first two. Second thirty: stand up the three lenses, one metric per lens per team — no more. Third thirty: review with your pod leads, kill what doesn't change behavior, and commit to the remaining set for two quarters. Two quarters is the minimum; less than that and you'll never learn whether the metric actually moves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thought. Velocity decays. Trust, quality, and customer value compound. The managers who thrive in the AI era are the ones who pick the compounding metrics — and defend them from the quarterly pressure to ship more. Measure what compounds.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10352723"/>
          </a:xfrm>
          <a:prstGeom prst="rect">
            <a:avLst/>
          </a:prstGeom>
          <a:solidFill>
            <a:srgbClr val="FFFFFF"/>
          </a:solidFill>
          <a:ln/>
        </p:spPr>
      </p:sp>
      <p:sp>
        <p:nvSpPr>
          <p:cNvPr id="3" name="Shape 1"/>
          <p:cNvSpPr/>
          <p:nvPr/>
        </p:nvSpPr>
        <p:spPr>
          <a:xfrm>
            <a:off x="1143000" y="1462088"/>
            <a:ext cx="16002000" cy="9525"/>
          </a:xfrm>
          <a:prstGeom prst="rect">
            <a:avLst/>
          </a:prstGeom>
          <a:solidFill>
            <a:srgbClr val="D9D9D6"/>
          </a:solidFill>
          <a:ln/>
        </p:spPr>
      </p:sp>
      <p:sp>
        <p:nvSpPr>
          <p:cNvPr id="4" name="Shape 2"/>
          <p:cNvSpPr/>
          <p:nvPr/>
        </p:nvSpPr>
        <p:spPr>
          <a:xfrm>
            <a:off x="1143000" y="1026319"/>
            <a:ext cx="133350" cy="133350"/>
          </a:xfrm>
          <a:prstGeom prst="rect">
            <a:avLst/>
          </a:prstGeom>
          <a:solidFill>
            <a:srgbClr val="001E5C"/>
          </a:solidFill>
          <a:ln/>
        </p:spPr>
      </p:sp>
      <p:sp>
        <p:nvSpPr>
          <p:cNvPr id="5" name="Text 3"/>
          <p:cNvSpPr/>
          <p:nvPr/>
        </p:nvSpPr>
        <p:spPr>
          <a:xfrm>
            <a:off x="1447800" y="952500"/>
            <a:ext cx="3837966"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6B6B6B"/>
                </a:solidFill>
                <a:latin typeface="Arial" pitchFamily="34" charset="0"/>
                <a:ea typeface="Arial" pitchFamily="34" charset="-122"/>
                <a:cs typeface="Arial" pitchFamily="34" charset="-120"/>
              </a:rPr>
              <a:t>AI OUTLOOK — Q2 2026</a:t>
            </a:r>
            <a:endParaRPr lang="en-US" sz="1800" dirty="0"/>
          </a:p>
        </p:txBody>
      </p:sp>
      <p:sp>
        <p:nvSpPr>
          <p:cNvPr id="6" name="Text 4"/>
          <p:cNvSpPr/>
          <p:nvPr/>
        </p:nvSpPr>
        <p:spPr>
          <a:xfrm>
            <a:off x="11037729" y="952500"/>
            <a:ext cx="629049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6B6B6B"/>
                </a:solidFill>
                <a:latin typeface="Arial" pitchFamily="34" charset="0"/>
                <a:ea typeface="Arial" pitchFamily="34" charset="-122"/>
                <a:cs typeface="Arial" pitchFamily="34" charset="-120"/>
              </a:rPr>
              <a:t>CONFIDENTIAL BRIEFING · 45 MINUTES</a:t>
            </a:r>
            <a:endParaRPr lang="en-US" sz="1800" dirty="0"/>
          </a:p>
        </p:txBody>
      </p:sp>
      <p:sp>
        <p:nvSpPr>
          <p:cNvPr id="7" name="Text 5"/>
          <p:cNvSpPr/>
          <p:nvPr/>
        </p:nvSpPr>
        <p:spPr>
          <a:xfrm>
            <a:off x="1143000" y="1471613"/>
            <a:ext cx="1569720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INDUSTRY PERSPECTIVE</a:t>
            </a:r>
            <a:endParaRPr lang="en-US" sz="1800" dirty="0"/>
          </a:p>
        </p:txBody>
      </p:sp>
      <p:sp>
        <p:nvSpPr>
          <p:cNvPr id="8" name="Text 6"/>
          <p:cNvSpPr/>
          <p:nvPr/>
        </p:nvSpPr>
        <p:spPr>
          <a:xfrm>
            <a:off x="1143000" y="2057400"/>
            <a:ext cx="15697200" cy="5478780"/>
          </a:xfrm>
          <a:prstGeom prst="rect">
            <a:avLst/>
          </a:prstGeom>
          <a:noFill/>
          <a:ln/>
        </p:spPr>
        <p:txBody>
          <a:bodyPr wrap="square" lIns="25400" tIns="25400" rIns="25400" bIns="25400" rtlCol="0" anchor="t">
            <a:normAutofit/>
          </a:bodyPr>
          <a:lstStyle/>
          <a:p>
            <a:pPr algn="l" indent="0" marL="0">
              <a:lnSpc>
                <a:spcPct val="102000"/>
              </a:lnSpc>
              <a:buNone/>
            </a:pPr>
            <a:r>
              <a:rPr lang="en-US" sz="10500" b="1" spc="-210" kern="0" dirty="0">
                <a:solidFill>
                  <a:srgbClr val="0A0A0A"/>
                </a:solidFill>
                <a:latin typeface="Arial" pitchFamily="34" charset="0"/>
                <a:ea typeface="Arial" pitchFamily="34" charset="-122"/>
                <a:cs typeface="Arial" pitchFamily="34" charset="-120"/>
              </a:rPr>
              <a:t>Measuring productivity and value in the age of AI-assisted software engineering.</a:t>
            </a:r>
            <a:endParaRPr lang="en-US" sz="10500" dirty="0"/>
          </a:p>
        </p:txBody>
      </p:sp>
      <p:sp>
        <p:nvSpPr>
          <p:cNvPr id="9" name="Text 7"/>
          <p:cNvSpPr/>
          <p:nvPr/>
        </p:nvSpPr>
        <p:spPr>
          <a:xfrm>
            <a:off x="1143000" y="7955280"/>
            <a:ext cx="11772900" cy="963930"/>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2B2B2B"/>
                </a:solidFill>
                <a:latin typeface="Arial" pitchFamily="34" charset="0"/>
                <a:ea typeface="Arial" pitchFamily="34" charset="-122"/>
                <a:cs typeface="Arial" pitchFamily="34" charset="-120"/>
              </a:rPr>
              <a:t>A view on how leading engineering organizations are rethinking metrics, frameworks, and team structure.</a:t>
            </a:r>
            <a:endParaRPr lang="en-US" sz="2700" dirty="0"/>
          </a:p>
        </p:txBody>
      </p:sp>
      <p:sp>
        <p:nvSpPr>
          <p:cNvPr id="10" name="Shape 8"/>
          <p:cNvSpPr/>
          <p:nvPr/>
        </p:nvSpPr>
        <p:spPr>
          <a:xfrm>
            <a:off x="1143000" y="8881110"/>
            <a:ext cx="16002000" cy="9525"/>
          </a:xfrm>
          <a:prstGeom prst="rect">
            <a:avLst/>
          </a:prstGeom>
          <a:solidFill>
            <a:srgbClr val="D9D9D6"/>
          </a:solidFill>
          <a:ln/>
        </p:spPr>
      </p:sp>
      <p:sp>
        <p:nvSpPr>
          <p:cNvPr id="11" name="Text 9"/>
          <p:cNvSpPr/>
          <p:nvPr/>
        </p:nvSpPr>
        <p:spPr>
          <a:xfrm>
            <a:off x="1143000" y="9119235"/>
            <a:ext cx="7657781"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PREPARED FOR PRODUCT &amp; ENGINEERING MANAGERS</a:t>
            </a:r>
            <a:endParaRPr lang="en-US" sz="1800" dirty="0"/>
          </a:p>
        </p:txBody>
      </p:sp>
      <p:sp>
        <p:nvSpPr>
          <p:cNvPr id="12" name="Text 10"/>
          <p:cNvSpPr/>
          <p:nvPr/>
        </p:nvSpPr>
        <p:spPr>
          <a:xfrm>
            <a:off x="15541784" y="9119235"/>
            <a:ext cx="167941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APRIL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8899843"/>
          </a:xfrm>
          <a:prstGeom prst="rect">
            <a:avLst/>
          </a:prstGeom>
          <a:solidFill>
            <a:srgbClr val="FFFFFF"/>
          </a:solidFill>
          <a:ln/>
        </p:spPr>
      </p:sp>
      <p:sp>
        <p:nvSpPr>
          <p:cNvPr id="3" name="Text 1"/>
          <p:cNvSpPr/>
          <p:nvPr/>
        </p:nvSpPr>
        <p:spPr>
          <a:xfrm>
            <a:off x="1143000" y="952500"/>
            <a:ext cx="14716125"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OPENING OBSERVATION</a:t>
            </a:r>
            <a:endParaRPr lang="en-US" sz="1800" dirty="0"/>
          </a:p>
        </p:txBody>
      </p:sp>
      <p:sp>
        <p:nvSpPr>
          <p:cNvPr id="4" name="Text 2"/>
          <p:cNvSpPr/>
          <p:nvPr/>
        </p:nvSpPr>
        <p:spPr>
          <a:xfrm>
            <a:off x="1143000" y="1690688"/>
            <a:ext cx="14716125" cy="4646930"/>
          </a:xfrm>
          <a:prstGeom prst="rect">
            <a:avLst/>
          </a:prstGeom>
          <a:noFill/>
          <a:ln/>
        </p:spPr>
        <p:txBody>
          <a:bodyPr wrap="square" lIns="25400" tIns="25400" rIns="25400" bIns="25400" rtlCol="0" anchor="t">
            <a:normAutofit/>
          </a:bodyPr>
          <a:lstStyle/>
          <a:p>
            <a:pPr algn="l" indent="0" marL="0">
              <a:lnSpc>
                <a:spcPct val="108006"/>
              </a:lnSpc>
              <a:buNone/>
            </a:pPr>
            <a:r>
              <a:rPr lang="en-US" sz="8400" b="1" spc="-126" kern="0" dirty="0">
                <a:solidFill>
                  <a:srgbClr val="0A0A0A"/>
                </a:solidFill>
                <a:latin typeface="Arial" pitchFamily="34" charset="0"/>
                <a:ea typeface="Arial" pitchFamily="34" charset="-122"/>
                <a:cs typeface="Arial" pitchFamily="34" charset="-120"/>
              </a:rPr>
              <a:t>Engineering output is rising sharply. Evidence that customer value is rising with it remains inconclusive.</a:t>
            </a:r>
            <a:endParaRPr lang="en-US" sz="8400" dirty="0"/>
          </a:p>
        </p:txBody>
      </p:sp>
      <p:sp>
        <p:nvSpPr>
          <p:cNvPr id="5" name="Shape 3"/>
          <p:cNvSpPr/>
          <p:nvPr/>
        </p:nvSpPr>
        <p:spPr>
          <a:xfrm>
            <a:off x="1143000" y="6832918"/>
            <a:ext cx="11430000" cy="9525"/>
          </a:xfrm>
          <a:prstGeom prst="rect">
            <a:avLst/>
          </a:prstGeom>
          <a:solidFill>
            <a:srgbClr val="D9D9D6"/>
          </a:solidFill>
          <a:ln/>
        </p:spPr>
      </p:sp>
      <p:sp>
        <p:nvSpPr>
          <p:cNvPr id="6" name="Text 4"/>
          <p:cNvSpPr/>
          <p:nvPr/>
        </p:nvSpPr>
        <p:spPr>
          <a:xfrm>
            <a:off x="1143000" y="7147243"/>
            <a:ext cx="1177290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6B6B6B"/>
                </a:solidFill>
                <a:latin typeface="Arial" pitchFamily="34" charset="0"/>
                <a:ea typeface="Arial" pitchFamily="34" charset="-122"/>
                <a:cs typeface="Arial" pitchFamily="34" charset="-120"/>
              </a:rPr>
              <a:t>This briefing examines the gap, the measurement failures that hide it, and the frameworks emerging to close it.</a:t>
            </a:r>
            <a:endParaRPr lang="en-US" sz="2250" dirty="0"/>
          </a:p>
        </p:txBody>
      </p:sp>
      <p:sp>
        <p:nvSpPr>
          <p:cNvPr id="7" name="Shape 5"/>
          <p:cNvSpPr/>
          <p:nvPr/>
        </p:nvSpPr>
        <p:spPr>
          <a:xfrm>
            <a:off x="1143000" y="8056880"/>
            <a:ext cx="16002000" cy="9525"/>
          </a:xfrm>
          <a:prstGeom prst="rect">
            <a:avLst/>
          </a:prstGeom>
          <a:solidFill>
            <a:srgbClr val="D9D9D6"/>
          </a:solidFill>
          <a:ln/>
        </p:spPr>
      </p:sp>
      <p:sp>
        <p:nvSpPr>
          <p:cNvPr id="8" name="Text 6"/>
          <p:cNvSpPr/>
          <p:nvPr/>
        </p:nvSpPr>
        <p:spPr>
          <a:xfrm>
            <a:off x="1143000" y="8237855"/>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9" name="Text 7"/>
          <p:cNvSpPr/>
          <p:nvPr/>
        </p:nvSpPr>
        <p:spPr>
          <a:xfrm>
            <a:off x="9449594" y="8237855"/>
            <a:ext cx="133921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OPENING</a:t>
            </a:r>
            <a:endParaRPr lang="en-US" sz="1800" dirty="0"/>
          </a:p>
        </p:txBody>
      </p:sp>
      <p:sp>
        <p:nvSpPr>
          <p:cNvPr id="10" name="Text 8"/>
          <p:cNvSpPr/>
          <p:nvPr/>
        </p:nvSpPr>
        <p:spPr>
          <a:xfrm>
            <a:off x="16141065" y="8237855"/>
            <a:ext cx="108013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02 / 28</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7166610"/>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 · INDUSTRY CONTEXT</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Fifteen years of measuring software delivery.</a:t>
            </a:r>
            <a:endParaRPr lang="en-US" sz="4800" dirty="0"/>
          </a:p>
        </p:txBody>
      </p:sp>
      <p:sp>
        <p:nvSpPr>
          <p:cNvPr id="5" name="Shape 3"/>
          <p:cNvSpPr/>
          <p:nvPr/>
        </p:nvSpPr>
        <p:spPr>
          <a:xfrm>
            <a:off x="1143000" y="2653824"/>
            <a:ext cx="3657600" cy="19050"/>
          </a:xfrm>
          <a:prstGeom prst="rect">
            <a:avLst/>
          </a:prstGeom>
          <a:solidFill>
            <a:srgbClr val="0A0A0A"/>
          </a:solidFill>
          <a:ln/>
        </p:spPr>
      </p:sp>
      <p:sp>
        <p:nvSpPr>
          <p:cNvPr id="6" name="Text 4"/>
          <p:cNvSpPr/>
          <p:nvPr/>
        </p:nvSpPr>
        <p:spPr>
          <a:xfrm>
            <a:off x="1143000" y="2901474"/>
            <a:ext cx="3767328"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B6B6B"/>
                </a:solidFill>
                <a:latin typeface="Arial" pitchFamily="34" charset="0"/>
                <a:ea typeface="Arial" pitchFamily="34" charset="-122"/>
                <a:cs typeface="Arial" pitchFamily="34" charset="-120"/>
              </a:rPr>
              <a:t>2010–2015</a:t>
            </a:r>
            <a:endParaRPr lang="en-US" sz="1800" dirty="0"/>
          </a:p>
        </p:txBody>
      </p:sp>
      <p:sp>
        <p:nvSpPr>
          <p:cNvPr id="7" name="Text 5"/>
          <p:cNvSpPr/>
          <p:nvPr/>
        </p:nvSpPr>
        <p:spPr>
          <a:xfrm>
            <a:off x="1143000" y="3372961"/>
            <a:ext cx="3767328"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b="1" spc="-33" kern="0" dirty="0">
                <a:solidFill>
                  <a:srgbClr val="0A0A0A"/>
                </a:solidFill>
                <a:latin typeface="Arial" pitchFamily="34" charset="0"/>
                <a:ea typeface="Arial" pitchFamily="34" charset="-122"/>
                <a:cs typeface="Arial" pitchFamily="34" charset="-120"/>
              </a:rPr>
              <a:t>Agile &amp; DevOps</a:t>
            </a:r>
            <a:endParaRPr lang="en-US" sz="3300" dirty="0"/>
          </a:p>
        </p:txBody>
      </p:sp>
      <p:sp>
        <p:nvSpPr>
          <p:cNvPr id="8" name="Text 6"/>
          <p:cNvSpPr/>
          <p:nvPr/>
        </p:nvSpPr>
        <p:spPr>
          <a:xfrm>
            <a:off x="1143000" y="4024471"/>
            <a:ext cx="3767328"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Velocity, story points, burn-down charts. Output as a proxy for value.</a:t>
            </a:r>
            <a:endParaRPr lang="en-US" sz="1950" dirty="0"/>
          </a:p>
        </p:txBody>
      </p:sp>
      <p:sp>
        <p:nvSpPr>
          <p:cNvPr id="9" name="Shape 7"/>
          <p:cNvSpPr/>
          <p:nvPr/>
        </p:nvSpPr>
        <p:spPr>
          <a:xfrm>
            <a:off x="5257800" y="2653824"/>
            <a:ext cx="3657600" cy="19050"/>
          </a:xfrm>
          <a:prstGeom prst="rect">
            <a:avLst/>
          </a:prstGeom>
          <a:solidFill>
            <a:srgbClr val="0A0A0A"/>
          </a:solidFill>
          <a:ln/>
        </p:spPr>
      </p:sp>
      <p:sp>
        <p:nvSpPr>
          <p:cNvPr id="10" name="Text 8"/>
          <p:cNvSpPr/>
          <p:nvPr/>
        </p:nvSpPr>
        <p:spPr>
          <a:xfrm>
            <a:off x="5257800" y="2901474"/>
            <a:ext cx="3767328"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B6B6B"/>
                </a:solidFill>
                <a:latin typeface="Arial" pitchFamily="34" charset="0"/>
                <a:ea typeface="Arial" pitchFamily="34" charset="-122"/>
                <a:cs typeface="Arial" pitchFamily="34" charset="-120"/>
              </a:rPr>
              <a:t>2015–2020</a:t>
            </a:r>
            <a:endParaRPr lang="en-US" sz="1800" dirty="0"/>
          </a:p>
        </p:txBody>
      </p:sp>
      <p:sp>
        <p:nvSpPr>
          <p:cNvPr id="11" name="Text 9"/>
          <p:cNvSpPr/>
          <p:nvPr/>
        </p:nvSpPr>
        <p:spPr>
          <a:xfrm>
            <a:off x="5257800" y="3372961"/>
            <a:ext cx="3767328"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b="1" spc="-33" kern="0" dirty="0">
                <a:solidFill>
                  <a:srgbClr val="0A0A0A"/>
                </a:solidFill>
                <a:latin typeface="Arial" pitchFamily="34" charset="0"/>
                <a:ea typeface="Arial" pitchFamily="34" charset="-122"/>
                <a:cs typeface="Arial" pitchFamily="34" charset="-120"/>
              </a:rPr>
              <a:t>DORA</a:t>
            </a:r>
            <a:endParaRPr lang="en-US" sz="3300" dirty="0"/>
          </a:p>
        </p:txBody>
      </p:sp>
      <p:sp>
        <p:nvSpPr>
          <p:cNvPr id="12" name="Text 10"/>
          <p:cNvSpPr/>
          <p:nvPr/>
        </p:nvSpPr>
        <p:spPr>
          <a:xfrm>
            <a:off x="5257800" y="4024471"/>
            <a:ext cx="3767328"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Deploy frequency, lead time, change fail rate, MTTR. Process maturity as a North Star.</a:t>
            </a:r>
            <a:endParaRPr lang="en-US" sz="1950" dirty="0"/>
          </a:p>
        </p:txBody>
      </p:sp>
      <p:sp>
        <p:nvSpPr>
          <p:cNvPr id="13" name="Shape 11"/>
          <p:cNvSpPr/>
          <p:nvPr/>
        </p:nvSpPr>
        <p:spPr>
          <a:xfrm>
            <a:off x="9372600" y="2653824"/>
            <a:ext cx="3657600" cy="19050"/>
          </a:xfrm>
          <a:prstGeom prst="rect">
            <a:avLst/>
          </a:prstGeom>
          <a:solidFill>
            <a:srgbClr val="0A0A0A"/>
          </a:solidFill>
          <a:ln/>
        </p:spPr>
      </p:sp>
      <p:sp>
        <p:nvSpPr>
          <p:cNvPr id="14" name="Text 12"/>
          <p:cNvSpPr/>
          <p:nvPr/>
        </p:nvSpPr>
        <p:spPr>
          <a:xfrm>
            <a:off x="9372600" y="2901474"/>
            <a:ext cx="3767328"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B6B6B"/>
                </a:solidFill>
                <a:latin typeface="Arial" pitchFamily="34" charset="0"/>
                <a:ea typeface="Arial" pitchFamily="34" charset="-122"/>
                <a:cs typeface="Arial" pitchFamily="34" charset="-120"/>
              </a:rPr>
              <a:t>2020–2023</a:t>
            </a:r>
            <a:endParaRPr lang="en-US" sz="1800" dirty="0"/>
          </a:p>
        </p:txBody>
      </p:sp>
      <p:sp>
        <p:nvSpPr>
          <p:cNvPr id="15" name="Text 13"/>
          <p:cNvSpPr/>
          <p:nvPr/>
        </p:nvSpPr>
        <p:spPr>
          <a:xfrm>
            <a:off x="9372600" y="3372961"/>
            <a:ext cx="3767328"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b="1" spc="-33" kern="0" dirty="0">
                <a:solidFill>
                  <a:srgbClr val="0A0A0A"/>
                </a:solidFill>
                <a:latin typeface="Arial" pitchFamily="34" charset="0"/>
                <a:ea typeface="Arial" pitchFamily="34" charset="-122"/>
                <a:cs typeface="Arial" pitchFamily="34" charset="-120"/>
              </a:rPr>
              <a:t>SPACE &amp; DX</a:t>
            </a:r>
            <a:endParaRPr lang="en-US" sz="3300" dirty="0"/>
          </a:p>
        </p:txBody>
      </p:sp>
      <p:sp>
        <p:nvSpPr>
          <p:cNvPr id="16" name="Text 14"/>
          <p:cNvSpPr/>
          <p:nvPr/>
        </p:nvSpPr>
        <p:spPr>
          <a:xfrm>
            <a:off x="9372600" y="4024471"/>
            <a:ext cx="3767328" cy="142494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Satisfaction, performance, activity, communication, efficiency. Developer experience enters the scorecard.</a:t>
            </a:r>
            <a:endParaRPr lang="en-US" sz="1950" dirty="0"/>
          </a:p>
        </p:txBody>
      </p:sp>
      <p:sp>
        <p:nvSpPr>
          <p:cNvPr id="17" name="Shape 15"/>
          <p:cNvSpPr/>
          <p:nvPr/>
        </p:nvSpPr>
        <p:spPr>
          <a:xfrm>
            <a:off x="13487400" y="2653824"/>
            <a:ext cx="3657600" cy="19050"/>
          </a:xfrm>
          <a:prstGeom prst="rect">
            <a:avLst/>
          </a:prstGeom>
          <a:solidFill>
            <a:srgbClr val="001E5C"/>
          </a:solidFill>
          <a:ln/>
        </p:spPr>
      </p:sp>
      <p:sp>
        <p:nvSpPr>
          <p:cNvPr id="18" name="Text 16"/>
          <p:cNvSpPr/>
          <p:nvPr/>
        </p:nvSpPr>
        <p:spPr>
          <a:xfrm>
            <a:off x="13487400" y="2901474"/>
            <a:ext cx="3767328"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B6B6B"/>
                </a:solidFill>
                <a:latin typeface="Arial" pitchFamily="34" charset="0"/>
                <a:ea typeface="Arial" pitchFamily="34" charset="-122"/>
                <a:cs typeface="Arial" pitchFamily="34" charset="-120"/>
              </a:rPr>
              <a:t>2023–PRESENT</a:t>
            </a:r>
            <a:endParaRPr lang="en-US" sz="1800" dirty="0"/>
          </a:p>
        </p:txBody>
      </p:sp>
      <p:sp>
        <p:nvSpPr>
          <p:cNvPr id="19" name="Text 17"/>
          <p:cNvSpPr/>
          <p:nvPr/>
        </p:nvSpPr>
        <p:spPr>
          <a:xfrm>
            <a:off x="13487400" y="3372961"/>
            <a:ext cx="3767328" cy="499110"/>
          </a:xfrm>
          <a:prstGeom prst="rect">
            <a:avLst/>
          </a:prstGeom>
          <a:noFill/>
          <a:ln/>
        </p:spPr>
        <p:txBody>
          <a:bodyPr wrap="square" lIns="25400" tIns="25400" rIns="25400" bIns="25400" rtlCol="0" anchor="t">
            <a:normAutofit/>
          </a:bodyPr>
          <a:lstStyle/>
          <a:p>
            <a:pPr algn="l" indent="0" marL="0">
              <a:lnSpc>
                <a:spcPct val="110000"/>
              </a:lnSpc>
              <a:buNone/>
            </a:pPr>
            <a:r>
              <a:rPr lang="en-US" sz="3300" b="1" spc="-33" kern="0" dirty="0">
                <a:solidFill>
                  <a:srgbClr val="0A0A0A"/>
                </a:solidFill>
                <a:latin typeface="Arial" pitchFamily="34" charset="0"/>
                <a:ea typeface="Arial" pitchFamily="34" charset="-122"/>
                <a:cs typeface="Arial" pitchFamily="34" charset="-120"/>
              </a:rPr>
              <a:t>AI-assisted</a:t>
            </a:r>
            <a:endParaRPr lang="en-US" sz="3300" dirty="0"/>
          </a:p>
        </p:txBody>
      </p:sp>
      <p:sp>
        <p:nvSpPr>
          <p:cNvPr id="20" name="Text 18"/>
          <p:cNvSpPr/>
          <p:nvPr/>
        </p:nvSpPr>
        <p:spPr>
          <a:xfrm>
            <a:off x="13487400" y="4024471"/>
            <a:ext cx="3767328" cy="142494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Copilots, agents, inline models compress the cost of code. Every prior metric becomes unstable.</a:t>
            </a:r>
            <a:endParaRPr lang="en-US" sz="1950" dirty="0"/>
          </a:p>
        </p:txBody>
      </p:sp>
      <p:sp>
        <p:nvSpPr>
          <p:cNvPr id="21" name="Text 19"/>
          <p:cNvSpPr/>
          <p:nvPr/>
        </p:nvSpPr>
        <p:spPr>
          <a:xfrm>
            <a:off x="1143000" y="5944712"/>
            <a:ext cx="16482060" cy="307499"/>
          </a:xfrm>
          <a:prstGeom prst="rect">
            <a:avLst/>
          </a:prstGeom>
          <a:noFill/>
          <a:ln/>
        </p:spPr>
        <p:txBody>
          <a:bodyPr wrap="square" lIns="25400" tIns="25400" rIns="25400" bIns="25400" rtlCol="0" anchor="t">
            <a:normAutofit/>
          </a:bodyPr>
          <a:lstStyle/>
          <a:p>
            <a:pPr algn="l" indent="0" marL="0">
              <a:buNone/>
            </a:pPr>
            <a:r>
              <a:rPr lang="en-US" sz="1800" i="1" dirty="0">
                <a:solidFill>
                  <a:srgbClr val="6B6B6B"/>
                </a:solidFill>
                <a:latin typeface="Arial" pitchFamily="34" charset="0"/>
                <a:ea typeface="Arial" pitchFamily="34" charset="-122"/>
                <a:cs typeface="Arial" pitchFamily="34" charset="-120"/>
              </a:rPr>
              <a:t>Source: industry literature review, 2010–2026.</a:t>
            </a:r>
            <a:endParaRPr lang="en-US" sz="1800" dirty="0"/>
          </a:p>
        </p:txBody>
      </p:sp>
      <p:sp>
        <p:nvSpPr>
          <p:cNvPr id="22" name="Shape 20"/>
          <p:cNvSpPr/>
          <p:nvPr/>
        </p:nvSpPr>
        <p:spPr>
          <a:xfrm>
            <a:off x="1143000" y="6323648"/>
            <a:ext cx="16002000" cy="9525"/>
          </a:xfrm>
          <a:prstGeom prst="rect">
            <a:avLst/>
          </a:prstGeom>
          <a:solidFill>
            <a:srgbClr val="D9D9D6"/>
          </a:solidFill>
          <a:ln/>
        </p:spPr>
      </p:sp>
      <p:sp>
        <p:nvSpPr>
          <p:cNvPr id="23" name="Text 21"/>
          <p:cNvSpPr/>
          <p:nvPr/>
        </p:nvSpPr>
        <p:spPr>
          <a:xfrm>
            <a:off x="1143000" y="6504623"/>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24" name="Text 22"/>
          <p:cNvSpPr/>
          <p:nvPr/>
        </p:nvSpPr>
        <p:spPr>
          <a:xfrm>
            <a:off x="9416097" y="6504623"/>
            <a:ext cx="140382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CONTEXT</a:t>
            </a:r>
            <a:endParaRPr lang="en-US" sz="1800" dirty="0"/>
          </a:p>
        </p:txBody>
      </p:sp>
      <p:sp>
        <p:nvSpPr>
          <p:cNvPr id="25" name="Text 23"/>
          <p:cNvSpPr/>
          <p:nvPr/>
        </p:nvSpPr>
        <p:spPr>
          <a:xfrm>
            <a:off x="16138525" y="6504623"/>
            <a:ext cx="108267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03 / 28</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10115867"/>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2 · ADOPTION STATUS</a:t>
            </a:r>
            <a:endParaRPr lang="en-US" sz="1800" dirty="0"/>
          </a:p>
        </p:txBody>
      </p:sp>
      <p:sp>
        <p:nvSpPr>
          <p:cNvPr id="4" name="Text 2"/>
          <p:cNvSpPr/>
          <p:nvPr/>
        </p:nvSpPr>
        <p:spPr>
          <a:xfrm>
            <a:off x="1143000" y="1462088"/>
            <a:ext cx="14716125" cy="1354773"/>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AI-assisted coding has moved from experiment to default.</a:t>
            </a:r>
            <a:endParaRPr lang="en-US" sz="4800" dirty="0"/>
          </a:p>
        </p:txBody>
      </p:sp>
      <p:sp>
        <p:nvSpPr>
          <p:cNvPr id="5" name="Shape 3"/>
          <p:cNvSpPr/>
          <p:nvPr/>
        </p:nvSpPr>
        <p:spPr>
          <a:xfrm>
            <a:off x="1143000" y="3540760"/>
            <a:ext cx="16002000" cy="9525"/>
          </a:xfrm>
          <a:prstGeom prst="rect">
            <a:avLst/>
          </a:prstGeom>
          <a:solidFill>
            <a:srgbClr val="D9D9D6"/>
          </a:solidFill>
          <a:ln/>
        </p:spPr>
      </p:sp>
      <p:sp>
        <p:nvSpPr>
          <p:cNvPr id="6" name="Text 4"/>
          <p:cNvSpPr/>
          <p:nvPr/>
        </p:nvSpPr>
        <p:spPr>
          <a:xfrm>
            <a:off x="1143000" y="4007485"/>
            <a:ext cx="5075428" cy="1666875"/>
          </a:xfrm>
          <a:prstGeom prst="rect">
            <a:avLst/>
          </a:prstGeom>
          <a:noFill/>
          <a:ln/>
        </p:spPr>
        <p:txBody>
          <a:bodyPr wrap="square" lIns="25400" tIns="25400" rIns="25400" bIns="25400" rtlCol="0" anchor="t">
            <a:normAutofit/>
          </a:bodyPr>
          <a:lstStyle/>
          <a:p>
            <a:pPr algn="l" indent="0" marL="0">
              <a:lnSpc>
                <a:spcPct val="95000"/>
              </a:lnSpc>
              <a:buNone/>
            </a:pPr>
            <a:r>
              <a:rPr lang="en-US" sz="13500" b="1" spc="-472" kern="0" dirty="0">
                <a:solidFill>
                  <a:srgbClr val="0A0A0A"/>
                </a:solidFill>
                <a:latin typeface="Arial" pitchFamily="34" charset="0"/>
                <a:ea typeface="Arial" pitchFamily="34" charset="-122"/>
                <a:cs typeface="Arial" pitchFamily="34" charset="-120"/>
              </a:rPr>
              <a:t>76%</a:t>
            </a:r>
            <a:endParaRPr lang="en-US" sz="13500" dirty="0"/>
          </a:p>
        </p:txBody>
      </p:sp>
      <p:sp>
        <p:nvSpPr>
          <p:cNvPr id="7" name="Text 5"/>
          <p:cNvSpPr/>
          <p:nvPr/>
        </p:nvSpPr>
        <p:spPr>
          <a:xfrm>
            <a:off x="1143000" y="5826760"/>
            <a:ext cx="5075428" cy="1195388"/>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2B2B2B"/>
                </a:solidFill>
                <a:latin typeface="Arial" pitchFamily="34" charset="0"/>
                <a:ea typeface="Arial" pitchFamily="34" charset="-122"/>
                <a:cs typeface="Arial" pitchFamily="34" charset="-120"/>
              </a:rPr>
              <a:t>of professional developers report using or planning to use AI tools in their workflow.</a:t>
            </a:r>
            <a:endParaRPr lang="en-US" sz="2250" dirty="0"/>
          </a:p>
        </p:txBody>
      </p:sp>
      <p:sp>
        <p:nvSpPr>
          <p:cNvPr id="8" name="Text 6"/>
          <p:cNvSpPr/>
          <p:nvPr/>
        </p:nvSpPr>
        <p:spPr>
          <a:xfrm>
            <a:off x="1143000" y="7136448"/>
            <a:ext cx="5075428" cy="6000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B6B6B"/>
                </a:solidFill>
                <a:latin typeface="Arial" pitchFamily="34" charset="0"/>
                <a:ea typeface="Arial" pitchFamily="34" charset="-122"/>
                <a:cs typeface="Arial" pitchFamily="34" charset="-120"/>
              </a:rPr>
              <a:t>STACK OVERFLOW DEV SURVEY, 2024</a:t>
            </a:r>
            <a:endParaRPr lang="en-US" sz="1800" dirty="0"/>
          </a:p>
        </p:txBody>
      </p:sp>
      <p:sp>
        <p:nvSpPr>
          <p:cNvPr id="9" name="Text 7"/>
          <p:cNvSpPr/>
          <p:nvPr/>
        </p:nvSpPr>
        <p:spPr>
          <a:xfrm>
            <a:off x="6680200" y="4007485"/>
            <a:ext cx="5075428" cy="1666875"/>
          </a:xfrm>
          <a:prstGeom prst="rect">
            <a:avLst/>
          </a:prstGeom>
          <a:noFill/>
          <a:ln/>
        </p:spPr>
        <p:txBody>
          <a:bodyPr wrap="square" lIns="25400" tIns="25400" rIns="25400" bIns="25400" rtlCol="0" anchor="t">
            <a:normAutofit/>
          </a:bodyPr>
          <a:lstStyle/>
          <a:p>
            <a:pPr algn="l" indent="0" marL="0">
              <a:lnSpc>
                <a:spcPct val="95000"/>
              </a:lnSpc>
              <a:buNone/>
            </a:pPr>
            <a:r>
              <a:rPr lang="en-US" sz="13500" b="1" spc="-472" kern="0" dirty="0">
                <a:solidFill>
                  <a:srgbClr val="0A0A0A"/>
                </a:solidFill>
                <a:latin typeface="Arial" pitchFamily="34" charset="0"/>
                <a:ea typeface="Arial" pitchFamily="34" charset="-122"/>
                <a:cs typeface="Arial" pitchFamily="34" charset="-120"/>
              </a:rPr>
              <a:t>~30%</a:t>
            </a:r>
            <a:endParaRPr lang="en-US" sz="13500" dirty="0"/>
          </a:p>
        </p:txBody>
      </p:sp>
      <p:sp>
        <p:nvSpPr>
          <p:cNvPr id="10" name="Text 8"/>
          <p:cNvSpPr/>
          <p:nvPr/>
        </p:nvSpPr>
        <p:spPr>
          <a:xfrm>
            <a:off x="6680200" y="5826760"/>
            <a:ext cx="5075428" cy="1195388"/>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2B2B2B"/>
                </a:solidFill>
                <a:latin typeface="Arial" pitchFamily="34" charset="0"/>
                <a:ea typeface="Arial" pitchFamily="34" charset="-122"/>
                <a:cs typeface="Arial" pitchFamily="34" charset="-120"/>
              </a:rPr>
              <a:t>of code committed across sampled repositories is now AI-influenced or AI-generated.</a:t>
            </a:r>
            <a:endParaRPr lang="en-US" sz="2250" dirty="0"/>
          </a:p>
        </p:txBody>
      </p:sp>
      <p:sp>
        <p:nvSpPr>
          <p:cNvPr id="11" name="Text 9"/>
          <p:cNvSpPr/>
          <p:nvPr/>
        </p:nvSpPr>
        <p:spPr>
          <a:xfrm>
            <a:off x="6680200" y="7136448"/>
            <a:ext cx="5075428" cy="319088"/>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B6B6B"/>
                </a:solidFill>
                <a:latin typeface="Arial" pitchFamily="34" charset="0"/>
                <a:ea typeface="Arial" pitchFamily="34" charset="-122"/>
                <a:cs typeface="Arial" pitchFamily="34" charset="-120"/>
              </a:rPr>
              <a:t>GITHUB OCTOVERSE, 2024</a:t>
            </a:r>
            <a:endParaRPr lang="en-US" sz="1800" dirty="0"/>
          </a:p>
        </p:txBody>
      </p:sp>
      <p:sp>
        <p:nvSpPr>
          <p:cNvPr id="12" name="Text 10"/>
          <p:cNvSpPr/>
          <p:nvPr/>
        </p:nvSpPr>
        <p:spPr>
          <a:xfrm>
            <a:off x="12217400" y="4007485"/>
            <a:ext cx="5075428" cy="1666875"/>
          </a:xfrm>
          <a:prstGeom prst="rect">
            <a:avLst/>
          </a:prstGeom>
          <a:noFill/>
          <a:ln/>
        </p:spPr>
        <p:txBody>
          <a:bodyPr wrap="square" lIns="25400" tIns="25400" rIns="25400" bIns="25400" rtlCol="0" anchor="t">
            <a:normAutofit/>
          </a:bodyPr>
          <a:lstStyle/>
          <a:p>
            <a:pPr algn="l" indent="0" marL="0">
              <a:lnSpc>
                <a:spcPct val="95000"/>
              </a:lnSpc>
              <a:buNone/>
            </a:pPr>
            <a:r>
              <a:rPr lang="en-US" sz="13500" b="1" spc="-472" kern="0" dirty="0">
                <a:solidFill>
                  <a:srgbClr val="0A0A0A"/>
                </a:solidFill>
                <a:latin typeface="Arial" pitchFamily="34" charset="0"/>
                <a:ea typeface="Arial" pitchFamily="34" charset="-122"/>
                <a:cs typeface="Arial" pitchFamily="34" charset="-120"/>
              </a:rPr>
              <a:t>+26%</a:t>
            </a:r>
            <a:endParaRPr lang="en-US" sz="13500" dirty="0"/>
          </a:p>
        </p:txBody>
      </p:sp>
      <p:sp>
        <p:nvSpPr>
          <p:cNvPr id="13" name="Text 11"/>
          <p:cNvSpPr/>
          <p:nvPr/>
        </p:nvSpPr>
        <p:spPr>
          <a:xfrm>
            <a:off x="12217400" y="5826760"/>
            <a:ext cx="5075428" cy="1195388"/>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2B2B2B"/>
                </a:solidFill>
                <a:latin typeface="Arial" pitchFamily="34" charset="0"/>
                <a:ea typeface="Arial" pitchFamily="34" charset="-122"/>
                <a:cs typeface="Arial" pitchFamily="34" charset="-120"/>
              </a:rPr>
              <a:t>measured productivity lift for less-experienced developers in a randomized field experiment.</a:t>
            </a:r>
            <a:endParaRPr lang="en-US" sz="2250" dirty="0"/>
          </a:p>
        </p:txBody>
      </p:sp>
      <p:sp>
        <p:nvSpPr>
          <p:cNvPr id="14" name="Text 12"/>
          <p:cNvSpPr/>
          <p:nvPr/>
        </p:nvSpPr>
        <p:spPr>
          <a:xfrm>
            <a:off x="12217400" y="7136448"/>
            <a:ext cx="5075428" cy="6000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6B6B6B"/>
                </a:solidFill>
                <a:latin typeface="Arial" pitchFamily="34" charset="0"/>
                <a:ea typeface="Arial" pitchFamily="34" charset="-122"/>
                <a:cs typeface="Arial" pitchFamily="34" charset="-120"/>
              </a:rPr>
              <a:t>MIT / MICROSOFT / PRINCETON, 2024</a:t>
            </a:r>
            <a:endParaRPr lang="en-US" sz="1800" dirty="0"/>
          </a:p>
        </p:txBody>
      </p:sp>
      <p:sp>
        <p:nvSpPr>
          <p:cNvPr id="15" name="Shape 13"/>
          <p:cNvSpPr/>
          <p:nvPr/>
        </p:nvSpPr>
        <p:spPr>
          <a:xfrm>
            <a:off x="1143000" y="8155623"/>
            <a:ext cx="14287500" cy="9525"/>
          </a:xfrm>
          <a:prstGeom prst="rect">
            <a:avLst/>
          </a:prstGeom>
          <a:solidFill>
            <a:srgbClr val="D9D9D6"/>
          </a:solidFill>
          <a:ln/>
        </p:spPr>
      </p:sp>
      <p:sp>
        <p:nvSpPr>
          <p:cNvPr id="16" name="Text 14"/>
          <p:cNvSpPr/>
          <p:nvPr/>
        </p:nvSpPr>
        <p:spPr>
          <a:xfrm>
            <a:off x="1143000" y="8469948"/>
            <a:ext cx="14716125"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6B6B6B"/>
                </a:solidFill>
                <a:latin typeface="Arial" pitchFamily="34" charset="0"/>
                <a:ea typeface="Arial" pitchFamily="34" charset="-122"/>
                <a:cs typeface="Arial" pitchFamily="34" charset="-120"/>
              </a:rPr>
              <a:t>Adoption is effectively saturated. The open question is whether downstream metrics — quality, value, team health — have kept pace.</a:t>
            </a:r>
            <a:endParaRPr lang="en-US" sz="1950" dirty="0"/>
          </a:p>
        </p:txBody>
      </p:sp>
      <p:sp>
        <p:nvSpPr>
          <p:cNvPr id="17" name="Shape 15"/>
          <p:cNvSpPr/>
          <p:nvPr/>
        </p:nvSpPr>
        <p:spPr>
          <a:xfrm>
            <a:off x="1143000" y="9272905"/>
            <a:ext cx="16002000" cy="9525"/>
          </a:xfrm>
          <a:prstGeom prst="rect">
            <a:avLst/>
          </a:prstGeom>
          <a:solidFill>
            <a:srgbClr val="D9D9D6"/>
          </a:solidFill>
          <a:ln/>
        </p:spPr>
      </p:sp>
      <p:sp>
        <p:nvSpPr>
          <p:cNvPr id="18" name="Text 16"/>
          <p:cNvSpPr/>
          <p:nvPr/>
        </p:nvSpPr>
        <p:spPr>
          <a:xfrm>
            <a:off x="1143000" y="9453880"/>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19" name="Text 17"/>
          <p:cNvSpPr/>
          <p:nvPr/>
        </p:nvSpPr>
        <p:spPr>
          <a:xfrm>
            <a:off x="9412764" y="9453880"/>
            <a:ext cx="140382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CONTEXT</a:t>
            </a:r>
            <a:endParaRPr lang="en-US" sz="1800" dirty="0"/>
          </a:p>
        </p:txBody>
      </p:sp>
      <p:sp>
        <p:nvSpPr>
          <p:cNvPr id="20" name="Text 18"/>
          <p:cNvSpPr/>
          <p:nvPr/>
        </p:nvSpPr>
        <p:spPr>
          <a:xfrm>
            <a:off x="16131857" y="9453880"/>
            <a:ext cx="1089343"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04 / 28</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5646579"/>
          </a:xfrm>
          <a:prstGeom prst="rect">
            <a:avLst/>
          </a:prstGeom>
          <a:solidFill>
            <a:srgbClr val="FFFFFF"/>
          </a:solidFill>
          <a:ln/>
        </p:spPr>
      </p:sp>
      <p:sp>
        <p:nvSpPr>
          <p:cNvPr id="3" name="Text 1"/>
          <p:cNvSpPr/>
          <p:nvPr/>
        </p:nvSpPr>
        <p:spPr>
          <a:xfrm>
            <a:off x="1143000" y="952500"/>
            <a:ext cx="1957388"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6B6B6B"/>
                </a:solidFill>
                <a:latin typeface="Arial" pitchFamily="34" charset="0"/>
                <a:ea typeface="Arial" pitchFamily="34" charset="-122"/>
                <a:cs typeface="Arial" pitchFamily="34" charset="-120"/>
              </a:rPr>
              <a:t>PART 1 OF 4</a:t>
            </a:r>
            <a:endParaRPr lang="en-US" sz="1800" dirty="0"/>
          </a:p>
        </p:txBody>
      </p:sp>
      <p:sp>
        <p:nvSpPr>
          <p:cNvPr id="4" name="Shape 2"/>
          <p:cNvSpPr/>
          <p:nvPr/>
        </p:nvSpPr>
        <p:spPr>
          <a:xfrm>
            <a:off x="3328988" y="1166813"/>
            <a:ext cx="12508230" cy="9525"/>
          </a:xfrm>
          <a:prstGeom prst="rect">
            <a:avLst/>
          </a:prstGeom>
          <a:solidFill>
            <a:srgbClr val="D9D9D6"/>
          </a:solidFill>
          <a:ln/>
        </p:spPr>
      </p:sp>
      <p:sp>
        <p:nvSpPr>
          <p:cNvPr id="5" name="Text 3"/>
          <p:cNvSpPr/>
          <p:nvPr/>
        </p:nvSpPr>
        <p:spPr>
          <a:xfrm>
            <a:off x="16142017" y="952500"/>
            <a:ext cx="1079183"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6B6B6B"/>
                </a:solidFill>
                <a:latin typeface="Arial" pitchFamily="34" charset="0"/>
                <a:ea typeface="Arial" pitchFamily="34" charset="-122"/>
                <a:cs typeface="Arial" pitchFamily="34" charset="-120"/>
              </a:rPr>
              <a:t>VALUE</a:t>
            </a:r>
            <a:endParaRPr lang="en-US" sz="1800" dirty="0"/>
          </a:p>
        </p:txBody>
      </p:sp>
      <p:sp>
        <p:nvSpPr>
          <p:cNvPr id="6" name="Text 4"/>
          <p:cNvSpPr/>
          <p:nvPr/>
        </p:nvSpPr>
        <p:spPr>
          <a:xfrm>
            <a:off x="1143000" y="1233488"/>
            <a:ext cx="16482060" cy="2266950"/>
          </a:xfrm>
          <a:prstGeom prst="rect">
            <a:avLst/>
          </a:prstGeom>
          <a:noFill/>
          <a:ln/>
        </p:spPr>
        <p:txBody>
          <a:bodyPr wrap="square" lIns="25400" tIns="25400" rIns="25400" bIns="25400" rtlCol="0" anchor="t">
            <a:normAutofit/>
          </a:bodyPr>
          <a:lstStyle/>
          <a:p>
            <a:pPr algn="l" indent="0" marL="0">
              <a:lnSpc>
                <a:spcPct val="90000"/>
              </a:lnSpc>
              <a:buNone/>
            </a:pPr>
            <a:r>
              <a:rPr lang="en-US" sz="19500" b="1" spc="-780" kern="0" dirty="0">
                <a:solidFill>
                  <a:srgbClr val="E6E6E2"/>
                </a:solidFill>
                <a:latin typeface="Arial" pitchFamily="34" charset="0"/>
                <a:ea typeface="Arial" pitchFamily="34" charset="-122"/>
                <a:cs typeface="Arial" pitchFamily="34" charset="-120"/>
              </a:rPr>
              <a:t>0 1</a:t>
            </a:r>
            <a:endParaRPr lang="en-US" sz="19500" dirty="0"/>
          </a:p>
        </p:txBody>
      </p:sp>
      <p:sp>
        <p:nvSpPr>
          <p:cNvPr id="7" name="Text 5"/>
          <p:cNvSpPr/>
          <p:nvPr/>
        </p:nvSpPr>
        <p:spPr>
          <a:xfrm>
            <a:off x="1143000" y="3614738"/>
            <a:ext cx="14716125" cy="1107916"/>
          </a:xfrm>
          <a:prstGeom prst="rect">
            <a:avLst/>
          </a:prstGeom>
          <a:noFill/>
          <a:ln/>
        </p:spPr>
        <p:txBody>
          <a:bodyPr wrap="square" lIns="25400" tIns="25400" rIns="25400" bIns="25400" rtlCol="0" anchor="t">
            <a:normAutofit/>
          </a:bodyPr>
          <a:lstStyle/>
          <a:p>
            <a:pPr algn="l" indent="0" marL="0">
              <a:lnSpc>
                <a:spcPct val="107997"/>
              </a:lnSpc>
              <a:buNone/>
            </a:pPr>
            <a:r>
              <a:rPr lang="en-US" sz="7800" b="1" spc="-117" kern="0" dirty="0">
                <a:solidFill>
                  <a:srgbClr val="0A0A0A"/>
                </a:solidFill>
                <a:latin typeface="Arial" pitchFamily="34" charset="0"/>
                <a:ea typeface="Arial" pitchFamily="34" charset="-122"/>
                <a:cs typeface="Arial" pitchFamily="34" charset="-120"/>
              </a:rPr>
              <a:t>The value question.</a:t>
            </a:r>
            <a:endParaRPr lang="en-US" sz="7800" dirty="0"/>
          </a:p>
        </p:txBody>
      </p:sp>
      <p:sp>
        <p:nvSpPr>
          <p:cNvPr id="8" name="Shape 6"/>
          <p:cNvSpPr/>
          <p:nvPr/>
        </p:nvSpPr>
        <p:spPr>
          <a:xfrm>
            <a:off x="1143000" y="4684554"/>
            <a:ext cx="16002000" cy="9525"/>
          </a:xfrm>
          <a:prstGeom prst="rect">
            <a:avLst/>
          </a:prstGeom>
          <a:solidFill>
            <a:srgbClr val="D9D9D6"/>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9383237"/>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3 · THE DISTINCTION</a:t>
            </a:r>
            <a:endParaRPr lang="en-US" sz="1800" dirty="0"/>
          </a:p>
        </p:txBody>
      </p:sp>
      <p:sp>
        <p:nvSpPr>
          <p:cNvPr id="4" name="Text 2"/>
          <p:cNvSpPr/>
          <p:nvPr/>
        </p:nvSpPr>
        <p:spPr>
          <a:xfrm>
            <a:off x="1143000" y="1462088"/>
            <a:ext cx="13735050"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Output is not outcome.</a:t>
            </a:r>
            <a:endParaRPr lang="en-US" sz="4800" dirty="0"/>
          </a:p>
        </p:txBody>
      </p:sp>
      <p:sp>
        <p:nvSpPr>
          <p:cNvPr id="5" name="Shape 3"/>
          <p:cNvSpPr/>
          <p:nvPr/>
        </p:nvSpPr>
        <p:spPr>
          <a:xfrm>
            <a:off x="1143000" y="2577624"/>
            <a:ext cx="16002000" cy="19050"/>
          </a:xfrm>
          <a:prstGeom prst="rect">
            <a:avLst/>
          </a:prstGeom>
          <a:solidFill>
            <a:srgbClr val="0A0A0A"/>
          </a:solidFill>
          <a:ln/>
        </p:spPr>
      </p:sp>
      <p:sp>
        <p:nvSpPr>
          <p:cNvPr id="6" name="Shape 4"/>
          <p:cNvSpPr/>
          <p:nvPr/>
        </p:nvSpPr>
        <p:spPr>
          <a:xfrm>
            <a:off x="1143000" y="3144361"/>
            <a:ext cx="8001000" cy="9525"/>
          </a:xfrm>
          <a:prstGeom prst="rect">
            <a:avLst/>
          </a:prstGeom>
          <a:solidFill>
            <a:srgbClr val="D9D9D6"/>
          </a:solidFill>
          <a:ln/>
        </p:spPr>
      </p:sp>
      <p:sp>
        <p:nvSpPr>
          <p:cNvPr id="7" name="Text 5"/>
          <p:cNvSpPr/>
          <p:nvPr/>
        </p:nvSpPr>
        <p:spPr>
          <a:xfrm>
            <a:off x="1143000" y="2730024"/>
            <a:ext cx="824103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WHAT WE COUNT</a:t>
            </a:r>
            <a:endParaRPr lang="en-US" sz="1800" dirty="0"/>
          </a:p>
        </p:txBody>
      </p:sp>
      <p:sp>
        <p:nvSpPr>
          <p:cNvPr id="8" name="Shape 6"/>
          <p:cNvSpPr/>
          <p:nvPr/>
        </p:nvSpPr>
        <p:spPr>
          <a:xfrm>
            <a:off x="9144000" y="3144361"/>
            <a:ext cx="8001000" cy="9525"/>
          </a:xfrm>
          <a:prstGeom prst="rect">
            <a:avLst/>
          </a:prstGeom>
          <a:solidFill>
            <a:srgbClr val="D9D9D6"/>
          </a:solidFill>
          <a:ln/>
        </p:spPr>
      </p:sp>
      <p:sp>
        <p:nvSpPr>
          <p:cNvPr id="9" name="Text 7"/>
          <p:cNvSpPr/>
          <p:nvPr/>
        </p:nvSpPr>
        <p:spPr>
          <a:xfrm>
            <a:off x="9448800" y="2730024"/>
            <a:ext cx="763143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WHAT MATTERS</a:t>
            </a:r>
            <a:endParaRPr lang="en-US" sz="1800" dirty="0"/>
          </a:p>
        </p:txBody>
      </p:sp>
      <p:sp>
        <p:nvSpPr>
          <p:cNvPr id="10" name="Shape 8"/>
          <p:cNvSpPr/>
          <p:nvPr/>
        </p:nvSpPr>
        <p:spPr>
          <a:xfrm>
            <a:off x="1143000" y="4463574"/>
            <a:ext cx="8001000" cy="9525"/>
          </a:xfrm>
          <a:prstGeom prst="rect">
            <a:avLst/>
          </a:prstGeom>
          <a:solidFill>
            <a:srgbClr val="D9D9D6"/>
          </a:solidFill>
          <a:ln/>
        </p:spPr>
      </p:sp>
      <p:sp>
        <p:nvSpPr>
          <p:cNvPr id="11" name="Text 9"/>
          <p:cNvSpPr/>
          <p:nvPr/>
        </p:nvSpPr>
        <p:spPr>
          <a:xfrm>
            <a:off x="1143000" y="3420586"/>
            <a:ext cx="7927086"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B6B6B"/>
                </a:solidFill>
                <a:latin typeface="Arial" pitchFamily="34" charset="0"/>
                <a:ea typeface="Arial" pitchFamily="34" charset="-122"/>
                <a:cs typeface="Arial" pitchFamily="34" charset="-120"/>
              </a:rPr>
              <a:t>OUTPUT</a:t>
            </a:r>
            <a:endParaRPr lang="en-US" sz="1800" dirty="0"/>
          </a:p>
        </p:txBody>
      </p:sp>
      <p:sp>
        <p:nvSpPr>
          <p:cNvPr id="12" name="Text 10"/>
          <p:cNvSpPr/>
          <p:nvPr/>
        </p:nvSpPr>
        <p:spPr>
          <a:xfrm>
            <a:off x="1143000" y="3777774"/>
            <a:ext cx="7927086" cy="439896"/>
          </a:xfrm>
          <a:prstGeom prst="rect">
            <a:avLst/>
          </a:prstGeom>
          <a:noFill/>
          <a:ln/>
        </p:spPr>
        <p:txBody>
          <a:bodyPr wrap="square" lIns="25400" tIns="25400" rIns="25400" bIns="25400" rtlCol="0" anchor="t">
            <a:normAutofit/>
          </a:bodyPr>
          <a:lstStyle/>
          <a:p>
            <a:pPr algn="l" indent="0" marL="0">
              <a:buNone/>
            </a:pPr>
            <a:r>
              <a:rPr lang="en-US" sz="2700" dirty="0">
                <a:solidFill>
                  <a:srgbClr val="2B2B2B"/>
                </a:solidFill>
                <a:latin typeface="Arial" pitchFamily="34" charset="0"/>
                <a:ea typeface="Arial" pitchFamily="34" charset="-122"/>
                <a:cs typeface="Arial" pitchFamily="34" charset="-120"/>
              </a:rPr>
              <a:t>Pull requests merged</a:t>
            </a:r>
            <a:endParaRPr lang="en-US" sz="2700" dirty="0"/>
          </a:p>
        </p:txBody>
      </p:sp>
      <p:sp>
        <p:nvSpPr>
          <p:cNvPr id="13" name="Shape 11"/>
          <p:cNvSpPr/>
          <p:nvPr/>
        </p:nvSpPr>
        <p:spPr>
          <a:xfrm>
            <a:off x="9144000" y="4463574"/>
            <a:ext cx="8001000" cy="9525"/>
          </a:xfrm>
          <a:prstGeom prst="rect">
            <a:avLst/>
          </a:prstGeom>
          <a:solidFill>
            <a:srgbClr val="D9D9D6"/>
          </a:solidFill>
          <a:ln/>
        </p:spPr>
      </p:sp>
      <p:sp>
        <p:nvSpPr>
          <p:cNvPr id="14" name="Shape 12"/>
          <p:cNvSpPr/>
          <p:nvPr/>
        </p:nvSpPr>
        <p:spPr>
          <a:xfrm>
            <a:off x="9144000" y="3153886"/>
            <a:ext cx="9525" cy="1319213"/>
          </a:xfrm>
          <a:prstGeom prst="rect">
            <a:avLst/>
          </a:prstGeom>
          <a:solidFill>
            <a:srgbClr val="D9D9D6"/>
          </a:solidFill>
          <a:ln/>
        </p:spPr>
      </p:sp>
      <p:sp>
        <p:nvSpPr>
          <p:cNvPr id="15" name="Text 13"/>
          <p:cNvSpPr/>
          <p:nvPr/>
        </p:nvSpPr>
        <p:spPr>
          <a:xfrm>
            <a:off x="9458325" y="3420586"/>
            <a:ext cx="7917275"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01E5C"/>
                </a:solidFill>
                <a:latin typeface="Arial" pitchFamily="34" charset="0"/>
                <a:ea typeface="Arial" pitchFamily="34" charset="-122"/>
                <a:cs typeface="Arial" pitchFamily="34" charset="-120"/>
              </a:rPr>
              <a:t>OUTCOME</a:t>
            </a:r>
            <a:endParaRPr lang="en-US" sz="1800" dirty="0"/>
          </a:p>
        </p:txBody>
      </p:sp>
      <p:sp>
        <p:nvSpPr>
          <p:cNvPr id="16" name="Text 14"/>
          <p:cNvSpPr/>
          <p:nvPr/>
        </p:nvSpPr>
        <p:spPr>
          <a:xfrm>
            <a:off x="9458325" y="3777774"/>
            <a:ext cx="7917275" cy="457200"/>
          </a:xfrm>
          <a:prstGeom prst="rect">
            <a:avLst/>
          </a:prstGeom>
          <a:noFill/>
          <a:ln/>
        </p:spPr>
        <p:txBody>
          <a:bodyPr wrap="square" lIns="25400" tIns="25400" rIns="25400" bIns="25400" rtlCol="0" anchor="t">
            <a:normAutofit/>
          </a:bodyPr>
          <a:lstStyle/>
          <a:p>
            <a:pPr algn="l" indent="0" marL="0">
              <a:buNone/>
            </a:pPr>
            <a:r>
              <a:rPr lang="en-US" sz="2700" dirty="0">
                <a:solidFill>
                  <a:srgbClr val="0A0A0A"/>
                </a:solidFill>
                <a:latin typeface="Arial" pitchFamily="34" charset="0"/>
                <a:ea typeface="Arial" pitchFamily="34" charset="-122"/>
                <a:cs typeface="Arial" pitchFamily="34" charset="-120"/>
              </a:rPr>
              <a:t>Customer problem solved</a:t>
            </a:r>
            <a:endParaRPr lang="en-US" sz="2700" dirty="0"/>
          </a:p>
        </p:txBody>
      </p:sp>
      <p:sp>
        <p:nvSpPr>
          <p:cNvPr id="17" name="Shape 15"/>
          <p:cNvSpPr/>
          <p:nvPr/>
        </p:nvSpPr>
        <p:spPr>
          <a:xfrm>
            <a:off x="1143000" y="5782786"/>
            <a:ext cx="8001000" cy="9525"/>
          </a:xfrm>
          <a:prstGeom prst="rect">
            <a:avLst/>
          </a:prstGeom>
          <a:solidFill>
            <a:srgbClr val="D9D9D6"/>
          </a:solidFill>
          <a:ln/>
        </p:spPr>
      </p:sp>
      <p:sp>
        <p:nvSpPr>
          <p:cNvPr id="18" name="Text 16"/>
          <p:cNvSpPr/>
          <p:nvPr/>
        </p:nvSpPr>
        <p:spPr>
          <a:xfrm>
            <a:off x="1143000" y="4739799"/>
            <a:ext cx="7927086"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B6B6B"/>
                </a:solidFill>
                <a:latin typeface="Arial" pitchFamily="34" charset="0"/>
                <a:ea typeface="Arial" pitchFamily="34" charset="-122"/>
                <a:cs typeface="Arial" pitchFamily="34" charset="-120"/>
              </a:rPr>
              <a:t>ACTIVITY</a:t>
            </a:r>
            <a:endParaRPr lang="en-US" sz="1800" dirty="0"/>
          </a:p>
        </p:txBody>
      </p:sp>
      <p:sp>
        <p:nvSpPr>
          <p:cNvPr id="19" name="Text 17"/>
          <p:cNvSpPr/>
          <p:nvPr/>
        </p:nvSpPr>
        <p:spPr>
          <a:xfrm>
            <a:off x="1143000" y="5096987"/>
            <a:ext cx="7927086" cy="439896"/>
          </a:xfrm>
          <a:prstGeom prst="rect">
            <a:avLst/>
          </a:prstGeom>
          <a:noFill/>
          <a:ln/>
        </p:spPr>
        <p:txBody>
          <a:bodyPr wrap="square" lIns="25400" tIns="25400" rIns="25400" bIns="25400" rtlCol="0" anchor="t">
            <a:normAutofit/>
          </a:bodyPr>
          <a:lstStyle/>
          <a:p>
            <a:pPr algn="l" indent="0" marL="0">
              <a:buNone/>
            </a:pPr>
            <a:r>
              <a:rPr lang="en-US" sz="2700" dirty="0">
                <a:solidFill>
                  <a:srgbClr val="2B2B2B"/>
                </a:solidFill>
                <a:latin typeface="Arial" pitchFamily="34" charset="0"/>
                <a:ea typeface="Arial" pitchFamily="34" charset="-122"/>
                <a:cs typeface="Arial" pitchFamily="34" charset="-120"/>
              </a:rPr>
              <a:t>Hours spent in IDE</a:t>
            </a:r>
            <a:endParaRPr lang="en-US" sz="2700" dirty="0"/>
          </a:p>
        </p:txBody>
      </p:sp>
      <p:sp>
        <p:nvSpPr>
          <p:cNvPr id="20" name="Shape 18"/>
          <p:cNvSpPr/>
          <p:nvPr/>
        </p:nvSpPr>
        <p:spPr>
          <a:xfrm>
            <a:off x="9144000" y="5782786"/>
            <a:ext cx="8001000" cy="9525"/>
          </a:xfrm>
          <a:prstGeom prst="rect">
            <a:avLst/>
          </a:prstGeom>
          <a:solidFill>
            <a:srgbClr val="D9D9D6"/>
          </a:solidFill>
          <a:ln/>
        </p:spPr>
      </p:sp>
      <p:sp>
        <p:nvSpPr>
          <p:cNvPr id="21" name="Shape 19"/>
          <p:cNvSpPr/>
          <p:nvPr/>
        </p:nvSpPr>
        <p:spPr>
          <a:xfrm>
            <a:off x="9144000" y="4473099"/>
            <a:ext cx="9525" cy="1319213"/>
          </a:xfrm>
          <a:prstGeom prst="rect">
            <a:avLst/>
          </a:prstGeom>
          <a:solidFill>
            <a:srgbClr val="D9D9D6"/>
          </a:solidFill>
          <a:ln/>
        </p:spPr>
      </p:sp>
      <p:sp>
        <p:nvSpPr>
          <p:cNvPr id="22" name="Text 20"/>
          <p:cNvSpPr/>
          <p:nvPr/>
        </p:nvSpPr>
        <p:spPr>
          <a:xfrm>
            <a:off x="9458325" y="4739799"/>
            <a:ext cx="7917275"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01E5C"/>
                </a:solidFill>
                <a:latin typeface="Arial" pitchFamily="34" charset="0"/>
                <a:ea typeface="Arial" pitchFamily="34" charset="-122"/>
                <a:cs typeface="Arial" pitchFamily="34" charset="-120"/>
              </a:rPr>
              <a:t>IMPACT</a:t>
            </a:r>
            <a:endParaRPr lang="en-US" sz="1800" dirty="0"/>
          </a:p>
        </p:txBody>
      </p:sp>
      <p:sp>
        <p:nvSpPr>
          <p:cNvPr id="23" name="Text 21"/>
          <p:cNvSpPr/>
          <p:nvPr/>
        </p:nvSpPr>
        <p:spPr>
          <a:xfrm>
            <a:off x="9458325" y="5096987"/>
            <a:ext cx="7917275" cy="457200"/>
          </a:xfrm>
          <a:prstGeom prst="rect">
            <a:avLst/>
          </a:prstGeom>
          <a:noFill/>
          <a:ln/>
        </p:spPr>
        <p:txBody>
          <a:bodyPr wrap="square" lIns="25400" tIns="25400" rIns="25400" bIns="25400" rtlCol="0" anchor="t">
            <a:normAutofit/>
          </a:bodyPr>
          <a:lstStyle/>
          <a:p>
            <a:pPr algn="l" indent="0" marL="0">
              <a:buNone/>
            </a:pPr>
            <a:r>
              <a:rPr lang="en-US" sz="2700" dirty="0">
                <a:solidFill>
                  <a:srgbClr val="0A0A0A"/>
                </a:solidFill>
                <a:latin typeface="Arial" pitchFamily="34" charset="0"/>
                <a:ea typeface="Arial" pitchFamily="34" charset="-122"/>
                <a:cs typeface="Arial" pitchFamily="34" charset="-120"/>
              </a:rPr>
              <a:t>Minutes saved for the end user</a:t>
            </a:r>
            <a:endParaRPr lang="en-US" sz="2700" dirty="0"/>
          </a:p>
        </p:txBody>
      </p:sp>
      <p:sp>
        <p:nvSpPr>
          <p:cNvPr id="24" name="Shape 22"/>
          <p:cNvSpPr/>
          <p:nvPr/>
        </p:nvSpPr>
        <p:spPr>
          <a:xfrm>
            <a:off x="1143000" y="7101999"/>
            <a:ext cx="8001000" cy="9525"/>
          </a:xfrm>
          <a:prstGeom prst="rect">
            <a:avLst/>
          </a:prstGeom>
          <a:solidFill>
            <a:srgbClr val="D9D9D6"/>
          </a:solidFill>
          <a:ln/>
        </p:spPr>
      </p:sp>
      <p:sp>
        <p:nvSpPr>
          <p:cNvPr id="25" name="Text 23"/>
          <p:cNvSpPr/>
          <p:nvPr/>
        </p:nvSpPr>
        <p:spPr>
          <a:xfrm>
            <a:off x="1143000" y="6059012"/>
            <a:ext cx="7927086"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B6B6B"/>
                </a:solidFill>
                <a:latin typeface="Arial" pitchFamily="34" charset="0"/>
                <a:ea typeface="Arial" pitchFamily="34" charset="-122"/>
                <a:cs typeface="Arial" pitchFamily="34" charset="-120"/>
              </a:rPr>
              <a:t>SPEED</a:t>
            </a:r>
            <a:endParaRPr lang="en-US" sz="1800" dirty="0"/>
          </a:p>
        </p:txBody>
      </p:sp>
      <p:sp>
        <p:nvSpPr>
          <p:cNvPr id="26" name="Text 24"/>
          <p:cNvSpPr/>
          <p:nvPr/>
        </p:nvSpPr>
        <p:spPr>
          <a:xfrm>
            <a:off x="1143000" y="6416199"/>
            <a:ext cx="7927086" cy="439896"/>
          </a:xfrm>
          <a:prstGeom prst="rect">
            <a:avLst/>
          </a:prstGeom>
          <a:noFill/>
          <a:ln/>
        </p:spPr>
        <p:txBody>
          <a:bodyPr wrap="square" lIns="25400" tIns="25400" rIns="25400" bIns="25400" rtlCol="0" anchor="t">
            <a:normAutofit/>
          </a:bodyPr>
          <a:lstStyle/>
          <a:p>
            <a:pPr algn="l" indent="0" marL="0">
              <a:buNone/>
            </a:pPr>
            <a:r>
              <a:rPr lang="en-US" sz="2700" dirty="0">
                <a:solidFill>
                  <a:srgbClr val="2B2B2B"/>
                </a:solidFill>
                <a:latin typeface="Arial" pitchFamily="34" charset="0"/>
                <a:ea typeface="Arial" pitchFamily="34" charset="-122"/>
                <a:cs typeface="Arial" pitchFamily="34" charset="-120"/>
              </a:rPr>
              <a:t>Time to first commit</a:t>
            </a:r>
            <a:endParaRPr lang="en-US" sz="2700" dirty="0"/>
          </a:p>
        </p:txBody>
      </p:sp>
      <p:sp>
        <p:nvSpPr>
          <p:cNvPr id="27" name="Shape 25"/>
          <p:cNvSpPr/>
          <p:nvPr/>
        </p:nvSpPr>
        <p:spPr>
          <a:xfrm>
            <a:off x="9144000" y="7101999"/>
            <a:ext cx="8001000" cy="9525"/>
          </a:xfrm>
          <a:prstGeom prst="rect">
            <a:avLst/>
          </a:prstGeom>
          <a:solidFill>
            <a:srgbClr val="D9D9D6"/>
          </a:solidFill>
          <a:ln/>
        </p:spPr>
      </p:sp>
      <p:sp>
        <p:nvSpPr>
          <p:cNvPr id="28" name="Shape 26"/>
          <p:cNvSpPr/>
          <p:nvPr/>
        </p:nvSpPr>
        <p:spPr>
          <a:xfrm>
            <a:off x="9144000" y="5792312"/>
            <a:ext cx="9525" cy="1319213"/>
          </a:xfrm>
          <a:prstGeom prst="rect">
            <a:avLst/>
          </a:prstGeom>
          <a:solidFill>
            <a:srgbClr val="D9D9D6"/>
          </a:solidFill>
          <a:ln/>
        </p:spPr>
      </p:sp>
      <p:sp>
        <p:nvSpPr>
          <p:cNvPr id="29" name="Text 27"/>
          <p:cNvSpPr/>
          <p:nvPr/>
        </p:nvSpPr>
        <p:spPr>
          <a:xfrm>
            <a:off x="9458325" y="6059012"/>
            <a:ext cx="7917275"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01E5C"/>
                </a:solidFill>
                <a:latin typeface="Arial" pitchFamily="34" charset="0"/>
                <a:ea typeface="Arial" pitchFamily="34" charset="-122"/>
                <a:cs typeface="Arial" pitchFamily="34" charset="-120"/>
              </a:rPr>
              <a:t>THROUGHPUT</a:t>
            </a:r>
            <a:endParaRPr lang="en-US" sz="1800" dirty="0"/>
          </a:p>
        </p:txBody>
      </p:sp>
      <p:sp>
        <p:nvSpPr>
          <p:cNvPr id="30" name="Text 28"/>
          <p:cNvSpPr/>
          <p:nvPr/>
        </p:nvSpPr>
        <p:spPr>
          <a:xfrm>
            <a:off x="9458325" y="6416199"/>
            <a:ext cx="7917275" cy="457200"/>
          </a:xfrm>
          <a:prstGeom prst="rect">
            <a:avLst/>
          </a:prstGeom>
          <a:noFill/>
          <a:ln/>
        </p:spPr>
        <p:txBody>
          <a:bodyPr wrap="square" lIns="25400" tIns="25400" rIns="25400" bIns="25400" rtlCol="0" anchor="t">
            <a:normAutofit/>
          </a:bodyPr>
          <a:lstStyle/>
          <a:p>
            <a:pPr algn="l" indent="0" marL="0">
              <a:buNone/>
            </a:pPr>
            <a:r>
              <a:rPr lang="en-US" sz="2700" dirty="0">
                <a:solidFill>
                  <a:srgbClr val="0A0A0A"/>
                </a:solidFill>
                <a:latin typeface="Arial" pitchFamily="34" charset="0"/>
                <a:ea typeface="Arial" pitchFamily="34" charset="-122"/>
                <a:cs typeface="Arial" pitchFamily="34" charset="-120"/>
              </a:rPr>
              <a:t>Time to first dollar</a:t>
            </a:r>
            <a:endParaRPr lang="en-US" sz="2700" dirty="0"/>
          </a:p>
        </p:txBody>
      </p:sp>
      <p:sp>
        <p:nvSpPr>
          <p:cNvPr id="31" name="Shape 29"/>
          <p:cNvSpPr/>
          <p:nvPr/>
        </p:nvSpPr>
        <p:spPr>
          <a:xfrm>
            <a:off x="1143000" y="8421212"/>
            <a:ext cx="8001000" cy="9525"/>
          </a:xfrm>
          <a:prstGeom prst="rect">
            <a:avLst/>
          </a:prstGeom>
          <a:solidFill>
            <a:srgbClr val="D9D9D6"/>
          </a:solidFill>
          <a:ln/>
        </p:spPr>
      </p:sp>
      <p:sp>
        <p:nvSpPr>
          <p:cNvPr id="32" name="Text 30"/>
          <p:cNvSpPr/>
          <p:nvPr/>
        </p:nvSpPr>
        <p:spPr>
          <a:xfrm>
            <a:off x="1143000" y="7378224"/>
            <a:ext cx="7927086"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6B6B6B"/>
                </a:solidFill>
                <a:latin typeface="Arial" pitchFamily="34" charset="0"/>
                <a:ea typeface="Arial" pitchFamily="34" charset="-122"/>
                <a:cs typeface="Arial" pitchFamily="34" charset="-120"/>
              </a:rPr>
              <a:t>VOLUME</a:t>
            </a:r>
            <a:endParaRPr lang="en-US" sz="1800" dirty="0"/>
          </a:p>
        </p:txBody>
      </p:sp>
      <p:sp>
        <p:nvSpPr>
          <p:cNvPr id="33" name="Text 31"/>
          <p:cNvSpPr/>
          <p:nvPr/>
        </p:nvSpPr>
        <p:spPr>
          <a:xfrm>
            <a:off x="1143000" y="7735412"/>
            <a:ext cx="7927086" cy="439896"/>
          </a:xfrm>
          <a:prstGeom prst="rect">
            <a:avLst/>
          </a:prstGeom>
          <a:noFill/>
          <a:ln/>
        </p:spPr>
        <p:txBody>
          <a:bodyPr wrap="square" lIns="25400" tIns="25400" rIns="25400" bIns="25400" rtlCol="0" anchor="t">
            <a:normAutofit/>
          </a:bodyPr>
          <a:lstStyle/>
          <a:p>
            <a:pPr algn="l" indent="0" marL="0">
              <a:buNone/>
            </a:pPr>
            <a:r>
              <a:rPr lang="en-US" sz="2700" dirty="0">
                <a:solidFill>
                  <a:srgbClr val="2B2B2B"/>
                </a:solidFill>
                <a:latin typeface="Arial" pitchFamily="34" charset="0"/>
                <a:ea typeface="Arial" pitchFamily="34" charset="-122"/>
                <a:cs typeface="Arial" pitchFamily="34" charset="-120"/>
              </a:rPr>
              <a:t>Lines of code generated</a:t>
            </a:r>
            <a:endParaRPr lang="en-US" sz="2700" dirty="0"/>
          </a:p>
        </p:txBody>
      </p:sp>
      <p:sp>
        <p:nvSpPr>
          <p:cNvPr id="34" name="Shape 32"/>
          <p:cNvSpPr/>
          <p:nvPr/>
        </p:nvSpPr>
        <p:spPr>
          <a:xfrm>
            <a:off x="9144000" y="8421212"/>
            <a:ext cx="8001000" cy="9525"/>
          </a:xfrm>
          <a:prstGeom prst="rect">
            <a:avLst/>
          </a:prstGeom>
          <a:solidFill>
            <a:srgbClr val="D9D9D6"/>
          </a:solidFill>
          <a:ln/>
        </p:spPr>
      </p:sp>
      <p:sp>
        <p:nvSpPr>
          <p:cNvPr id="35" name="Shape 33"/>
          <p:cNvSpPr/>
          <p:nvPr/>
        </p:nvSpPr>
        <p:spPr>
          <a:xfrm>
            <a:off x="9144000" y="7111524"/>
            <a:ext cx="9525" cy="1319213"/>
          </a:xfrm>
          <a:prstGeom prst="rect">
            <a:avLst/>
          </a:prstGeom>
          <a:solidFill>
            <a:srgbClr val="D9D9D6"/>
          </a:solidFill>
          <a:ln/>
        </p:spPr>
      </p:sp>
      <p:sp>
        <p:nvSpPr>
          <p:cNvPr id="36" name="Text 34"/>
          <p:cNvSpPr/>
          <p:nvPr/>
        </p:nvSpPr>
        <p:spPr>
          <a:xfrm>
            <a:off x="9458325" y="7378224"/>
            <a:ext cx="7917275" cy="319088"/>
          </a:xfrm>
          <a:prstGeom prst="rect">
            <a:avLst/>
          </a:prstGeom>
          <a:noFill/>
          <a:ln/>
        </p:spPr>
        <p:txBody>
          <a:bodyPr wrap="square" lIns="25400" tIns="25400" rIns="25400" bIns="25400" rtlCol="0" anchor="t">
            <a:normAutofit/>
          </a:bodyPr>
          <a:lstStyle/>
          <a:p>
            <a:pPr algn="l" indent="0" marL="0">
              <a:buNone/>
            </a:pPr>
            <a:r>
              <a:rPr lang="en-US" sz="1800" b="1" spc="180" kern="0" dirty="0">
                <a:solidFill>
                  <a:srgbClr val="001E5C"/>
                </a:solidFill>
                <a:latin typeface="Arial" pitchFamily="34" charset="0"/>
                <a:ea typeface="Arial" pitchFamily="34" charset="-122"/>
                <a:cs typeface="Arial" pitchFamily="34" charset="-120"/>
              </a:rPr>
              <a:t>VALUE</a:t>
            </a:r>
            <a:endParaRPr lang="en-US" sz="1800" dirty="0"/>
          </a:p>
        </p:txBody>
      </p:sp>
      <p:sp>
        <p:nvSpPr>
          <p:cNvPr id="37" name="Text 35"/>
          <p:cNvSpPr/>
          <p:nvPr/>
        </p:nvSpPr>
        <p:spPr>
          <a:xfrm>
            <a:off x="9458325" y="7735412"/>
            <a:ext cx="7917275" cy="457200"/>
          </a:xfrm>
          <a:prstGeom prst="rect">
            <a:avLst/>
          </a:prstGeom>
          <a:noFill/>
          <a:ln/>
        </p:spPr>
        <p:txBody>
          <a:bodyPr wrap="square" lIns="25400" tIns="25400" rIns="25400" bIns="25400" rtlCol="0" anchor="t">
            <a:normAutofit/>
          </a:bodyPr>
          <a:lstStyle/>
          <a:p>
            <a:pPr algn="l" indent="0" marL="0">
              <a:buNone/>
            </a:pPr>
            <a:r>
              <a:rPr lang="en-US" sz="2700" dirty="0">
                <a:solidFill>
                  <a:srgbClr val="0A0A0A"/>
                </a:solidFill>
                <a:latin typeface="Arial" pitchFamily="34" charset="0"/>
                <a:ea typeface="Arial" pitchFamily="34" charset="-122"/>
                <a:cs typeface="Arial" pitchFamily="34" charset="-120"/>
              </a:rPr>
              <a:t>Features adopted in production</a:t>
            </a:r>
            <a:endParaRPr lang="en-US" sz="2700" dirty="0"/>
          </a:p>
        </p:txBody>
      </p:sp>
      <p:sp>
        <p:nvSpPr>
          <p:cNvPr id="38" name="Shape 36"/>
          <p:cNvSpPr/>
          <p:nvPr/>
        </p:nvSpPr>
        <p:spPr>
          <a:xfrm>
            <a:off x="1143000" y="8540274"/>
            <a:ext cx="16002000" cy="9525"/>
          </a:xfrm>
          <a:prstGeom prst="rect">
            <a:avLst/>
          </a:prstGeom>
          <a:solidFill>
            <a:srgbClr val="D9D9D6"/>
          </a:solidFill>
          <a:ln/>
        </p:spPr>
      </p:sp>
      <p:sp>
        <p:nvSpPr>
          <p:cNvPr id="39" name="Text 37"/>
          <p:cNvSpPr/>
          <p:nvPr/>
        </p:nvSpPr>
        <p:spPr>
          <a:xfrm>
            <a:off x="1143000" y="8721249"/>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40" name="Text 38"/>
          <p:cNvSpPr/>
          <p:nvPr/>
        </p:nvSpPr>
        <p:spPr>
          <a:xfrm>
            <a:off x="9031605" y="8721249"/>
            <a:ext cx="2172018"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 · VALUE</a:t>
            </a:r>
            <a:endParaRPr lang="en-US" sz="1800" dirty="0"/>
          </a:p>
        </p:txBody>
      </p:sp>
      <p:sp>
        <p:nvSpPr>
          <p:cNvPr id="41" name="Text 39"/>
          <p:cNvSpPr/>
          <p:nvPr/>
        </p:nvSpPr>
        <p:spPr>
          <a:xfrm>
            <a:off x="16137889" y="8721249"/>
            <a:ext cx="1083310"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06 / 28</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7798276"/>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4 · A WORKING FRAMEWORK</a:t>
            </a:r>
            <a:endParaRPr lang="en-US" sz="1800" dirty="0"/>
          </a:p>
        </p:txBody>
      </p:sp>
      <p:sp>
        <p:nvSpPr>
          <p:cNvPr id="4" name="Text 2"/>
          <p:cNvSpPr/>
          <p:nvPr/>
        </p:nvSpPr>
        <p:spPr>
          <a:xfrm>
            <a:off x="1143000" y="1462088"/>
            <a:ext cx="14716125" cy="1354773"/>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Four levels of measurement. Most organizations operate at the first two.</a:t>
            </a:r>
            <a:endParaRPr lang="en-US" sz="4800" dirty="0"/>
          </a:p>
        </p:txBody>
      </p:sp>
      <p:sp>
        <p:nvSpPr>
          <p:cNvPr id="5" name="Shape 3"/>
          <p:cNvSpPr/>
          <p:nvPr/>
        </p:nvSpPr>
        <p:spPr>
          <a:xfrm>
            <a:off x="1143000" y="3235960"/>
            <a:ext cx="3829050" cy="2883218"/>
          </a:xfrm>
          <a:prstGeom prst="rect">
            <a:avLst/>
          </a:prstGeom>
          <a:solidFill>
            <a:srgbClr val="FAFAF7"/>
          </a:solidFill>
          <a:ln w="9525">
            <a:solidFill>
              <a:srgbClr val="D9D9D6"/>
            </a:solidFill>
            <a:prstDash val="solid"/>
          </a:ln>
        </p:spPr>
      </p:sp>
      <p:sp>
        <p:nvSpPr>
          <p:cNvPr id="6" name="Text 4"/>
          <p:cNvSpPr/>
          <p:nvPr/>
        </p:nvSpPr>
        <p:spPr>
          <a:xfrm>
            <a:off x="1419225" y="3550285"/>
            <a:ext cx="3374898"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A0A0A">
                    <a:alpha val="60000"/>
                  </a:srgbClr>
                </a:solidFill>
                <a:latin typeface="Arial" pitchFamily="34" charset="0"/>
                <a:ea typeface="Arial" pitchFamily="34" charset="-122"/>
                <a:cs typeface="Arial" pitchFamily="34" charset="-120"/>
              </a:rPr>
              <a:t>LEVEL 01</a:t>
            </a:r>
            <a:endParaRPr lang="en-US" sz="1800" dirty="0"/>
          </a:p>
        </p:txBody>
      </p:sp>
      <p:sp>
        <p:nvSpPr>
          <p:cNvPr id="7" name="Text 5"/>
          <p:cNvSpPr/>
          <p:nvPr/>
        </p:nvSpPr>
        <p:spPr>
          <a:xfrm>
            <a:off x="1419225" y="4059873"/>
            <a:ext cx="3374898"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0A0A0A"/>
                </a:solidFill>
                <a:latin typeface="Arial" pitchFamily="34" charset="0"/>
                <a:ea typeface="Arial" pitchFamily="34" charset="-122"/>
                <a:cs typeface="Arial" pitchFamily="34" charset="-120"/>
              </a:rPr>
              <a:t>Activity</a:t>
            </a:r>
            <a:endParaRPr lang="en-US" sz="4200" dirty="0"/>
          </a:p>
        </p:txBody>
      </p:sp>
      <p:sp>
        <p:nvSpPr>
          <p:cNvPr id="8" name="Text 6"/>
          <p:cNvSpPr/>
          <p:nvPr/>
        </p:nvSpPr>
        <p:spPr>
          <a:xfrm>
            <a:off x="1419225" y="4764723"/>
            <a:ext cx="3374898"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Keystrokes, suggestions, prompts sent. Trivially countable, rarely meaningful.</a:t>
            </a:r>
            <a:endParaRPr lang="en-US" sz="1950" dirty="0"/>
          </a:p>
        </p:txBody>
      </p:sp>
      <p:sp>
        <p:nvSpPr>
          <p:cNvPr id="9" name="Shape 7"/>
          <p:cNvSpPr/>
          <p:nvPr/>
        </p:nvSpPr>
        <p:spPr>
          <a:xfrm>
            <a:off x="5200650" y="3235960"/>
            <a:ext cx="3829050" cy="2883218"/>
          </a:xfrm>
          <a:prstGeom prst="rect">
            <a:avLst/>
          </a:prstGeom>
          <a:solidFill>
            <a:srgbClr val="FAFAF7"/>
          </a:solidFill>
          <a:ln w="9525">
            <a:solidFill>
              <a:srgbClr val="D9D9D6"/>
            </a:solidFill>
            <a:prstDash val="solid"/>
          </a:ln>
        </p:spPr>
      </p:sp>
      <p:sp>
        <p:nvSpPr>
          <p:cNvPr id="10" name="Text 8"/>
          <p:cNvSpPr/>
          <p:nvPr/>
        </p:nvSpPr>
        <p:spPr>
          <a:xfrm>
            <a:off x="5476875" y="3550285"/>
            <a:ext cx="3374898"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A0A0A">
                    <a:alpha val="60000"/>
                  </a:srgbClr>
                </a:solidFill>
                <a:latin typeface="Arial" pitchFamily="34" charset="0"/>
                <a:ea typeface="Arial" pitchFamily="34" charset="-122"/>
                <a:cs typeface="Arial" pitchFamily="34" charset="-120"/>
              </a:rPr>
              <a:t>LEVEL 02</a:t>
            </a:r>
            <a:endParaRPr lang="en-US" sz="1800" dirty="0"/>
          </a:p>
        </p:txBody>
      </p:sp>
      <p:sp>
        <p:nvSpPr>
          <p:cNvPr id="11" name="Text 9"/>
          <p:cNvSpPr/>
          <p:nvPr/>
        </p:nvSpPr>
        <p:spPr>
          <a:xfrm>
            <a:off x="5476875" y="4059873"/>
            <a:ext cx="3374898"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0A0A0A"/>
                </a:solidFill>
                <a:latin typeface="Arial" pitchFamily="34" charset="0"/>
                <a:ea typeface="Arial" pitchFamily="34" charset="-122"/>
                <a:cs typeface="Arial" pitchFamily="34" charset="-120"/>
              </a:rPr>
              <a:t>Output</a:t>
            </a:r>
            <a:endParaRPr lang="en-US" sz="4200" dirty="0"/>
          </a:p>
        </p:txBody>
      </p:sp>
      <p:sp>
        <p:nvSpPr>
          <p:cNvPr id="12" name="Text 10"/>
          <p:cNvSpPr/>
          <p:nvPr/>
        </p:nvSpPr>
        <p:spPr>
          <a:xfrm>
            <a:off x="5476875" y="4764723"/>
            <a:ext cx="3374898"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Commits, PRs, features shipped. A health signal, not a target.</a:t>
            </a:r>
            <a:endParaRPr lang="en-US" sz="1950" dirty="0"/>
          </a:p>
        </p:txBody>
      </p:sp>
      <p:sp>
        <p:nvSpPr>
          <p:cNvPr id="13" name="Shape 11"/>
          <p:cNvSpPr/>
          <p:nvPr/>
        </p:nvSpPr>
        <p:spPr>
          <a:xfrm>
            <a:off x="9258300" y="3235960"/>
            <a:ext cx="3829050" cy="2883218"/>
          </a:xfrm>
          <a:prstGeom prst="rect">
            <a:avLst/>
          </a:prstGeom>
          <a:solidFill>
            <a:srgbClr val="F2F2EF"/>
          </a:solidFill>
          <a:ln w="9525">
            <a:solidFill>
              <a:srgbClr val="D9D9D6"/>
            </a:solidFill>
            <a:prstDash val="solid"/>
          </a:ln>
        </p:spPr>
      </p:sp>
      <p:sp>
        <p:nvSpPr>
          <p:cNvPr id="14" name="Text 12"/>
          <p:cNvSpPr/>
          <p:nvPr/>
        </p:nvSpPr>
        <p:spPr>
          <a:xfrm>
            <a:off x="9534525" y="3550285"/>
            <a:ext cx="3374898"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A0A0A">
                    <a:alpha val="60000"/>
                  </a:srgbClr>
                </a:solidFill>
                <a:latin typeface="Arial" pitchFamily="34" charset="0"/>
                <a:ea typeface="Arial" pitchFamily="34" charset="-122"/>
                <a:cs typeface="Arial" pitchFamily="34" charset="-120"/>
              </a:rPr>
              <a:t>LEVEL 03</a:t>
            </a:r>
            <a:endParaRPr lang="en-US" sz="1800" dirty="0"/>
          </a:p>
        </p:txBody>
      </p:sp>
      <p:sp>
        <p:nvSpPr>
          <p:cNvPr id="15" name="Text 13"/>
          <p:cNvSpPr/>
          <p:nvPr/>
        </p:nvSpPr>
        <p:spPr>
          <a:xfrm>
            <a:off x="9534525" y="4059873"/>
            <a:ext cx="3374898"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0A0A0A"/>
                </a:solidFill>
                <a:latin typeface="Arial" pitchFamily="34" charset="0"/>
                <a:ea typeface="Arial" pitchFamily="34" charset="-122"/>
                <a:cs typeface="Arial" pitchFamily="34" charset="-120"/>
              </a:rPr>
              <a:t>Outcome</a:t>
            </a:r>
            <a:endParaRPr lang="en-US" sz="4200" dirty="0"/>
          </a:p>
        </p:txBody>
      </p:sp>
      <p:sp>
        <p:nvSpPr>
          <p:cNvPr id="16" name="Text 14"/>
          <p:cNvSpPr/>
          <p:nvPr/>
        </p:nvSpPr>
        <p:spPr>
          <a:xfrm>
            <a:off x="9534525" y="4764723"/>
            <a:ext cx="3374898"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Reliability, adoption, cycle time. What the business feels.</a:t>
            </a:r>
            <a:endParaRPr lang="en-US" sz="1950" dirty="0"/>
          </a:p>
        </p:txBody>
      </p:sp>
      <p:sp>
        <p:nvSpPr>
          <p:cNvPr id="17" name="Shape 15"/>
          <p:cNvSpPr/>
          <p:nvPr/>
        </p:nvSpPr>
        <p:spPr>
          <a:xfrm>
            <a:off x="13315950" y="3235960"/>
            <a:ext cx="3829050" cy="2883218"/>
          </a:xfrm>
          <a:prstGeom prst="rect">
            <a:avLst/>
          </a:prstGeom>
          <a:solidFill>
            <a:srgbClr val="001E5C"/>
          </a:solidFill>
          <a:ln/>
        </p:spPr>
      </p:sp>
      <p:sp>
        <p:nvSpPr>
          <p:cNvPr id="18" name="Text 16"/>
          <p:cNvSpPr/>
          <p:nvPr/>
        </p:nvSpPr>
        <p:spPr>
          <a:xfrm>
            <a:off x="13582650" y="3540760"/>
            <a:ext cx="3394519"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FFFFFF">
                    <a:alpha val="90000"/>
                  </a:srgbClr>
                </a:solidFill>
                <a:latin typeface="Arial" pitchFamily="34" charset="0"/>
                <a:ea typeface="Arial" pitchFamily="34" charset="-122"/>
                <a:cs typeface="Arial" pitchFamily="34" charset="-120"/>
              </a:rPr>
              <a:t>LEVEL 04</a:t>
            </a:r>
            <a:endParaRPr lang="en-US" sz="1800" dirty="0"/>
          </a:p>
        </p:txBody>
      </p:sp>
      <p:sp>
        <p:nvSpPr>
          <p:cNvPr id="19" name="Text 17"/>
          <p:cNvSpPr/>
          <p:nvPr/>
        </p:nvSpPr>
        <p:spPr>
          <a:xfrm>
            <a:off x="13582650" y="4069398"/>
            <a:ext cx="3394519" cy="571500"/>
          </a:xfrm>
          <a:prstGeom prst="rect">
            <a:avLst/>
          </a:prstGeom>
          <a:noFill/>
          <a:ln/>
        </p:spPr>
        <p:txBody>
          <a:bodyPr wrap="square" lIns="25400" tIns="25400" rIns="25400" bIns="25400" rtlCol="0" anchor="t">
            <a:normAutofit/>
          </a:bodyPr>
          <a:lstStyle/>
          <a:p>
            <a:pPr algn="l" indent="0" marL="0">
              <a:lnSpc>
                <a:spcPct val="100000"/>
              </a:lnSpc>
              <a:buNone/>
            </a:pPr>
            <a:r>
              <a:rPr lang="en-US" sz="4200" b="1" spc="-84" kern="0" dirty="0">
                <a:solidFill>
                  <a:srgbClr val="FFFFFF"/>
                </a:solidFill>
                <a:latin typeface="Arial" pitchFamily="34" charset="0"/>
                <a:ea typeface="Arial" pitchFamily="34" charset="-122"/>
                <a:cs typeface="Arial" pitchFamily="34" charset="-120"/>
              </a:rPr>
              <a:t>Value</a:t>
            </a:r>
            <a:endParaRPr lang="en-US" sz="4200" dirty="0"/>
          </a:p>
        </p:txBody>
      </p:sp>
      <p:sp>
        <p:nvSpPr>
          <p:cNvPr id="20" name="Text 18"/>
          <p:cNvSpPr/>
          <p:nvPr/>
        </p:nvSpPr>
        <p:spPr>
          <a:xfrm>
            <a:off x="13582650" y="4774248"/>
            <a:ext cx="3394519"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FFFFFF">
                    <a:alpha val="87000"/>
                  </a:srgbClr>
                </a:solidFill>
                <a:latin typeface="Arial" pitchFamily="34" charset="0"/>
                <a:ea typeface="Arial" pitchFamily="34" charset="-122"/>
                <a:cs typeface="Arial" pitchFamily="34" charset="-120"/>
              </a:rPr>
              <a:t>Revenue, retention, cost avoided. What the business pays for.</a:t>
            </a:r>
            <a:endParaRPr lang="en-US" sz="1950" dirty="0"/>
          </a:p>
        </p:txBody>
      </p:sp>
      <p:sp>
        <p:nvSpPr>
          <p:cNvPr id="21" name="Text 19"/>
          <p:cNvSpPr/>
          <p:nvPr/>
        </p:nvSpPr>
        <p:spPr>
          <a:xfrm>
            <a:off x="1143000" y="6576378"/>
            <a:ext cx="16482060" cy="307499"/>
          </a:xfrm>
          <a:prstGeom prst="rect">
            <a:avLst/>
          </a:prstGeom>
          <a:noFill/>
          <a:ln/>
        </p:spPr>
        <p:txBody>
          <a:bodyPr wrap="square" lIns="25400" tIns="25400" rIns="25400" bIns="25400" rtlCol="0" anchor="t">
            <a:normAutofit/>
          </a:bodyPr>
          <a:lstStyle/>
          <a:p>
            <a:pPr algn="l" indent="0" marL="0">
              <a:buNone/>
            </a:pPr>
            <a:r>
              <a:rPr lang="en-US" sz="1800" i="1" dirty="0">
                <a:solidFill>
                  <a:srgbClr val="6B6B6B"/>
                </a:solidFill>
                <a:latin typeface="Arial" pitchFamily="34" charset="0"/>
                <a:ea typeface="Arial" pitchFamily="34" charset="-122"/>
                <a:cs typeface="Arial" pitchFamily="34" charset="-120"/>
              </a:rPr>
              <a:t>Ease of measurement decreases left to right; business relevance increases.</a:t>
            </a:r>
            <a:endParaRPr lang="en-US" sz="1800" dirty="0"/>
          </a:p>
        </p:txBody>
      </p:sp>
      <p:sp>
        <p:nvSpPr>
          <p:cNvPr id="22" name="Shape 20"/>
          <p:cNvSpPr/>
          <p:nvPr/>
        </p:nvSpPr>
        <p:spPr>
          <a:xfrm>
            <a:off x="1143000" y="6955314"/>
            <a:ext cx="16002000" cy="9525"/>
          </a:xfrm>
          <a:prstGeom prst="rect">
            <a:avLst/>
          </a:prstGeom>
          <a:solidFill>
            <a:srgbClr val="D9D9D6"/>
          </a:solidFill>
          <a:ln/>
        </p:spPr>
      </p:sp>
      <p:sp>
        <p:nvSpPr>
          <p:cNvPr id="23" name="Text 21"/>
          <p:cNvSpPr/>
          <p:nvPr/>
        </p:nvSpPr>
        <p:spPr>
          <a:xfrm>
            <a:off x="1143000" y="7136289"/>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24" name="Text 22"/>
          <p:cNvSpPr/>
          <p:nvPr/>
        </p:nvSpPr>
        <p:spPr>
          <a:xfrm>
            <a:off x="9040654" y="7136289"/>
            <a:ext cx="2172018"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 · VALUE</a:t>
            </a:r>
            <a:endParaRPr lang="en-US" sz="1800" dirty="0"/>
          </a:p>
        </p:txBody>
      </p:sp>
      <p:sp>
        <p:nvSpPr>
          <p:cNvPr id="25" name="Text 23"/>
          <p:cNvSpPr/>
          <p:nvPr/>
        </p:nvSpPr>
        <p:spPr>
          <a:xfrm>
            <a:off x="16155829" y="7136289"/>
            <a:ext cx="1065371"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07 / 28</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8641080"/>
          </a:xfrm>
          <a:prstGeom prst="rect">
            <a:avLst/>
          </a:prstGeom>
          <a:solidFill>
            <a:srgbClr val="FFFFFF"/>
          </a:solidFill>
          <a:ln/>
        </p:spPr>
      </p:sp>
      <p:sp>
        <p:nvSpPr>
          <p:cNvPr id="3" name="Shape 1"/>
          <p:cNvSpPr/>
          <p:nvPr/>
        </p:nvSpPr>
        <p:spPr>
          <a:xfrm>
            <a:off x="7866221" y="952500"/>
            <a:ext cx="9525" cy="6736080"/>
          </a:xfrm>
          <a:prstGeom prst="rect">
            <a:avLst/>
          </a:prstGeom>
          <a:solidFill>
            <a:srgbClr val="D9D9D6"/>
          </a:solidFill>
          <a:ln/>
        </p:spPr>
      </p:sp>
      <p:sp>
        <p:nvSpPr>
          <p:cNvPr id="4" name="Text 2"/>
          <p:cNvSpPr/>
          <p:nvPr/>
        </p:nvSpPr>
        <p:spPr>
          <a:xfrm>
            <a:off x="1143000" y="952500"/>
            <a:ext cx="6454002"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5 · EXECUTIVE VIEW</a:t>
            </a:r>
            <a:endParaRPr lang="en-US" sz="1800" dirty="0"/>
          </a:p>
        </p:txBody>
      </p:sp>
      <p:sp>
        <p:nvSpPr>
          <p:cNvPr id="5" name="Text 3"/>
          <p:cNvSpPr/>
          <p:nvPr/>
        </p:nvSpPr>
        <p:spPr>
          <a:xfrm>
            <a:off x="1143000" y="1462088"/>
            <a:ext cx="6454002" cy="2013109"/>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Five questions leaders are actually asking.</a:t>
            </a:r>
            <a:endParaRPr lang="en-US" sz="4800" dirty="0"/>
          </a:p>
        </p:txBody>
      </p:sp>
      <p:sp>
        <p:nvSpPr>
          <p:cNvPr id="6" name="Text 4"/>
          <p:cNvSpPr/>
          <p:nvPr/>
        </p:nvSpPr>
        <p:spPr>
          <a:xfrm>
            <a:off x="1143000" y="6648450"/>
            <a:ext cx="5101590"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6B6B6B"/>
                </a:solidFill>
                <a:latin typeface="Arial" pitchFamily="34" charset="0"/>
                <a:ea typeface="Arial" pitchFamily="34" charset="-122"/>
                <a:cs typeface="Arial" pitchFamily="34" charset="-120"/>
              </a:rPr>
              <a:t>None of these are answered by a velocity chart. Any measurement system should be designed to respond to them directly.</a:t>
            </a:r>
            <a:endParaRPr lang="en-US" sz="1950" dirty="0"/>
          </a:p>
        </p:txBody>
      </p:sp>
      <p:sp>
        <p:nvSpPr>
          <p:cNvPr id="7" name="Shape 5"/>
          <p:cNvSpPr/>
          <p:nvPr/>
        </p:nvSpPr>
        <p:spPr>
          <a:xfrm>
            <a:off x="8790146" y="2386965"/>
            <a:ext cx="8354854" cy="9525"/>
          </a:xfrm>
          <a:prstGeom prst="rect">
            <a:avLst/>
          </a:prstGeom>
          <a:solidFill>
            <a:srgbClr val="D9D9D6"/>
          </a:solidFill>
          <a:ln/>
        </p:spPr>
      </p:sp>
      <p:sp>
        <p:nvSpPr>
          <p:cNvPr id="8" name="Shape 6"/>
          <p:cNvSpPr/>
          <p:nvPr/>
        </p:nvSpPr>
        <p:spPr>
          <a:xfrm>
            <a:off x="8790146" y="952500"/>
            <a:ext cx="8354854" cy="9525"/>
          </a:xfrm>
          <a:prstGeom prst="rect">
            <a:avLst/>
          </a:prstGeom>
          <a:solidFill>
            <a:srgbClr val="D9D9D6"/>
          </a:solidFill>
          <a:ln/>
        </p:spPr>
      </p:sp>
      <p:sp>
        <p:nvSpPr>
          <p:cNvPr id="9" name="Text 7"/>
          <p:cNvSpPr/>
          <p:nvPr/>
        </p:nvSpPr>
        <p:spPr>
          <a:xfrm>
            <a:off x="8790146" y="1308735"/>
            <a:ext cx="609600"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001E5C"/>
                </a:solidFill>
                <a:latin typeface="Arial" pitchFamily="34" charset="0"/>
                <a:ea typeface="Arial" pitchFamily="34" charset="-122"/>
                <a:cs typeface="Arial" pitchFamily="34" charset="-120"/>
              </a:rPr>
              <a:t>01</a:t>
            </a:r>
            <a:endParaRPr lang="en-US" sz="2100" dirty="0"/>
          </a:p>
        </p:txBody>
      </p:sp>
      <p:sp>
        <p:nvSpPr>
          <p:cNvPr id="10" name="Text 8"/>
          <p:cNvSpPr/>
          <p:nvPr/>
        </p:nvSpPr>
        <p:spPr>
          <a:xfrm>
            <a:off x="9628346" y="1228725"/>
            <a:ext cx="7742154" cy="929640"/>
          </a:xfrm>
          <a:prstGeom prst="rect">
            <a:avLst/>
          </a:prstGeom>
          <a:noFill/>
          <a:ln/>
        </p:spPr>
        <p:txBody>
          <a:bodyPr wrap="square" lIns="25400" tIns="25400" rIns="25400" bIns="25400" rtlCol="0" anchor="t">
            <a:normAutofit/>
          </a:bodyPr>
          <a:lstStyle/>
          <a:p>
            <a:pPr algn="l" indent="0" marL="0">
              <a:lnSpc>
                <a:spcPct val="130000"/>
              </a:lnSpc>
              <a:buNone/>
            </a:pPr>
            <a:r>
              <a:rPr lang="en-US" sz="2700" spc="-13" kern="0" dirty="0">
                <a:solidFill>
                  <a:srgbClr val="0A0A0A"/>
                </a:solidFill>
                <a:latin typeface="Arial" pitchFamily="34" charset="0"/>
                <a:ea typeface="Arial" pitchFamily="34" charset="-122"/>
                <a:cs typeface="Arial" pitchFamily="34" charset="-120"/>
              </a:rPr>
              <a:t>Are we shipping the things that matter faster than last quarter?</a:t>
            </a:r>
            <a:endParaRPr lang="en-US" sz="2700" dirty="0"/>
          </a:p>
        </p:txBody>
      </p:sp>
      <p:sp>
        <p:nvSpPr>
          <p:cNvPr id="11" name="Shape 9"/>
          <p:cNvSpPr/>
          <p:nvPr/>
        </p:nvSpPr>
        <p:spPr>
          <a:xfrm>
            <a:off x="8790146" y="3821430"/>
            <a:ext cx="8354854" cy="9525"/>
          </a:xfrm>
          <a:prstGeom prst="rect">
            <a:avLst/>
          </a:prstGeom>
          <a:solidFill>
            <a:srgbClr val="D9D9D6"/>
          </a:solidFill>
          <a:ln/>
        </p:spPr>
      </p:sp>
      <p:sp>
        <p:nvSpPr>
          <p:cNvPr id="12" name="Text 10"/>
          <p:cNvSpPr/>
          <p:nvPr/>
        </p:nvSpPr>
        <p:spPr>
          <a:xfrm>
            <a:off x="8790146" y="2743200"/>
            <a:ext cx="609600"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001E5C"/>
                </a:solidFill>
                <a:latin typeface="Arial" pitchFamily="34" charset="0"/>
                <a:ea typeface="Arial" pitchFamily="34" charset="-122"/>
                <a:cs typeface="Arial" pitchFamily="34" charset="-120"/>
              </a:rPr>
              <a:t>02</a:t>
            </a:r>
            <a:endParaRPr lang="en-US" sz="2100" dirty="0"/>
          </a:p>
        </p:txBody>
      </p:sp>
      <p:sp>
        <p:nvSpPr>
          <p:cNvPr id="13" name="Text 11"/>
          <p:cNvSpPr/>
          <p:nvPr/>
        </p:nvSpPr>
        <p:spPr>
          <a:xfrm>
            <a:off x="9628346" y="2663190"/>
            <a:ext cx="7742154" cy="929640"/>
          </a:xfrm>
          <a:prstGeom prst="rect">
            <a:avLst/>
          </a:prstGeom>
          <a:noFill/>
          <a:ln/>
        </p:spPr>
        <p:txBody>
          <a:bodyPr wrap="square" lIns="25400" tIns="25400" rIns="25400" bIns="25400" rtlCol="0" anchor="t">
            <a:normAutofit/>
          </a:bodyPr>
          <a:lstStyle/>
          <a:p>
            <a:pPr algn="l" indent="0" marL="0">
              <a:lnSpc>
                <a:spcPct val="130000"/>
              </a:lnSpc>
              <a:buNone/>
            </a:pPr>
            <a:r>
              <a:rPr lang="en-US" sz="2700" spc="-13" kern="0" dirty="0">
                <a:solidFill>
                  <a:srgbClr val="0A0A0A"/>
                </a:solidFill>
                <a:latin typeface="Arial" pitchFamily="34" charset="0"/>
                <a:ea typeface="Arial" pitchFamily="34" charset="-122"/>
                <a:cs typeface="Arial" pitchFamily="34" charset="-120"/>
              </a:rPr>
              <a:t>Is AI making our senior engineers more productive, or less necessary?</a:t>
            </a:r>
            <a:endParaRPr lang="en-US" sz="2700" dirty="0"/>
          </a:p>
        </p:txBody>
      </p:sp>
      <p:sp>
        <p:nvSpPr>
          <p:cNvPr id="14" name="Shape 12"/>
          <p:cNvSpPr/>
          <p:nvPr/>
        </p:nvSpPr>
        <p:spPr>
          <a:xfrm>
            <a:off x="8790146" y="4810125"/>
            <a:ext cx="8354854" cy="9525"/>
          </a:xfrm>
          <a:prstGeom prst="rect">
            <a:avLst/>
          </a:prstGeom>
          <a:solidFill>
            <a:srgbClr val="D9D9D6"/>
          </a:solidFill>
          <a:ln/>
        </p:spPr>
      </p:sp>
      <p:sp>
        <p:nvSpPr>
          <p:cNvPr id="15" name="Text 13"/>
          <p:cNvSpPr/>
          <p:nvPr/>
        </p:nvSpPr>
        <p:spPr>
          <a:xfrm>
            <a:off x="8790146" y="4177665"/>
            <a:ext cx="609600"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001E5C"/>
                </a:solidFill>
                <a:latin typeface="Arial" pitchFamily="34" charset="0"/>
                <a:ea typeface="Arial" pitchFamily="34" charset="-122"/>
                <a:cs typeface="Arial" pitchFamily="34" charset="-120"/>
              </a:rPr>
              <a:t>03</a:t>
            </a:r>
            <a:endParaRPr lang="en-US" sz="2100" dirty="0"/>
          </a:p>
        </p:txBody>
      </p:sp>
      <p:sp>
        <p:nvSpPr>
          <p:cNvPr id="16" name="Text 14"/>
          <p:cNvSpPr/>
          <p:nvPr/>
        </p:nvSpPr>
        <p:spPr>
          <a:xfrm>
            <a:off x="9628346" y="4097655"/>
            <a:ext cx="5064146" cy="483870"/>
          </a:xfrm>
          <a:prstGeom prst="rect">
            <a:avLst/>
          </a:prstGeom>
          <a:noFill/>
          <a:ln/>
        </p:spPr>
        <p:txBody>
          <a:bodyPr wrap="square" lIns="25400" tIns="25400" rIns="25400" bIns="25400" rtlCol="0" anchor="t">
            <a:normAutofit/>
          </a:bodyPr>
          <a:lstStyle/>
          <a:p>
            <a:pPr algn="l" indent="0" marL="0">
              <a:lnSpc>
                <a:spcPct val="130000"/>
              </a:lnSpc>
              <a:buNone/>
            </a:pPr>
            <a:r>
              <a:rPr lang="en-US" sz="2700" spc="-13" kern="0" dirty="0">
                <a:solidFill>
                  <a:srgbClr val="0A0A0A"/>
                </a:solidFill>
                <a:latin typeface="Arial" pitchFamily="34" charset="0"/>
                <a:ea typeface="Arial" pitchFamily="34" charset="-122"/>
                <a:cs typeface="Arial" pitchFamily="34" charset="-120"/>
              </a:rPr>
              <a:t>Where is the quality debt hiding?</a:t>
            </a:r>
            <a:endParaRPr lang="en-US" sz="2700" dirty="0"/>
          </a:p>
        </p:txBody>
      </p:sp>
      <p:sp>
        <p:nvSpPr>
          <p:cNvPr id="17" name="Shape 15"/>
          <p:cNvSpPr/>
          <p:nvPr/>
        </p:nvSpPr>
        <p:spPr>
          <a:xfrm>
            <a:off x="8790146" y="6244590"/>
            <a:ext cx="8354854" cy="9525"/>
          </a:xfrm>
          <a:prstGeom prst="rect">
            <a:avLst/>
          </a:prstGeom>
          <a:solidFill>
            <a:srgbClr val="D9D9D6"/>
          </a:solidFill>
          <a:ln/>
        </p:spPr>
      </p:sp>
      <p:sp>
        <p:nvSpPr>
          <p:cNvPr id="18" name="Text 16"/>
          <p:cNvSpPr/>
          <p:nvPr/>
        </p:nvSpPr>
        <p:spPr>
          <a:xfrm>
            <a:off x="8790146" y="5166360"/>
            <a:ext cx="609600"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001E5C"/>
                </a:solidFill>
                <a:latin typeface="Arial" pitchFamily="34" charset="0"/>
                <a:ea typeface="Arial" pitchFamily="34" charset="-122"/>
                <a:cs typeface="Arial" pitchFamily="34" charset="-120"/>
              </a:rPr>
              <a:t>04</a:t>
            </a:r>
            <a:endParaRPr lang="en-US" sz="2100" dirty="0"/>
          </a:p>
        </p:txBody>
      </p:sp>
      <p:sp>
        <p:nvSpPr>
          <p:cNvPr id="19" name="Text 17"/>
          <p:cNvSpPr/>
          <p:nvPr/>
        </p:nvSpPr>
        <p:spPr>
          <a:xfrm>
            <a:off x="9628346" y="5086350"/>
            <a:ext cx="7742154" cy="929640"/>
          </a:xfrm>
          <a:prstGeom prst="rect">
            <a:avLst/>
          </a:prstGeom>
          <a:noFill/>
          <a:ln/>
        </p:spPr>
        <p:txBody>
          <a:bodyPr wrap="square" lIns="25400" tIns="25400" rIns="25400" bIns="25400" rtlCol="0" anchor="t">
            <a:normAutofit/>
          </a:bodyPr>
          <a:lstStyle/>
          <a:p>
            <a:pPr algn="l" indent="0" marL="0">
              <a:lnSpc>
                <a:spcPct val="130000"/>
              </a:lnSpc>
              <a:buNone/>
            </a:pPr>
            <a:r>
              <a:rPr lang="en-US" sz="2700" spc="-13" kern="0" dirty="0">
                <a:solidFill>
                  <a:srgbClr val="0A0A0A"/>
                </a:solidFill>
                <a:latin typeface="Arial" pitchFamily="34" charset="0"/>
                <a:ea typeface="Arial" pitchFamily="34" charset="-122"/>
                <a:cs typeface="Arial" pitchFamily="34" charset="-120"/>
              </a:rPr>
              <a:t>Can a smaller team do what a larger one did a year ago?</a:t>
            </a:r>
            <a:endParaRPr lang="en-US" sz="2700" dirty="0"/>
          </a:p>
        </p:txBody>
      </p:sp>
      <p:sp>
        <p:nvSpPr>
          <p:cNvPr id="20" name="Shape 18"/>
          <p:cNvSpPr/>
          <p:nvPr/>
        </p:nvSpPr>
        <p:spPr>
          <a:xfrm>
            <a:off x="8790146" y="7679055"/>
            <a:ext cx="8354854" cy="9525"/>
          </a:xfrm>
          <a:prstGeom prst="rect">
            <a:avLst/>
          </a:prstGeom>
          <a:solidFill>
            <a:srgbClr val="D9D9D6"/>
          </a:solidFill>
          <a:ln/>
        </p:spPr>
      </p:sp>
      <p:sp>
        <p:nvSpPr>
          <p:cNvPr id="21" name="Text 19"/>
          <p:cNvSpPr/>
          <p:nvPr/>
        </p:nvSpPr>
        <p:spPr>
          <a:xfrm>
            <a:off x="8790146" y="6600825"/>
            <a:ext cx="609600"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001E5C"/>
                </a:solidFill>
                <a:latin typeface="Arial" pitchFamily="34" charset="0"/>
                <a:ea typeface="Arial" pitchFamily="34" charset="-122"/>
                <a:cs typeface="Arial" pitchFamily="34" charset="-120"/>
              </a:rPr>
              <a:t>05</a:t>
            </a:r>
            <a:endParaRPr lang="en-US" sz="2100" dirty="0"/>
          </a:p>
        </p:txBody>
      </p:sp>
      <p:sp>
        <p:nvSpPr>
          <p:cNvPr id="22" name="Text 20"/>
          <p:cNvSpPr/>
          <p:nvPr/>
        </p:nvSpPr>
        <p:spPr>
          <a:xfrm>
            <a:off x="9628346" y="6520815"/>
            <a:ext cx="7742154" cy="929640"/>
          </a:xfrm>
          <a:prstGeom prst="rect">
            <a:avLst/>
          </a:prstGeom>
          <a:noFill/>
          <a:ln/>
        </p:spPr>
        <p:txBody>
          <a:bodyPr wrap="square" lIns="25400" tIns="25400" rIns="25400" bIns="25400" rtlCol="0" anchor="t">
            <a:normAutofit/>
          </a:bodyPr>
          <a:lstStyle/>
          <a:p>
            <a:pPr algn="l" indent="0" marL="0">
              <a:lnSpc>
                <a:spcPct val="130000"/>
              </a:lnSpc>
              <a:buNone/>
            </a:pPr>
            <a:r>
              <a:rPr lang="en-US" sz="2700" spc="-13" kern="0" dirty="0">
                <a:solidFill>
                  <a:srgbClr val="0A0A0A"/>
                </a:solidFill>
                <a:latin typeface="Arial" pitchFamily="34" charset="0"/>
                <a:ea typeface="Arial" pitchFamily="34" charset="-122"/>
                <a:cs typeface="Arial" pitchFamily="34" charset="-120"/>
              </a:rPr>
              <a:t>What is our return on every dollar spent on AI tooling?</a:t>
            </a:r>
            <a:endParaRPr lang="en-US" sz="2700" dirty="0"/>
          </a:p>
        </p:txBody>
      </p:sp>
      <p:sp>
        <p:nvSpPr>
          <p:cNvPr id="23" name="Shape 21"/>
          <p:cNvSpPr/>
          <p:nvPr/>
        </p:nvSpPr>
        <p:spPr>
          <a:xfrm>
            <a:off x="1143000" y="7798118"/>
            <a:ext cx="16002000" cy="9525"/>
          </a:xfrm>
          <a:prstGeom prst="rect">
            <a:avLst/>
          </a:prstGeom>
          <a:solidFill>
            <a:srgbClr val="D9D9D6"/>
          </a:solidFill>
          <a:ln/>
        </p:spPr>
      </p:sp>
      <p:sp>
        <p:nvSpPr>
          <p:cNvPr id="24" name="Text 22"/>
          <p:cNvSpPr/>
          <p:nvPr/>
        </p:nvSpPr>
        <p:spPr>
          <a:xfrm>
            <a:off x="1143000" y="7979093"/>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25" name="Text 23"/>
          <p:cNvSpPr/>
          <p:nvPr/>
        </p:nvSpPr>
        <p:spPr>
          <a:xfrm>
            <a:off x="9031764" y="7979093"/>
            <a:ext cx="2172018"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 · VALUE</a:t>
            </a:r>
            <a:endParaRPr lang="en-US" sz="1800" dirty="0"/>
          </a:p>
        </p:txBody>
      </p:sp>
      <p:sp>
        <p:nvSpPr>
          <p:cNvPr id="26" name="Text 24"/>
          <p:cNvSpPr/>
          <p:nvPr/>
        </p:nvSpPr>
        <p:spPr>
          <a:xfrm>
            <a:off x="16138049" y="7979093"/>
            <a:ext cx="1083151"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08 / 28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5646579"/>
          </a:xfrm>
          <a:prstGeom prst="rect">
            <a:avLst/>
          </a:prstGeom>
          <a:solidFill>
            <a:srgbClr val="FFFFFF"/>
          </a:solidFill>
          <a:ln/>
        </p:spPr>
      </p:sp>
      <p:sp>
        <p:nvSpPr>
          <p:cNvPr id="3" name="Text 1"/>
          <p:cNvSpPr/>
          <p:nvPr/>
        </p:nvSpPr>
        <p:spPr>
          <a:xfrm>
            <a:off x="1143000" y="952500"/>
            <a:ext cx="2003108"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6B6B6B"/>
                </a:solidFill>
                <a:latin typeface="Arial" pitchFamily="34" charset="0"/>
                <a:ea typeface="Arial" pitchFamily="34" charset="-122"/>
                <a:cs typeface="Arial" pitchFamily="34" charset="-120"/>
              </a:rPr>
              <a:t>PART 2 OF 4</a:t>
            </a:r>
            <a:endParaRPr lang="en-US" sz="1800" dirty="0"/>
          </a:p>
        </p:txBody>
      </p:sp>
      <p:sp>
        <p:nvSpPr>
          <p:cNvPr id="4" name="Shape 2"/>
          <p:cNvSpPr/>
          <p:nvPr/>
        </p:nvSpPr>
        <p:spPr>
          <a:xfrm>
            <a:off x="3374707" y="1166813"/>
            <a:ext cx="12083415" cy="9525"/>
          </a:xfrm>
          <a:prstGeom prst="rect">
            <a:avLst/>
          </a:prstGeom>
          <a:solidFill>
            <a:srgbClr val="D9D9D6"/>
          </a:solidFill>
          <a:ln/>
        </p:spPr>
      </p:sp>
      <p:sp>
        <p:nvSpPr>
          <p:cNvPr id="5" name="Text 3"/>
          <p:cNvSpPr/>
          <p:nvPr/>
        </p:nvSpPr>
        <p:spPr>
          <a:xfrm>
            <a:off x="15762923" y="952500"/>
            <a:ext cx="1458278"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6B6B6B"/>
                </a:solidFill>
                <a:latin typeface="Arial" pitchFamily="34" charset="0"/>
                <a:ea typeface="Arial" pitchFamily="34" charset="-122"/>
                <a:cs typeface="Arial" pitchFamily="34" charset="-120"/>
              </a:rPr>
              <a:t>METRICS</a:t>
            </a:r>
            <a:endParaRPr lang="en-US" sz="1800" dirty="0"/>
          </a:p>
        </p:txBody>
      </p:sp>
      <p:sp>
        <p:nvSpPr>
          <p:cNvPr id="6" name="Text 4"/>
          <p:cNvSpPr/>
          <p:nvPr/>
        </p:nvSpPr>
        <p:spPr>
          <a:xfrm>
            <a:off x="1143000" y="1233488"/>
            <a:ext cx="16482060" cy="2266950"/>
          </a:xfrm>
          <a:prstGeom prst="rect">
            <a:avLst/>
          </a:prstGeom>
          <a:noFill/>
          <a:ln/>
        </p:spPr>
        <p:txBody>
          <a:bodyPr wrap="square" lIns="25400" tIns="25400" rIns="25400" bIns="25400" rtlCol="0" anchor="t">
            <a:normAutofit/>
          </a:bodyPr>
          <a:lstStyle/>
          <a:p>
            <a:pPr algn="l" indent="0" marL="0">
              <a:lnSpc>
                <a:spcPct val="90000"/>
              </a:lnSpc>
              <a:buNone/>
            </a:pPr>
            <a:r>
              <a:rPr lang="en-US" sz="19500" b="1" spc="-780" kern="0" dirty="0">
                <a:solidFill>
                  <a:srgbClr val="E6E6E2"/>
                </a:solidFill>
                <a:latin typeface="Arial" pitchFamily="34" charset="0"/>
                <a:ea typeface="Arial" pitchFamily="34" charset="-122"/>
                <a:cs typeface="Arial" pitchFamily="34" charset="-120"/>
              </a:rPr>
              <a:t>0 2</a:t>
            </a:r>
            <a:endParaRPr lang="en-US" sz="19500" dirty="0"/>
          </a:p>
        </p:txBody>
      </p:sp>
      <p:sp>
        <p:nvSpPr>
          <p:cNvPr id="7" name="Text 5"/>
          <p:cNvSpPr/>
          <p:nvPr/>
        </p:nvSpPr>
        <p:spPr>
          <a:xfrm>
            <a:off x="1143000" y="3614738"/>
            <a:ext cx="14716125" cy="1107916"/>
          </a:xfrm>
          <a:prstGeom prst="rect">
            <a:avLst/>
          </a:prstGeom>
          <a:noFill/>
          <a:ln/>
        </p:spPr>
        <p:txBody>
          <a:bodyPr wrap="square" lIns="25400" tIns="25400" rIns="25400" bIns="25400" rtlCol="0" anchor="t">
            <a:normAutofit/>
          </a:bodyPr>
          <a:lstStyle/>
          <a:p>
            <a:pPr algn="l" indent="0" marL="0">
              <a:lnSpc>
                <a:spcPct val="107997"/>
              </a:lnSpc>
              <a:buNone/>
            </a:pPr>
            <a:r>
              <a:rPr lang="en-US" sz="7800" b="1" spc="-117" kern="0" dirty="0">
                <a:solidFill>
                  <a:srgbClr val="0A0A0A"/>
                </a:solidFill>
                <a:latin typeface="Arial" pitchFamily="34" charset="0"/>
                <a:ea typeface="Arial" pitchFamily="34" charset="-122"/>
                <a:cs typeface="Arial" pitchFamily="34" charset="-120"/>
              </a:rPr>
              <a:t>How metrics lie.</a:t>
            </a:r>
            <a:endParaRPr lang="en-US" sz="7800" dirty="0"/>
          </a:p>
        </p:txBody>
      </p:sp>
      <p:sp>
        <p:nvSpPr>
          <p:cNvPr id="8" name="Shape 6"/>
          <p:cNvSpPr/>
          <p:nvPr/>
        </p:nvSpPr>
        <p:spPr>
          <a:xfrm>
            <a:off x="1143000" y="4684554"/>
            <a:ext cx="16002000" cy="9525"/>
          </a:xfrm>
          <a:prstGeom prst="rect">
            <a:avLst/>
          </a:prstGeom>
          <a:solidFill>
            <a:srgbClr val="D9D9D6"/>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8803957"/>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6 · THE LANDSCAPE</a:t>
            </a:r>
            <a:endParaRPr lang="en-US" sz="1800" dirty="0"/>
          </a:p>
        </p:txBody>
      </p:sp>
      <p:sp>
        <p:nvSpPr>
          <p:cNvPr id="4" name="Text 2"/>
          <p:cNvSpPr/>
          <p:nvPr/>
        </p:nvSpPr>
        <p:spPr>
          <a:xfrm>
            <a:off x="1143000" y="1462088"/>
            <a:ext cx="14716125" cy="1354773"/>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Four ways metrics lie in an AI-assisted organization.</a:t>
            </a:r>
            <a:endParaRPr lang="en-US" sz="4800" dirty="0"/>
          </a:p>
        </p:txBody>
      </p:sp>
      <p:sp>
        <p:nvSpPr>
          <p:cNvPr id="5" name="Shape 3"/>
          <p:cNvSpPr/>
          <p:nvPr/>
        </p:nvSpPr>
        <p:spPr>
          <a:xfrm>
            <a:off x="1143000" y="3312160"/>
            <a:ext cx="7772400" cy="9525"/>
          </a:xfrm>
          <a:prstGeom prst="rect">
            <a:avLst/>
          </a:prstGeom>
          <a:solidFill>
            <a:srgbClr val="D9D9D6"/>
          </a:solidFill>
          <a:ln/>
        </p:spPr>
      </p:sp>
      <p:sp>
        <p:nvSpPr>
          <p:cNvPr id="6" name="Text 4"/>
          <p:cNvSpPr/>
          <p:nvPr/>
        </p:nvSpPr>
        <p:spPr>
          <a:xfrm>
            <a:off x="1143000" y="3550285"/>
            <a:ext cx="647700" cy="184102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0 1</a:t>
            </a:r>
            <a:endParaRPr lang="en-US" sz="2100" dirty="0"/>
          </a:p>
        </p:txBody>
      </p:sp>
      <p:sp>
        <p:nvSpPr>
          <p:cNvPr id="7" name="Text 5"/>
          <p:cNvSpPr/>
          <p:nvPr/>
        </p:nvSpPr>
        <p:spPr>
          <a:xfrm>
            <a:off x="2057400" y="3550285"/>
            <a:ext cx="7063740"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Velocity theater</a:t>
            </a:r>
            <a:endParaRPr lang="en-US" sz="3300" dirty="0"/>
          </a:p>
        </p:txBody>
      </p:sp>
      <p:sp>
        <p:nvSpPr>
          <p:cNvPr id="8" name="Text 6"/>
          <p:cNvSpPr/>
          <p:nvPr/>
        </p:nvSpPr>
        <p:spPr>
          <a:xfrm>
            <a:off x="2057400" y="4153059"/>
            <a:ext cx="7063740"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Counting PRs and commits as if each were equally valuable. AI inflates both without changing the denominator.</a:t>
            </a:r>
            <a:endParaRPr lang="en-US" sz="2250" dirty="0"/>
          </a:p>
        </p:txBody>
      </p:sp>
      <p:sp>
        <p:nvSpPr>
          <p:cNvPr id="9" name="Shape 7"/>
          <p:cNvSpPr/>
          <p:nvPr/>
        </p:nvSpPr>
        <p:spPr>
          <a:xfrm>
            <a:off x="9372600" y="3312160"/>
            <a:ext cx="7772400" cy="9525"/>
          </a:xfrm>
          <a:prstGeom prst="rect">
            <a:avLst/>
          </a:prstGeom>
          <a:solidFill>
            <a:srgbClr val="D9D9D6"/>
          </a:solidFill>
          <a:ln/>
        </p:spPr>
      </p:sp>
      <p:sp>
        <p:nvSpPr>
          <p:cNvPr id="10" name="Text 8"/>
          <p:cNvSpPr/>
          <p:nvPr/>
        </p:nvSpPr>
        <p:spPr>
          <a:xfrm>
            <a:off x="9372600" y="3550285"/>
            <a:ext cx="647700" cy="184102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0 2</a:t>
            </a:r>
            <a:endParaRPr lang="en-US" sz="2100" dirty="0"/>
          </a:p>
        </p:txBody>
      </p:sp>
      <p:sp>
        <p:nvSpPr>
          <p:cNvPr id="11" name="Text 9"/>
          <p:cNvSpPr/>
          <p:nvPr/>
        </p:nvSpPr>
        <p:spPr>
          <a:xfrm>
            <a:off x="10287000" y="3550285"/>
            <a:ext cx="7063740"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The acceptance fallacy</a:t>
            </a:r>
            <a:endParaRPr lang="en-US" sz="3300" dirty="0"/>
          </a:p>
        </p:txBody>
      </p:sp>
      <p:sp>
        <p:nvSpPr>
          <p:cNvPr id="12" name="Text 10"/>
          <p:cNvSpPr/>
          <p:nvPr/>
        </p:nvSpPr>
        <p:spPr>
          <a:xfrm>
            <a:off x="10287000" y="4153059"/>
            <a:ext cx="7063740"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Copilot acceptance rate measures autocomplete tolerance, not engineering value. Correlation with outcomes is weak.</a:t>
            </a:r>
            <a:endParaRPr lang="en-US" sz="2250" dirty="0"/>
          </a:p>
        </p:txBody>
      </p:sp>
      <p:sp>
        <p:nvSpPr>
          <p:cNvPr id="13" name="Shape 11"/>
          <p:cNvSpPr/>
          <p:nvPr/>
        </p:nvSpPr>
        <p:spPr>
          <a:xfrm>
            <a:off x="1143000" y="5810409"/>
            <a:ext cx="7772400" cy="9525"/>
          </a:xfrm>
          <a:prstGeom prst="rect">
            <a:avLst/>
          </a:prstGeom>
          <a:solidFill>
            <a:srgbClr val="D9D9D6"/>
          </a:solidFill>
          <a:ln/>
        </p:spPr>
      </p:sp>
      <p:sp>
        <p:nvSpPr>
          <p:cNvPr id="14" name="Text 12"/>
          <p:cNvSpPr/>
          <p:nvPr/>
        </p:nvSpPr>
        <p:spPr>
          <a:xfrm>
            <a:off x="1143000" y="6048534"/>
            <a:ext cx="647700" cy="184102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0 3</a:t>
            </a:r>
            <a:endParaRPr lang="en-US" sz="2100" dirty="0"/>
          </a:p>
        </p:txBody>
      </p:sp>
      <p:sp>
        <p:nvSpPr>
          <p:cNvPr id="15" name="Text 13"/>
          <p:cNvSpPr/>
          <p:nvPr/>
        </p:nvSpPr>
        <p:spPr>
          <a:xfrm>
            <a:off x="2057400" y="6048534"/>
            <a:ext cx="7063740"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Goodhart's curse</a:t>
            </a:r>
            <a:endParaRPr lang="en-US" sz="3300" dirty="0"/>
          </a:p>
        </p:txBody>
      </p:sp>
      <p:sp>
        <p:nvSpPr>
          <p:cNvPr id="16" name="Text 14"/>
          <p:cNvSpPr/>
          <p:nvPr/>
        </p:nvSpPr>
        <p:spPr>
          <a:xfrm>
            <a:off x="2057400" y="6651307"/>
            <a:ext cx="7063740"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Every measure that becomes a target stops being a good measure. With AI, engineers can game targets at machine speed.</a:t>
            </a:r>
            <a:endParaRPr lang="en-US" sz="2250" dirty="0"/>
          </a:p>
        </p:txBody>
      </p:sp>
      <p:sp>
        <p:nvSpPr>
          <p:cNvPr id="17" name="Shape 15"/>
          <p:cNvSpPr/>
          <p:nvPr/>
        </p:nvSpPr>
        <p:spPr>
          <a:xfrm>
            <a:off x="9372600" y="5810409"/>
            <a:ext cx="7772400" cy="9525"/>
          </a:xfrm>
          <a:prstGeom prst="rect">
            <a:avLst/>
          </a:prstGeom>
          <a:solidFill>
            <a:srgbClr val="D9D9D6"/>
          </a:solidFill>
          <a:ln/>
        </p:spPr>
      </p:sp>
      <p:sp>
        <p:nvSpPr>
          <p:cNvPr id="18" name="Text 16"/>
          <p:cNvSpPr/>
          <p:nvPr/>
        </p:nvSpPr>
        <p:spPr>
          <a:xfrm>
            <a:off x="9372600" y="6048534"/>
            <a:ext cx="647700" cy="184102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0 4</a:t>
            </a:r>
            <a:endParaRPr lang="en-US" sz="2100" dirty="0"/>
          </a:p>
        </p:txBody>
      </p:sp>
      <p:sp>
        <p:nvSpPr>
          <p:cNvPr id="19" name="Text 17"/>
          <p:cNvSpPr/>
          <p:nvPr/>
        </p:nvSpPr>
        <p:spPr>
          <a:xfrm>
            <a:off x="10287000" y="6048534"/>
            <a:ext cx="7063740"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Debt laundered as speed</a:t>
            </a:r>
            <a:endParaRPr lang="en-US" sz="3300" dirty="0"/>
          </a:p>
        </p:txBody>
      </p:sp>
      <p:sp>
        <p:nvSpPr>
          <p:cNvPr id="20" name="Text 18"/>
          <p:cNvSpPr/>
          <p:nvPr/>
        </p:nvSpPr>
        <p:spPr>
          <a:xfrm>
            <a:off x="10287000" y="6651307"/>
            <a:ext cx="706374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Short-term throughput rises. Rework, incident rate, and onboarding time rise on a lag.</a:t>
            </a:r>
            <a:endParaRPr lang="en-US" sz="2250" dirty="0"/>
          </a:p>
        </p:txBody>
      </p:sp>
      <p:sp>
        <p:nvSpPr>
          <p:cNvPr id="21" name="Shape 19"/>
          <p:cNvSpPr/>
          <p:nvPr/>
        </p:nvSpPr>
        <p:spPr>
          <a:xfrm>
            <a:off x="1143000" y="7960995"/>
            <a:ext cx="16002000" cy="9525"/>
          </a:xfrm>
          <a:prstGeom prst="rect">
            <a:avLst/>
          </a:prstGeom>
          <a:solidFill>
            <a:srgbClr val="D9D9D6"/>
          </a:solidFill>
          <a:ln/>
        </p:spPr>
      </p:sp>
      <p:sp>
        <p:nvSpPr>
          <p:cNvPr id="22" name="Text 20"/>
          <p:cNvSpPr/>
          <p:nvPr/>
        </p:nvSpPr>
        <p:spPr>
          <a:xfrm>
            <a:off x="1143000" y="8141970"/>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23" name="Text 21"/>
          <p:cNvSpPr/>
          <p:nvPr/>
        </p:nvSpPr>
        <p:spPr>
          <a:xfrm>
            <a:off x="8838248" y="8141970"/>
            <a:ext cx="260778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 · METRICS</a:t>
            </a:r>
            <a:endParaRPr lang="en-US" sz="1800" dirty="0"/>
          </a:p>
        </p:txBody>
      </p:sp>
      <p:sp>
        <p:nvSpPr>
          <p:cNvPr id="24" name="Text 22"/>
          <p:cNvSpPr/>
          <p:nvPr/>
        </p:nvSpPr>
        <p:spPr>
          <a:xfrm>
            <a:off x="16186943" y="8141970"/>
            <a:ext cx="103425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10 / 28</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9184799"/>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7 · TRAP 01 — VELOCITY THEATER</a:t>
            </a:r>
            <a:endParaRPr lang="en-US" sz="1800" dirty="0"/>
          </a:p>
        </p:txBody>
      </p:sp>
      <p:sp>
        <p:nvSpPr>
          <p:cNvPr id="4" name="Text 2"/>
          <p:cNvSpPr/>
          <p:nvPr/>
        </p:nvSpPr>
        <p:spPr>
          <a:xfrm>
            <a:off x="1143000" y="1462088"/>
            <a:ext cx="13735050" cy="1354773"/>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Output rose sharply. Customer-felt value did not.</a:t>
            </a:r>
            <a:endParaRPr lang="en-US" sz="4800" dirty="0"/>
          </a:p>
        </p:txBody>
      </p:sp>
      <p:sp>
        <p:nvSpPr>
          <p:cNvPr id="5" name="Shape 3"/>
          <p:cNvSpPr/>
          <p:nvPr/>
        </p:nvSpPr>
        <p:spPr>
          <a:xfrm>
            <a:off x="1143000" y="3159760"/>
            <a:ext cx="10521950" cy="5072539"/>
          </a:xfrm>
          <a:prstGeom prst="rect">
            <a:avLst/>
          </a:prstGeom>
          <a:solidFill>
            <a:srgbClr val="FAFAF7"/>
          </a:solidFill>
          <a:ln w="9525">
            <a:solidFill>
              <a:srgbClr val="D9D9D6"/>
            </a:solidFill>
            <a:prstDash val="solid"/>
          </a:ln>
        </p:spPr>
      </p:sp>
      <p:sp>
        <p:nvSpPr>
          <p:cNvPr id="6" name="Shape 4"/>
          <p:cNvSpPr/>
          <p:nvPr/>
        </p:nvSpPr>
        <p:spPr>
          <a:xfrm>
            <a:off x="1533525" y="3983673"/>
            <a:ext cx="9740900" cy="9525"/>
          </a:xfrm>
          <a:prstGeom prst="rect">
            <a:avLst/>
          </a:prstGeom>
          <a:solidFill>
            <a:srgbClr val="D9D9D6"/>
          </a:solidFill>
          <a:ln/>
        </p:spPr>
      </p:sp>
      <p:sp>
        <p:nvSpPr>
          <p:cNvPr id="7" name="Shape 5"/>
          <p:cNvSpPr/>
          <p:nvPr/>
        </p:nvSpPr>
        <p:spPr>
          <a:xfrm>
            <a:off x="1533525" y="3624104"/>
            <a:ext cx="228600" cy="133350"/>
          </a:xfrm>
          <a:prstGeom prst="rect">
            <a:avLst/>
          </a:prstGeom>
          <a:solidFill>
            <a:srgbClr val="001E5C"/>
          </a:solidFill>
          <a:ln/>
        </p:spPr>
      </p:sp>
      <p:sp>
        <p:nvSpPr>
          <p:cNvPr id="8" name="Text 6"/>
          <p:cNvSpPr/>
          <p:nvPr/>
        </p:nvSpPr>
        <p:spPr>
          <a:xfrm>
            <a:off x="1876425" y="3550285"/>
            <a:ext cx="1734820" cy="31908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A0A0A"/>
                </a:solidFill>
                <a:latin typeface="Arial" pitchFamily="34" charset="0"/>
                <a:ea typeface="Arial" pitchFamily="34" charset="-122"/>
                <a:cs typeface="Arial" pitchFamily="34" charset="-120"/>
              </a:rPr>
              <a:t>PRS MERGED</a:t>
            </a:r>
            <a:endParaRPr lang="en-US" sz="1800" dirty="0"/>
          </a:p>
        </p:txBody>
      </p:sp>
      <p:sp>
        <p:nvSpPr>
          <p:cNvPr id="9" name="Shape 7"/>
          <p:cNvSpPr/>
          <p:nvPr/>
        </p:nvSpPr>
        <p:spPr>
          <a:xfrm>
            <a:off x="3839845" y="3624104"/>
            <a:ext cx="228600" cy="133350"/>
          </a:xfrm>
          <a:prstGeom prst="rect">
            <a:avLst/>
          </a:prstGeom>
          <a:solidFill>
            <a:srgbClr val="9A9A9A"/>
          </a:solidFill>
          <a:ln/>
        </p:spPr>
      </p:sp>
      <p:sp>
        <p:nvSpPr>
          <p:cNvPr id="10" name="Text 8"/>
          <p:cNvSpPr/>
          <p:nvPr/>
        </p:nvSpPr>
        <p:spPr>
          <a:xfrm>
            <a:off x="4182745" y="3550285"/>
            <a:ext cx="2712672" cy="319088"/>
          </a:xfrm>
          <a:prstGeom prst="rect">
            <a:avLst/>
          </a:prstGeom>
          <a:noFill/>
          <a:ln/>
        </p:spPr>
        <p:txBody>
          <a:bodyPr wrap="square" lIns="25400" tIns="25400" rIns="25400" bIns="25400" rtlCol="0" anchor="t">
            <a:normAutofit/>
          </a:bodyPr>
          <a:lstStyle/>
          <a:p>
            <a:pPr algn="l" indent="0" marL="0">
              <a:buNone/>
            </a:pPr>
            <a:r>
              <a:rPr lang="en-US" sz="1800" b="1" spc="144" kern="0" dirty="0">
                <a:solidFill>
                  <a:srgbClr val="0A0A0A"/>
                </a:solidFill>
                <a:latin typeface="Arial" pitchFamily="34" charset="0"/>
                <a:ea typeface="Arial" pitchFamily="34" charset="-122"/>
                <a:cs typeface="Arial" pitchFamily="34" charset="-120"/>
              </a:rPr>
              <a:t>FEATURES ADOPTED</a:t>
            </a:r>
            <a:endParaRPr lang="en-US" sz="1800" dirty="0"/>
          </a:p>
        </p:txBody>
      </p:sp>
      <p:pic>
        <p:nvPicPr>
          <p:cNvPr id="11" name="Image 0" descr="preencoded.png">    </p:cNvPr>
          <p:cNvPicPr>
            <a:picLocks noChangeAspect="1"/>
          </p:cNvPicPr>
          <p:nvPr/>
        </p:nvPicPr>
        <p:blipFill>
          <a:blip r:embed="rId1"/>
          <a:stretch>
            <a:fillRect/>
          </a:stretch>
        </p:blipFill>
        <p:spPr>
          <a:xfrm>
            <a:off x="1533525" y="4221798"/>
            <a:ext cx="9740900" cy="3238500"/>
          </a:xfrm>
          <a:prstGeom prst="rect">
            <a:avLst/>
          </a:prstGeom>
        </p:spPr>
      </p:pic>
      <p:sp>
        <p:nvSpPr>
          <p:cNvPr id="12" name="Text 9"/>
          <p:cNvSpPr/>
          <p:nvPr/>
        </p:nvSpPr>
        <p:spPr>
          <a:xfrm>
            <a:off x="1533525" y="7572375"/>
            <a:ext cx="10033127" cy="307499"/>
          </a:xfrm>
          <a:prstGeom prst="rect">
            <a:avLst/>
          </a:prstGeom>
          <a:noFill/>
          <a:ln/>
        </p:spPr>
        <p:txBody>
          <a:bodyPr wrap="square" lIns="25400" tIns="25400" rIns="25400" bIns="25400" rtlCol="0" anchor="t">
            <a:normAutofit/>
          </a:bodyPr>
          <a:lstStyle/>
          <a:p>
            <a:pPr algn="l" indent="0" marL="0">
              <a:buNone/>
            </a:pPr>
            <a:r>
              <a:rPr lang="en-US" sz="1800" i="1" dirty="0">
                <a:solidFill>
                  <a:srgbClr val="6B6B6B"/>
                </a:solidFill>
                <a:latin typeface="Arial" pitchFamily="34" charset="0"/>
                <a:ea typeface="Arial" pitchFamily="34" charset="-122"/>
                <a:cs typeface="Arial" pitchFamily="34" charset="-120"/>
              </a:rPr>
              <a:t>Indexed, Q3 2024 = 60 · illustrative composite</a:t>
            </a:r>
            <a:endParaRPr lang="en-US" sz="1800" dirty="0"/>
          </a:p>
        </p:txBody>
      </p:sp>
      <p:sp>
        <p:nvSpPr>
          <p:cNvPr id="13" name="Text 10"/>
          <p:cNvSpPr/>
          <p:nvPr/>
        </p:nvSpPr>
        <p:spPr>
          <a:xfrm>
            <a:off x="12274550" y="3558540"/>
            <a:ext cx="5016563"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PRS MERGED</a:t>
            </a:r>
            <a:endParaRPr lang="en-US" sz="1800" dirty="0"/>
          </a:p>
        </p:txBody>
      </p:sp>
      <p:sp>
        <p:nvSpPr>
          <p:cNvPr id="14" name="Text 11"/>
          <p:cNvSpPr/>
          <p:nvPr/>
        </p:nvSpPr>
        <p:spPr>
          <a:xfrm>
            <a:off x="12274550" y="3953828"/>
            <a:ext cx="5016563"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16" kern="0" dirty="0">
                <a:solidFill>
                  <a:srgbClr val="001E5C"/>
                </a:solidFill>
                <a:latin typeface="Arial" pitchFamily="34" charset="0"/>
                <a:ea typeface="Arial" pitchFamily="34" charset="-122"/>
                <a:cs typeface="Arial" pitchFamily="34" charset="-120"/>
              </a:rPr>
              <a:t>+170%</a:t>
            </a:r>
            <a:endParaRPr lang="en-US" sz="7200" dirty="0"/>
          </a:p>
        </p:txBody>
      </p:sp>
      <p:sp>
        <p:nvSpPr>
          <p:cNvPr id="15" name="Text 12"/>
          <p:cNvSpPr/>
          <p:nvPr/>
        </p:nvSpPr>
        <p:spPr>
          <a:xfrm>
            <a:off x="12274550" y="5249227"/>
            <a:ext cx="5016563"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FEATURES ADOPTED</a:t>
            </a:r>
            <a:endParaRPr lang="en-US" sz="1800" dirty="0"/>
          </a:p>
        </p:txBody>
      </p:sp>
      <p:sp>
        <p:nvSpPr>
          <p:cNvPr id="16" name="Text 13"/>
          <p:cNvSpPr/>
          <p:nvPr/>
        </p:nvSpPr>
        <p:spPr>
          <a:xfrm>
            <a:off x="12274550" y="5644515"/>
            <a:ext cx="5016563" cy="952500"/>
          </a:xfrm>
          <a:prstGeom prst="rect">
            <a:avLst/>
          </a:prstGeom>
          <a:noFill/>
          <a:ln/>
        </p:spPr>
        <p:txBody>
          <a:bodyPr wrap="square" lIns="25400" tIns="25400" rIns="25400" bIns="25400" rtlCol="0" anchor="t">
            <a:normAutofit/>
          </a:bodyPr>
          <a:lstStyle/>
          <a:p>
            <a:pPr algn="l" indent="0" marL="0">
              <a:lnSpc>
                <a:spcPct val="100000"/>
              </a:lnSpc>
              <a:buNone/>
            </a:pPr>
            <a:r>
              <a:rPr lang="en-US" sz="7200" b="1" spc="-216" kern="0" dirty="0">
                <a:solidFill>
                  <a:srgbClr val="0A0A0A"/>
                </a:solidFill>
                <a:latin typeface="Arial" pitchFamily="34" charset="0"/>
                <a:ea typeface="Arial" pitchFamily="34" charset="-122"/>
                <a:cs typeface="Arial" pitchFamily="34" charset="-120"/>
              </a:rPr>
              <a:t>+12%</a:t>
            </a:r>
            <a:endParaRPr lang="en-US" sz="7200" dirty="0"/>
          </a:p>
        </p:txBody>
      </p:sp>
      <p:sp>
        <p:nvSpPr>
          <p:cNvPr id="17" name="Shape 14"/>
          <p:cNvSpPr/>
          <p:nvPr/>
        </p:nvSpPr>
        <p:spPr>
          <a:xfrm>
            <a:off x="12274550" y="6939915"/>
            <a:ext cx="4870450" cy="9525"/>
          </a:xfrm>
          <a:prstGeom prst="rect">
            <a:avLst/>
          </a:prstGeom>
          <a:solidFill>
            <a:srgbClr val="D9D9D6"/>
          </a:solidFill>
          <a:ln/>
        </p:spPr>
      </p:sp>
      <p:sp>
        <p:nvSpPr>
          <p:cNvPr id="18" name="Text 15"/>
          <p:cNvSpPr/>
          <p:nvPr/>
        </p:nvSpPr>
        <p:spPr>
          <a:xfrm>
            <a:off x="12274550" y="7139940"/>
            <a:ext cx="5016563"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The ratio is the point. AI made it cheap to ship more — not necessarily better.</a:t>
            </a:r>
            <a:endParaRPr lang="en-US" sz="1950" dirty="0"/>
          </a:p>
        </p:txBody>
      </p:sp>
      <p:sp>
        <p:nvSpPr>
          <p:cNvPr id="19" name="Shape 16"/>
          <p:cNvSpPr/>
          <p:nvPr/>
        </p:nvSpPr>
        <p:spPr>
          <a:xfrm>
            <a:off x="1143000" y="8341836"/>
            <a:ext cx="16002000" cy="9525"/>
          </a:xfrm>
          <a:prstGeom prst="rect">
            <a:avLst/>
          </a:prstGeom>
          <a:solidFill>
            <a:srgbClr val="D9D9D6"/>
          </a:solidFill>
          <a:ln/>
        </p:spPr>
      </p:sp>
      <p:sp>
        <p:nvSpPr>
          <p:cNvPr id="20" name="Text 17"/>
          <p:cNvSpPr/>
          <p:nvPr/>
        </p:nvSpPr>
        <p:spPr>
          <a:xfrm>
            <a:off x="1143000" y="8522811"/>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21" name="Text 18"/>
          <p:cNvSpPr/>
          <p:nvPr/>
        </p:nvSpPr>
        <p:spPr>
          <a:xfrm>
            <a:off x="8864600" y="8522811"/>
            <a:ext cx="260778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 · METRICS</a:t>
            </a:r>
            <a:endParaRPr lang="en-US" sz="1800" dirty="0"/>
          </a:p>
        </p:txBody>
      </p:sp>
      <p:sp>
        <p:nvSpPr>
          <p:cNvPr id="22" name="Text 19"/>
          <p:cNvSpPr/>
          <p:nvPr/>
        </p:nvSpPr>
        <p:spPr>
          <a:xfrm>
            <a:off x="16239648" y="8522811"/>
            <a:ext cx="981551"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11 / 28</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8823325"/>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8 · TRAP 02 — ACCEPTANCE FALLACY</a:t>
            </a:r>
            <a:endParaRPr lang="en-US" sz="1800" dirty="0"/>
          </a:p>
        </p:txBody>
      </p:sp>
      <p:sp>
        <p:nvSpPr>
          <p:cNvPr id="4" name="Text 2"/>
          <p:cNvSpPr/>
          <p:nvPr/>
        </p:nvSpPr>
        <p:spPr>
          <a:xfrm>
            <a:off x="1143000" y="1462088"/>
            <a:ext cx="14716125" cy="1354773"/>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A 35% acceptance rate measures tolerance, not value.</a:t>
            </a:r>
            <a:endParaRPr lang="en-US" sz="4800" dirty="0"/>
          </a:p>
        </p:txBody>
      </p:sp>
      <p:sp>
        <p:nvSpPr>
          <p:cNvPr id="5" name="Text 3"/>
          <p:cNvSpPr/>
          <p:nvPr/>
        </p:nvSpPr>
        <p:spPr>
          <a:xfrm>
            <a:off x="1143000" y="3159760"/>
            <a:ext cx="7534656" cy="929640"/>
          </a:xfrm>
          <a:prstGeom prst="rect">
            <a:avLst/>
          </a:prstGeom>
          <a:noFill/>
          <a:ln/>
        </p:spPr>
        <p:txBody>
          <a:bodyPr wrap="square" lIns="25400" tIns="25400" rIns="25400" bIns="25400" rtlCol="0" anchor="t">
            <a:normAutofit/>
          </a:bodyPr>
          <a:lstStyle/>
          <a:p>
            <a:pPr algn="l" indent="0" marL="0">
              <a:lnSpc>
                <a:spcPct val="130000"/>
              </a:lnSpc>
              <a:buNone/>
            </a:pPr>
            <a:r>
              <a:rPr lang="en-US" sz="2700" dirty="0">
                <a:solidFill>
                  <a:srgbClr val="0A0A0A"/>
                </a:solidFill>
                <a:latin typeface="Arial" pitchFamily="34" charset="0"/>
                <a:ea typeface="Arial" pitchFamily="34" charset="-122"/>
                <a:cs typeface="Arial" pitchFamily="34" charset="-120"/>
              </a:rPr>
              <a:t>Acceptance does not tell you whether the code was:</a:t>
            </a:r>
            <a:endParaRPr lang="en-US" sz="2700" dirty="0"/>
          </a:p>
        </p:txBody>
      </p:sp>
      <p:sp>
        <p:nvSpPr>
          <p:cNvPr id="6" name="Shape 4"/>
          <p:cNvSpPr/>
          <p:nvPr/>
        </p:nvSpPr>
        <p:spPr>
          <a:xfrm>
            <a:off x="1143000" y="4279900"/>
            <a:ext cx="7315200" cy="19050"/>
          </a:xfrm>
          <a:prstGeom prst="rect">
            <a:avLst/>
          </a:prstGeom>
          <a:solidFill>
            <a:srgbClr val="0A0A0A"/>
          </a:solidFill>
          <a:ln/>
        </p:spPr>
      </p:sp>
      <p:sp>
        <p:nvSpPr>
          <p:cNvPr id="7" name="Shape 5"/>
          <p:cNvSpPr/>
          <p:nvPr/>
        </p:nvSpPr>
        <p:spPr>
          <a:xfrm>
            <a:off x="1143000" y="5089525"/>
            <a:ext cx="7315200" cy="9525"/>
          </a:xfrm>
          <a:prstGeom prst="rect">
            <a:avLst/>
          </a:prstGeom>
          <a:solidFill>
            <a:srgbClr val="D9D9D6"/>
          </a:solidFill>
          <a:ln/>
        </p:spPr>
      </p:sp>
      <p:sp>
        <p:nvSpPr>
          <p:cNvPr id="8" name="Text 6"/>
          <p:cNvSpPr/>
          <p:nvPr/>
        </p:nvSpPr>
        <p:spPr>
          <a:xfrm>
            <a:off x="1143000" y="4570412"/>
            <a:ext cx="419100"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6B6B6B"/>
                </a:solidFill>
                <a:latin typeface="Arial" pitchFamily="34" charset="0"/>
                <a:ea typeface="Arial" pitchFamily="34" charset="-122"/>
                <a:cs typeface="Arial" pitchFamily="34" charset="-120"/>
              </a:rPr>
              <a:t>01</a:t>
            </a:r>
            <a:endParaRPr lang="en-US" sz="1800" dirty="0"/>
          </a:p>
        </p:txBody>
      </p:sp>
      <p:sp>
        <p:nvSpPr>
          <p:cNvPr id="9" name="Text 7"/>
          <p:cNvSpPr/>
          <p:nvPr/>
        </p:nvSpPr>
        <p:spPr>
          <a:xfrm>
            <a:off x="1752600" y="4508500"/>
            <a:ext cx="1012825"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0A0A0A"/>
                </a:solidFill>
                <a:latin typeface="Arial" pitchFamily="34" charset="0"/>
                <a:ea typeface="Arial" pitchFamily="34" charset="-122"/>
                <a:cs typeface="Arial" pitchFamily="34" charset="-120"/>
              </a:rPr>
              <a:t>Correct</a:t>
            </a:r>
            <a:endParaRPr lang="en-US" sz="2250" dirty="0"/>
          </a:p>
        </p:txBody>
      </p:sp>
      <p:sp>
        <p:nvSpPr>
          <p:cNvPr id="10" name="Shape 8"/>
          <p:cNvSpPr/>
          <p:nvPr/>
        </p:nvSpPr>
        <p:spPr>
          <a:xfrm>
            <a:off x="1143000" y="5889625"/>
            <a:ext cx="7315200" cy="9525"/>
          </a:xfrm>
          <a:prstGeom prst="rect">
            <a:avLst/>
          </a:prstGeom>
          <a:solidFill>
            <a:srgbClr val="D9D9D6"/>
          </a:solidFill>
          <a:ln/>
        </p:spPr>
      </p:sp>
      <p:sp>
        <p:nvSpPr>
          <p:cNvPr id="11" name="Text 9"/>
          <p:cNvSpPr/>
          <p:nvPr/>
        </p:nvSpPr>
        <p:spPr>
          <a:xfrm>
            <a:off x="1143000" y="5370512"/>
            <a:ext cx="419100"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6B6B6B"/>
                </a:solidFill>
                <a:latin typeface="Arial" pitchFamily="34" charset="0"/>
                <a:ea typeface="Arial" pitchFamily="34" charset="-122"/>
                <a:cs typeface="Arial" pitchFamily="34" charset="-120"/>
              </a:rPr>
              <a:t>02</a:t>
            </a:r>
            <a:endParaRPr lang="en-US" sz="1800" dirty="0"/>
          </a:p>
        </p:txBody>
      </p:sp>
      <p:sp>
        <p:nvSpPr>
          <p:cNvPr id="12" name="Text 10"/>
          <p:cNvSpPr/>
          <p:nvPr/>
        </p:nvSpPr>
        <p:spPr>
          <a:xfrm>
            <a:off x="1752600" y="5308600"/>
            <a:ext cx="3337454"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0A0A0A"/>
                </a:solidFill>
                <a:latin typeface="Arial" pitchFamily="34" charset="0"/>
                <a:ea typeface="Arial" pitchFamily="34" charset="-122"/>
                <a:cs typeface="Arial" pitchFamily="34" charset="-120"/>
              </a:rPr>
              <a:t>Kept through code review</a:t>
            </a:r>
            <a:endParaRPr lang="en-US" sz="2250" dirty="0"/>
          </a:p>
        </p:txBody>
      </p:sp>
      <p:sp>
        <p:nvSpPr>
          <p:cNvPr id="13" name="Shape 11"/>
          <p:cNvSpPr/>
          <p:nvPr/>
        </p:nvSpPr>
        <p:spPr>
          <a:xfrm>
            <a:off x="1143000" y="7061200"/>
            <a:ext cx="7315200" cy="9525"/>
          </a:xfrm>
          <a:prstGeom prst="rect">
            <a:avLst/>
          </a:prstGeom>
          <a:solidFill>
            <a:srgbClr val="D9D9D6"/>
          </a:solidFill>
          <a:ln/>
        </p:spPr>
      </p:sp>
      <p:sp>
        <p:nvSpPr>
          <p:cNvPr id="14" name="Text 12"/>
          <p:cNvSpPr/>
          <p:nvPr/>
        </p:nvSpPr>
        <p:spPr>
          <a:xfrm>
            <a:off x="1143000" y="6170612"/>
            <a:ext cx="419100"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6B6B6B"/>
                </a:solidFill>
                <a:latin typeface="Arial" pitchFamily="34" charset="0"/>
                <a:ea typeface="Arial" pitchFamily="34" charset="-122"/>
                <a:cs typeface="Arial" pitchFamily="34" charset="-120"/>
              </a:rPr>
              <a:t>03</a:t>
            </a:r>
            <a:endParaRPr lang="en-US" sz="1800" dirty="0"/>
          </a:p>
        </p:txBody>
      </p:sp>
      <p:sp>
        <p:nvSpPr>
          <p:cNvPr id="15" name="Text 13"/>
          <p:cNvSpPr/>
          <p:nvPr/>
        </p:nvSpPr>
        <p:spPr>
          <a:xfrm>
            <a:off x="1752600" y="6108700"/>
            <a:ext cx="6906768" cy="781050"/>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0A0A0A"/>
                </a:solidFill>
                <a:latin typeface="Arial" pitchFamily="34" charset="0"/>
                <a:ea typeface="Arial" pitchFamily="34" charset="-122"/>
                <a:cs typeface="Arial" pitchFamily="34" charset="-120"/>
              </a:rPr>
              <a:t>Functionally different from what the developer would have written</a:t>
            </a:r>
            <a:endParaRPr lang="en-US" sz="2250" dirty="0"/>
          </a:p>
        </p:txBody>
      </p:sp>
      <p:sp>
        <p:nvSpPr>
          <p:cNvPr id="16" name="Shape 14"/>
          <p:cNvSpPr/>
          <p:nvPr/>
        </p:nvSpPr>
        <p:spPr>
          <a:xfrm>
            <a:off x="1143000" y="7861300"/>
            <a:ext cx="7315200" cy="9525"/>
          </a:xfrm>
          <a:prstGeom prst="rect">
            <a:avLst/>
          </a:prstGeom>
          <a:solidFill>
            <a:srgbClr val="D9D9D6"/>
          </a:solidFill>
          <a:ln/>
        </p:spPr>
      </p:sp>
      <p:sp>
        <p:nvSpPr>
          <p:cNvPr id="17" name="Text 15"/>
          <p:cNvSpPr/>
          <p:nvPr/>
        </p:nvSpPr>
        <p:spPr>
          <a:xfrm>
            <a:off x="1143000" y="7342187"/>
            <a:ext cx="419100" cy="319088"/>
          </a:xfrm>
          <a:prstGeom prst="rect">
            <a:avLst/>
          </a:prstGeom>
          <a:noFill/>
          <a:ln/>
        </p:spPr>
        <p:txBody>
          <a:bodyPr wrap="square" lIns="25400" tIns="25400" rIns="25400" bIns="25400" rtlCol="0" anchor="t">
            <a:normAutofit/>
          </a:bodyPr>
          <a:lstStyle/>
          <a:p>
            <a:pPr algn="l" indent="0" marL="0">
              <a:buNone/>
            </a:pPr>
            <a:r>
              <a:rPr lang="en-US" sz="1800" b="1" dirty="0">
                <a:solidFill>
                  <a:srgbClr val="6B6B6B"/>
                </a:solidFill>
                <a:latin typeface="Arial" pitchFamily="34" charset="0"/>
                <a:ea typeface="Arial" pitchFamily="34" charset="-122"/>
                <a:cs typeface="Arial" pitchFamily="34" charset="-120"/>
              </a:rPr>
              <a:t>04</a:t>
            </a:r>
            <a:endParaRPr lang="en-US" sz="1800" dirty="0"/>
          </a:p>
        </p:txBody>
      </p:sp>
      <p:sp>
        <p:nvSpPr>
          <p:cNvPr id="18" name="Text 16"/>
          <p:cNvSpPr/>
          <p:nvPr/>
        </p:nvSpPr>
        <p:spPr>
          <a:xfrm>
            <a:off x="1752600" y="7280275"/>
            <a:ext cx="4531749" cy="409575"/>
          </a:xfrm>
          <a:prstGeom prst="rect">
            <a:avLst/>
          </a:prstGeom>
          <a:noFill/>
          <a:ln/>
        </p:spPr>
        <p:txBody>
          <a:bodyPr wrap="square" lIns="25400" tIns="25400" rIns="25400" bIns="25400" rtlCol="0" anchor="t">
            <a:normAutofit/>
          </a:bodyPr>
          <a:lstStyle/>
          <a:p>
            <a:pPr algn="l" indent="0" marL="0">
              <a:lnSpc>
                <a:spcPct val="130000"/>
              </a:lnSpc>
              <a:buNone/>
            </a:pPr>
            <a:r>
              <a:rPr lang="en-US" sz="2250" dirty="0">
                <a:solidFill>
                  <a:srgbClr val="0A0A0A"/>
                </a:solidFill>
                <a:latin typeface="Arial" pitchFamily="34" charset="0"/>
                <a:ea typeface="Arial" pitchFamily="34" charset="-122"/>
                <a:cs typeface="Arial" pitchFamily="34" charset="-120"/>
              </a:rPr>
              <a:t>Running in production a week later</a:t>
            </a:r>
            <a:endParaRPr lang="en-US" sz="2250" dirty="0"/>
          </a:p>
        </p:txBody>
      </p:sp>
      <p:sp>
        <p:nvSpPr>
          <p:cNvPr id="19" name="Shape 17"/>
          <p:cNvSpPr/>
          <p:nvPr/>
        </p:nvSpPr>
        <p:spPr>
          <a:xfrm>
            <a:off x="9448800" y="3159760"/>
            <a:ext cx="7696200" cy="4711065"/>
          </a:xfrm>
          <a:prstGeom prst="rect">
            <a:avLst/>
          </a:prstGeom>
          <a:solidFill>
            <a:srgbClr val="F2F2EF"/>
          </a:solidFill>
          <a:ln/>
        </p:spPr>
      </p:sp>
      <p:sp>
        <p:nvSpPr>
          <p:cNvPr id="20" name="Shape 18"/>
          <p:cNvSpPr/>
          <p:nvPr/>
        </p:nvSpPr>
        <p:spPr>
          <a:xfrm>
            <a:off x="9448800" y="3159760"/>
            <a:ext cx="38100" cy="4711065"/>
          </a:xfrm>
          <a:prstGeom prst="rect">
            <a:avLst/>
          </a:prstGeom>
          <a:solidFill>
            <a:srgbClr val="001E5C"/>
          </a:solidFill>
          <a:ln/>
        </p:spPr>
      </p:sp>
      <p:sp>
        <p:nvSpPr>
          <p:cNvPr id="21" name="Text 19"/>
          <p:cNvSpPr/>
          <p:nvPr/>
        </p:nvSpPr>
        <p:spPr>
          <a:xfrm>
            <a:off x="10020300" y="3993674"/>
            <a:ext cx="6789039"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RECOMMENDATION</a:t>
            </a:r>
            <a:endParaRPr lang="en-US" sz="1800" dirty="0"/>
          </a:p>
        </p:txBody>
      </p:sp>
      <p:sp>
        <p:nvSpPr>
          <p:cNvPr id="22" name="Text 20"/>
          <p:cNvSpPr/>
          <p:nvPr/>
        </p:nvSpPr>
        <p:spPr>
          <a:xfrm>
            <a:off x="10020300" y="4503261"/>
            <a:ext cx="6789039" cy="1264920"/>
          </a:xfrm>
          <a:prstGeom prst="rect">
            <a:avLst/>
          </a:prstGeom>
          <a:noFill/>
          <a:ln/>
        </p:spPr>
        <p:txBody>
          <a:bodyPr wrap="square" lIns="25400" tIns="25400" rIns="25400" bIns="25400" rtlCol="0" anchor="t">
            <a:normAutofit/>
          </a:bodyPr>
          <a:lstStyle/>
          <a:p>
            <a:pPr algn="l" indent="0" marL="0">
              <a:lnSpc>
                <a:spcPct val="115000"/>
              </a:lnSpc>
              <a:buNone/>
            </a:pPr>
            <a:r>
              <a:rPr lang="en-US" sz="4200" b="1" spc="-63" kern="0" dirty="0">
                <a:solidFill>
                  <a:srgbClr val="0A0A0A"/>
                </a:solidFill>
                <a:latin typeface="Arial" pitchFamily="34" charset="0"/>
                <a:ea typeface="Arial" pitchFamily="34" charset="-122"/>
                <a:cs typeface="Arial" pitchFamily="34" charset="-120"/>
              </a:rPr>
              <a:t>Track persistence, not acceptance.</a:t>
            </a:r>
            <a:endParaRPr lang="en-US" sz="4200" dirty="0"/>
          </a:p>
        </p:txBody>
      </p:sp>
      <p:sp>
        <p:nvSpPr>
          <p:cNvPr id="23" name="Text 21"/>
          <p:cNvSpPr/>
          <p:nvPr/>
        </p:nvSpPr>
        <p:spPr>
          <a:xfrm>
            <a:off x="10020300" y="5996781"/>
            <a:ext cx="6789039"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The share of AI-suggested code unchanged in the repo after 30 days correlates with value delivered. Acceptance does not.</a:t>
            </a:r>
            <a:endParaRPr lang="en-US" sz="1950" dirty="0"/>
          </a:p>
        </p:txBody>
      </p:sp>
      <p:sp>
        <p:nvSpPr>
          <p:cNvPr id="24" name="Shape 22"/>
          <p:cNvSpPr/>
          <p:nvPr/>
        </p:nvSpPr>
        <p:spPr>
          <a:xfrm>
            <a:off x="1143000" y="7980362"/>
            <a:ext cx="16002000" cy="9525"/>
          </a:xfrm>
          <a:prstGeom prst="rect">
            <a:avLst/>
          </a:prstGeom>
          <a:solidFill>
            <a:srgbClr val="D9D9D6"/>
          </a:solidFill>
          <a:ln/>
        </p:spPr>
      </p:sp>
      <p:sp>
        <p:nvSpPr>
          <p:cNvPr id="25" name="Text 23"/>
          <p:cNvSpPr/>
          <p:nvPr/>
        </p:nvSpPr>
        <p:spPr>
          <a:xfrm>
            <a:off x="1143000" y="8161337"/>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26" name="Text 24"/>
          <p:cNvSpPr/>
          <p:nvPr/>
        </p:nvSpPr>
        <p:spPr>
          <a:xfrm>
            <a:off x="8841740" y="8161337"/>
            <a:ext cx="260778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 · METRICS</a:t>
            </a:r>
            <a:endParaRPr lang="en-US" sz="1800" dirty="0"/>
          </a:p>
        </p:txBody>
      </p:sp>
      <p:sp>
        <p:nvSpPr>
          <p:cNvPr id="27" name="Text 25"/>
          <p:cNvSpPr/>
          <p:nvPr/>
        </p:nvSpPr>
        <p:spPr>
          <a:xfrm>
            <a:off x="16193770" y="8161337"/>
            <a:ext cx="1027430"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12 / 28</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7161848"/>
          </a:xfrm>
          <a:prstGeom prst="rect">
            <a:avLst/>
          </a:prstGeom>
          <a:solidFill>
            <a:srgbClr val="FAFAF7"/>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9 · TRAP 03 — GOODHART'S CURSE</a:t>
            </a:r>
            <a:endParaRPr lang="en-US" sz="1800" dirty="0"/>
          </a:p>
        </p:txBody>
      </p:sp>
      <p:sp>
        <p:nvSpPr>
          <p:cNvPr id="4" name="Text 2"/>
          <p:cNvSpPr/>
          <p:nvPr/>
        </p:nvSpPr>
        <p:spPr>
          <a:xfrm>
            <a:off x="1143000" y="1766888"/>
            <a:ext cx="14716125"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GOODHART'S LAW, 1975</a:t>
            </a:r>
            <a:endParaRPr lang="en-US" sz="1800" dirty="0"/>
          </a:p>
        </p:txBody>
      </p:sp>
      <p:sp>
        <p:nvSpPr>
          <p:cNvPr id="5" name="Text 3"/>
          <p:cNvSpPr/>
          <p:nvPr/>
        </p:nvSpPr>
        <p:spPr>
          <a:xfrm>
            <a:off x="1143000" y="2276475"/>
            <a:ext cx="14716125" cy="1965960"/>
          </a:xfrm>
          <a:prstGeom prst="rect">
            <a:avLst/>
          </a:prstGeom>
          <a:noFill/>
          <a:ln/>
        </p:spPr>
        <p:txBody>
          <a:bodyPr wrap="square" lIns="25400" tIns="25400" rIns="25400" bIns="25400" rtlCol="0" anchor="t">
            <a:normAutofit/>
          </a:bodyPr>
          <a:lstStyle/>
          <a:p>
            <a:pPr algn="l" indent="0" marL="0">
              <a:lnSpc>
                <a:spcPct val="115000"/>
              </a:lnSpc>
              <a:buNone/>
            </a:pPr>
            <a:r>
              <a:rPr lang="en-US" sz="6600" spc="-99" kern="0" dirty="0">
                <a:solidFill>
                  <a:srgbClr val="0A0A0A"/>
                </a:solidFill>
                <a:latin typeface="Arial" pitchFamily="34" charset="0"/>
                <a:ea typeface="Arial" pitchFamily="34" charset="-122"/>
                <a:cs typeface="Arial" pitchFamily="34" charset="-120"/>
              </a:rPr>
              <a:t>"When a measure becomes a target, it ceases to be a good measure."</a:t>
            </a:r>
            <a:endParaRPr lang="en-US" sz="6600" dirty="0"/>
          </a:p>
        </p:txBody>
      </p:sp>
      <p:sp>
        <p:nvSpPr>
          <p:cNvPr id="6" name="Shape 4"/>
          <p:cNvSpPr/>
          <p:nvPr/>
        </p:nvSpPr>
        <p:spPr>
          <a:xfrm>
            <a:off x="1143000" y="4737735"/>
            <a:ext cx="16002000" cy="19050"/>
          </a:xfrm>
          <a:prstGeom prst="rect">
            <a:avLst/>
          </a:prstGeom>
          <a:solidFill>
            <a:srgbClr val="0A0A0A"/>
          </a:solidFill>
          <a:ln/>
        </p:spPr>
      </p:sp>
      <p:sp>
        <p:nvSpPr>
          <p:cNvPr id="7" name="Shape 5"/>
          <p:cNvSpPr/>
          <p:nvPr/>
        </p:nvSpPr>
        <p:spPr>
          <a:xfrm>
            <a:off x="6162675" y="4756785"/>
            <a:ext cx="9525" cy="1452563"/>
          </a:xfrm>
          <a:prstGeom prst="rect">
            <a:avLst/>
          </a:prstGeom>
          <a:solidFill>
            <a:srgbClr val="D9D9D6"/>
          </a:solidFill>
          <a:ln/>
        </p:spPr>
      </p:sp>
      <p:sp>
        <p:nvSpPr>
          <p:cNvPr id="8" name="Text 6"/>
          <p:cNvSpPr/>
          <p:nvPr/>
        </p:nvSpPr>
        <p:spPr>
          <a:xfrm>
            <a:off x="1143000" y="5023485"/>
            <a:ext cx="4856321"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INCENTIVE</a:t>
            </a:r>
            <a:endParaRPr lang="en-US" sz="1800" dirty="0"/>
          </a:p>
        </p:txBody>
      </p:sp>
      <p:sp>
        <p:nvSpPr>
          <p:cNvPr id="9" name="Text 7"/>
          <p:cNvSpPr/>
          <p:nvPr/>
        </p:nvSpPr>
        <p:spPr>
          <a:xfrm>
            <a:off x="1143000" y="5437823"/>
            <a:ext cx="4856321" cy="423863"/>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A0A0A"/>
                </a:solidFill>
                <a:latin typeface="Arial" pitchFamily="34" charset="0"/>
                <a:ea typeface="Arial" pitchFamily="34" charset="-122"/>
                <a:cs typeface="Arial" pitchFamily="34" charset="-120"/>
              </a:rPr>
              <a:t>Reward commits per week</a:t>
            </a:r>
            <a:endParaRPr lang="en-US" sz="2250" dirty="0"/>
          </a:p>
        </p:txBody>
      </p:sp>
      <p:sp>
        <p:nvSpPr>
          <p:cNvPr id="10" name="Shape 8"/>
          <p:cNvSpPr/>
          <p:nvPr/>
        </p:nvSpPr>
        <p:spPr>
          <a:xfrm>
            <a:off x="11496675" y="4756785"/>
            <a:ext cx="9525" cy="1452563"/>
          </a:xfrm>
          <a:prstGeom prst="rect">
            <a:avLst/>
          </a:prstGeom>
          <a:solidFill>
            <a:srgbClr val="D9D9D6"/>
          </a:solidFill>
          <a:ln/>
        </p:spPr>
      </p:sp>
      <p:sp>
        <p:nvSpPr>
          <p:cNvPr id="11" name="Text 9"/>
          <p:cNvSpPr/>
          <p:nvPr/>
        </p:nvSpPr>
        <p:spPr>
          <a:xfrm>
            <a:off x="6477000" y="5023485"/>
            <a:ext cx="4856321"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BEHAVIOR</a:t>
            </a:r>
            <a:endParaRPr lang="en-US" sz="1800" dirty="0"/>
          </a:p>
        </p:txBody>
      </p:sp>
      <p:sp>
        <p:nvSpPr>
          <p:cNvPr id="12" name="Text 10"/>
          <p:cNvSpPr/>
          <p:nvPr/>
        </p:nvSpPr>
        <p:spPr>
          <a:xfrm>
            <a:off x="6477000" y="5437823"/>
            <a:ext cx="4856321"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A0A0A"/>
                </a:solidFill>
                <a:latin typeface="Arial" pitchFamily="34" charset="0"/>
                <a:ea typeface="Arial" pitchFamily="34" charset="-122"/>
                <a:cs typeface="Arial" pitchFamily="34" charset="-120"/>
              </a:rPr>
              <a:t>Developers generate trivial AI commits to hit the target</a:t>
            </a:r>
            <a:endParaRPr lang="en-US" sz="2250" dirty="0"/>
          </a:p>
        </p:txBody>
      </p:sp>
      <p:sp>
        <p:nvSpPr>
          <p:cNvPr id="13" name="Text 11"/>
          <p:cNvSpPr/>
          <p:nvPr/>
        </p:nvSpPr>
        <p:spPr>
          <a:xfrm>
            <a:off x="11811000" y="5023485"/>
            <a:ext cx="5180076"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RESULT</a:t>
            </a:r>
            <a:endParaRPr lang="en-US" sz="1800" dirty="0"/>
          </a:p>
        </p:txBody>
      </p:sp>
      <p:sp>
        <p:nvSpPr>
          <p:cNvPr id="14" name="Text 12"/>
          <p:cNvSpPr/>
          <p:nvPr/>
        </p:nvSpPr>
        <p:spPr>
          <a:xfrm>
            <a:off x="11811000" y="5437823"/>
            <a:ext cx="5180076" cy="809625"/>
          </a:xfrm>
          <a:prstGeom prst="rect">
            <a:avLst/>
          </a:prstGeom>
          <a:noFill/>
          <a:ln/>
        </p:spPr>
        <p:txBody>
          <a:bodyPr wrap="square" lIns="25400" tIns="25400" rIns="25400" bIns="25400" rtlCol="0" anchor="t">
            <a:normAutofit/>
          </a:bodyPr>
          <a:lstStyle/>
          <a:p>
            <a:pPr algn="l" indent="0" marL="0">
              <a:lnSpc>
                <a:spcPct val="135000"/>
              </a:lnSpc>
              <a:buNone/>
            </a:pPr>
            <a:r>
              <a:rPr lang="en-US" sz="2250" dirty="0">
                <a:solidFill>
                  <a:srgbClr val="0A0A0A"/>
                </a:solidFill>
                <a:latin typeface="Arial" pitchFamily="34" charset="0"/>
                <a:ea typeface="Arial" pitchFamily="34" charset="-122"/>
                <a:cs typeface="Arial" pitchFamily="34" charset="-120"/>
              </a:rPr>
              <a:t>Metric rises; value falls; review load explodes</a:t>
            </a:r>
            <a:endParaRPr lang="en-US" sz="2250" dirty="0"/>
          </a:p>
        </p:txBody>
      </p:sp>
      <p:sp>
        <p:nvSpPr>
          <p:cNvPr id="15" name="Shape 13"/>
          <p:cNvSpPr/>
          <p:nvPr/>
        </p:nvSpPr>
        <p:spPr>
          <a:xfrm>
            <a:off x="1143000" y="6318885"/>
            <a:ext cx="16002000" cy="9525"/>
          </a:xfrm>
          <a:prstGeom prst="rect">
            <a:avLst/>
          </a:prstGeom>
          <a:solidFill>
            <a:srgbClr val="D9D9D6"/>
          </a:solidFill>
          <a:ln/>
        </p:spPr>
      </p:sp>
      <p:sp>
        <p:nvSpPr>
          <p:cNvPr id="16" name="Text 14"/>
          <p:cNvSpPr/>
          <p:nvPr/>
        </p:nvSpPr>
        <p:spPr>
          <a:xfrm>
            <a:off x="1143000" y="6499860"/>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17" name="Text 15"/>
          <p:cNvSpPr/>
          <p:nvPr/>
        </p:nvSpPr>
        <p:spPr>
          <a:xfrm>
            <a:off x="8840470" y="6499860"/>
            <a:ext cx="260778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 · METRICS</a:t>
            </a:r>
            <a:endParaRPr lang="en-US" sz="1800" dirty="0"/>
          </a:p>
        </p:txBody>
      </p:sp>
      <p:sp>
        <p:nvSpPr>
          <p:cNvPr id="18" name="Text 16"/>
          <p:cNvSpPr/>
          <p:nvPr/>
        </p:nvSpPr>
        <p:spPr>
          <a:xfrm>
            <a:off x="16191230" y="6499860"/>
            <a:ext cx="1029970"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13 / 28</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8866823"/>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10 · TRAP 04 — DEBT ON A LAG</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Throughput gains lead; quality costs follow.</a:t>
            </a:r>
            <a:endParaRPr lang="en-US" sz="4800" dirty="0"/>
          </a:p>
        </p:txBody>
      </p:sp>
      <p:pic>
        <p:nvPicPr>
          <p:cNvPr id="5" name="Image 0" descr="preencoded.png">    </p:cNvPr>
          <p:cNvPicPr>
            <a:picLocks noChangeAspect="1"/>
          </p:cNvPicPr>
          <p:nvPr/>
        </p:nvPicPr>
        <p:blipFill>
          <a:blip r:embed="rId1"/>
          <a:stretch>
            <a:fillRect/>
          </a:stretch>
        </p:blipFill>
        <p:spPr>
          <a:xfrm>
            <a:off x="1143000" y="2501424"/>
            <a:ext cx="16002000" cy="4762500"/>
          </a:xfrm>
          <a:prstGeom prst="rect">
            <a:avLst/>
          </a:prstGeom>
        </p:spPr>
      </p:pic>
      <p:sp>
        <p:nvSpPr>
          <p:cNvPr id="6" name="Text 3"/>
          <p:cNvSpPr/>
          <p:nvPr/>
        </p:nvSpPr>
        <p:spPr>
          <a:xfrm>
            <a:off x="1143000" y="7644924"/>
            <a:ext cx="16482060" cy="307499"/>
          </a:xfrm>
          <a:prstGeom prst="rect">
            <a:avLst/>
          </a:prstGeom>
          <a:noFill/>
          <a:ln/>
        </p:spPr>
        <p:txBody>
          <a:bodyPr wrap="square" lIns="25400" tIns="25400" rIns="25400" bIns="25400" rtlCol="0" anchor="t">
            <a:normAutofit/>
          </a:bodyPr>
          <a:lstStyle/>
          <a:p>
            <a:pPr algn="l" indent="0" marL="0">
              <a:buNone/>
            </a:pPr>
            <a:r>
              <a:rPr lang="en-US" sz="1800" i="1" dirty="0">
                <a:solidFill>
                  <a:srgbClr val="6B6B6B"/>
                </a:solidFill>
                <a:latin typeface="Arial" pitchFamily="34" charset="0"/>
                <a:ea typeface="Arial" pitchFamily="34" charset="-122"/>
                <a:cs typeface="Arial" pitchFamily="34" charset="-120"/>
              </a:rPr>
              <a:t>Illustrative. Pattern observed in multiple 2024–2025 field studies of large codebases following AI rollout.</a:t>
            </a:r>
            <a:endParaRPr lang="en-US" sz="1800" dirty="0"/>
          </a:p>
        </p:txBody>
      </p:sp>
      <p:sp>
        <p:nvSpPr>
          <p:cNvPr id="7" name="Shape 4"/>
          <p:cNvSpPr/>
          <p:nvPr/>
        </p:nvSpPr>
        <p:spPr>
          <a:xfrm>
            <a:off x="1143000" y="8023860"/>
            <a:ext cx="16002000" cy="9525"/>
          </a:xfrm>
          <a:prstGeom prst="rect">
            <a:avLst/>
          </a:prstGeom>
          <a:solidFill>
            <a:srgbClr val="D9D9D6"/>
          </a:solidFill>
          <a:ln/>
        </p:spPr>
      </p:sp>
      <p:sp>
        <p:nvSpPr>
          <p:cNvPr id="8" name="Text 5"/>
          <p:cNvSpPr/>
          <p:nvPr/>
        </p:nvSpPr>
        <p:spPr>
          <a:xfrm>
            <a:off x="1143000" y="8204835"/>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9" name="Text 6"/>
          <p:cNvSpPr/>
          <p:nvPr/>
        </p:nvSpPr>
        <p:spPr>
          <a:xfrm>
            <a:off x="8837136" y="8204835"/>
            <a:ext cx="260778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 · METRICS</a:t>
            </a:r>
            <a:endParaRPr lang="en-US" sz="1800" dirty="0"/>
          </a:p>
        </p:txBody>
      </p:sp>
      <p:sp>
        <p:nvSpPr>
          <p:cNvPr id="10" name="Text 7"/>
          <p:cNvSpPr/>
          <p:nvPr/>
        </p:nvSpPr>
        <p:spPr>
          <a:xfrm>
            <a:off x="16184562" y="8204835"/>
            <a:ext cx="1036637"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14 / 28</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5646579"/>
          </a:xfrm>
          <a:prstGeom prst="rect">
            <a:avLst/>
          </a:prstGeom>
          <a:solidFill>
            <a:srgbClr val="FFFFFF"/>
          </a:solidFill>
          <a:ln/>
        </p:spPr>
      </p:sp>
      <p:sp>
        <p:nvSpPr>
          <p:cNvPr id="3" name="Text 1"/>
          <p:cNvSpPr/>
          <p:nvPr/>
        </p:nvSpPr>
        <p:spPr>
          <a:xfrm>
            <a:off x="1143000" y="952500"/>
            <a:ext cx="2006124"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6B6B6B"/>
                </a:solidFill>
                <a:latin typeface="Arial" pitchFamily="34" charset="0"/>
                <a:ea typeface="Arial" pitchFamily="34" charset="-122"/>
                <a:cs typeface="Arial" pitchFamily="34" charset="-120"/>
              </a:rPr>
              <a:t>PART 3 OF 4</a:t>
            </a:r>
            <a:endParaRPr lang="en-US" sz="1800" dirty="0"/>
          </a:p>
        </p:txBody>
      </p:sp>
      <p:sp>
        <p:nvSpPr>
          <p:cNvPr id="4" name="Shape 2"/>
          <p:cNvSpPr/>
          <p:nvPr/>
        </p:nvSpPr>
        <p:spPr>
          <a:xfrm>
            <a:off x="3377724" y="1166813"/>
            <a:ext cx="11298714" cy="9525"/>
          </a:xfrm>
          <a:prstGeom prst="rect">
            <a:avLst/>
          </a:prstGeom>
          <a:solidFill>
            <a:srgbClr val="D9D9D6"/>
          </a:solidFill>
          <a:ln/>
        </p:spPr>
      </p:sp>
      <p:sp>
        <p:nvSpPr>
          <p:cNvPr id="5" name="Text 3"/>
          <p:cNvSpPr/>
          <p:nvPr/>
        </p:nvSpPr>
        <p:spPr>
          <a:xfrm>
            <a:off x="14981238" y="952500"/>
            <a:ext cx="2239963"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6B6B6B"/>
                </a:solidFill>
                <a:latin typeface="Arial" pitchFamily="34" charset="0"/>
                <a:ea typeface="Arial" pitchFamily="34" charset="-122"/>
                <a:cs typeface="Arial" pitchFamily="34" charset="-120"/>
              </a:rPr>
              <a:t>FRAMEWORKS</a:t>
            </a:r>
            <a:endParaRPr lang="en-US" sz="1800" dirty="0"/>
          </a:p>
        </p:txBody>
      </p:sp>
      <p:sp>
        <p:nvSpPr>
          <p:cNvPr id="6" name="Text 4"/>
          <p:cNvSpPr/>
          <p:nvPr/>
        </p:nvSpPr>
        <p:spPr>
          <a:xfrm>
            <a:off x="1143000" y="1233488"/>
            <a:ext cx="16482060" cy="2266950"/>
          </a:xfrm>
          <a:prstGeom prst="rect">
            <a:avLst/>
          </a:prstGeom>
          <a:noFill/>
          <a:ln/>
        </p:spPr>
        <p:txBody>
          <a:bodyPr wrap="square" lIns="25400" tIns="25400" rIns="25400" bIns="25400" rtlCol="0" anchor="t">
            <a:normAutofit/>
          </a:bodyPr>
          <a:lstStyle/>
          <a:p>
            <a:pPr algn="l" indent="0" marL="0">
              <a:lnSpc>
                <a:spcPct val="90000"/>
              </a:lnSpc>
              <a:buNone/>
            </a:pPr>
            <a:r>
              <a:rPr lang="en-US" sz="19500" b="1" spc="-780" kern="0" dirty="0">
                <a:solidFill>
                  <a:srgbClr val="E6E6E2"/>
                </a:solidFill>
                <a:latin typeface="Arial" pitchFamily="34" charset="0"/>
                <a:ea typeface="Arial" pitchFamily="34" charset="-122"/>
                <a:cs typeface="Arial" pitchFamily="34" charset="-120"/>
              </a:rPr>
              <a:t>0 3</a:t>
            </a:r>
            <a:endParaRPr lang="en-US" sz="19500" dirty="0"/>
          </a:p>
        </p:txBody>
      </p:sp>
      <p:sp>
        <p:nvSpPr>
          <p:cNvPr id="7" name="Text 5"/>
          <p:cNvSpPr/>
          <p:nvPr/>
        </p:nvSpPr>
        <p:spPr>
          <a:xfrm>
            <a:off x="1143000" y="3614738"/>
            <a:ext cx="14716125" cy="1107916"/>
          </a:xfrm>
          <a:prstGeom prst="rect">
            <a:avLst/>
          </a:prstGeom>
          <a:noFill/>
          <a:ln/>
        </p:spPr>
        <p:txBody>
          <a:bodyPr wrap="square" lIns="25400" tIns="25400" rIns="25400" bIns="25400" rtlCol="0" anchor="t">
            <a:normAutofit/>
          </a:bodyPr>
          <a:lstStyle/>
          <a:p>
            <a:pPr algn="l" indent="0" marL="0">
              <a:lnSpc>
                <a:spcPct val="107997"/>
              </a:lnSpc>
              <a:buNone/>
            </a:pPr>
            <a:r>
              <a:rPr lang="en-US" sz="7800" b="1" spc="-117" kern="0" dirty="0">
                <a:solidFill>
                  <a:srgbClr val="0A0A0A"/>
                </a:solidFill>
                <a:latin typeface="Arial" pitchFamily="34" charset="0"/>
                <a:ea typeface="Arial" pitchFamily="34" charset="-122"/>
                <a:cs typeface="Arial" pitchFamily="34" charset="-120"/>
              </a:rPr>
              <a:t>Beyond DORA and SPACE.</a:t>
            </a:r>
            <a:endParaRPr lang="en-US" sz="7800" dirty="0"/>
          </a:p>
        </p:txBody>
      </p:sp>
      <p:sp>
        <p:nvSpPr>
          <p:cNvPr id="8" name="Shape 6"/>
          <p:cNvSpPr/>
          <p:nvPr/>
        </p:nvSpPr>
        <p:spPr>
          <a:xfrm>
            <a:off x="1143000" y="4684554"/>
            <a:ext cx="16002000" cy="9525"/>
          </a:xfrm>
          <a:prstGeom prst="rect">
            <a:avLst/>
          </a:prstGeom>
          <a:solidFill>
            <a:srgbClr val="D9D9D6"/>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9469438"/>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11 · THE INCUMBENTS</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Two frameworks defined the last decade.</a:t>
            </a:r>
            <a:endParaRPr lang="en-US" sz="4800" dirty="0"/>
          </a:p>
        </p:txBody>
      </p:sp>
      <p:sp>
        <p:nvSpPr>
          <p:cNvPr id="5" name="Shape 3"/>
          <p:cNvSpPr/>
          <p:nvPr/>
        </p:nvSpPr>
        <p:spPr>
          <a:xfrm>
            <a:off x="1143000" y="2577624"/>
            <a:ext cx="7810500" cy="5939314"/>
          </a:xfrm>
          <a:prstGeom prst="rect">
            <a:avLst/>
          </a:prstGeom>
          <a:solidFill>
            <a:srgbClr val="FAFAF7"/>
          </a:solidFill>
          <a:ln w="9525">
            <a:solidFill>
              <a:srgbClr val="D9D9D6"/>
            </a:solidFill>
            <a:prstDash val="solid"/>
          </a:ln>
        </p:spPr>
      </p:sp>
      <p:sp>
        <p:nvSpPr>
          <p:cNvPr id="6" name="Text 4"/>
          <p:cNvSpPr/>
          <p:nvPr/>
        </p:nvSpPr>
        <p:spPr>
          <a:xfrm>
            <a:off x="1609725" y="3044349"/>
            <a:ext cx="7083362"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DORA · 2014</a:t>
            </a:r>
            <a:endParaRPr lang="en-US" sz="1800" dirty="0"/>
          </a:p>
        </p:txBody>
      </p:sp>
      <p:sp>
        <p:nvSpPr>
          <p:cNvPr id="7" name="Text 5"/>
          <p:cNvSpPr/>
          <p:nvPr/>
        </p:nvSpPr>
        <p:spPr>
          <a:xfrm>
            <a:off x="1609725" y="3477736"/>
            <a:ext cx="7083362" cy="552450"/>
          </a:xfrm>
          <a:prstGeom prst="rect">
            <a:avLst/>
          </a:prstGeom>
          <a:noFill/>
          <a:ln/>
        </p:spPr>
        <p:txBody>
          <a:bodyPr wrap="square" lIns="25400" tIns="25400" rIns="25400" bIns="25400" rtlCol="0" anchor="t">
            <a:normAutofit/>
          </a:bodyPr>
          <a:lstStyle/>
          <a:p>
            <a:pPr algn="l" indent="0" marL="0">
              <a:buNone/>
            </a:pPr>
            <a:r>
              <a:rPr lang="en-US" sz="3300" b="1" spc="-49" kern="0" dirty="0">
                <a:solidFill>
                  <a:srgbClr val="0A0A0A"/>
                </a:solidFill>
                <a:latin typeface="Arial" pitchFamily="34" charset="0"/>
                <a:ea typeface="Arial" pitchFamily="34" charset="-122"/>
                <a:cs typeface="Arial" pitchFamily="34" charset="-120"/>
              </a:rPr>
              <a:t>Delivery performance</a:t>
            </a:r>
            <a:endParaRPr lang="en-US" sz="3300" dirty="0"/>
          </a:p>
        </p:txBody>
      </p:sp>
      <p:sp>
        <p:nvSpPr>
          <p:cNvPr id="8" name="Shape 6"/>
          <p:cNvSpPr/>
          <p:nvPr/>
        </p:nvSpPr>
        <p:spPr>
          <a:xfrm>
            <a:off x="1609725" y="4258786"/>
            <a:ext cx="6877050" cy="19050"/>
          </a:xfrm>
          <a:prstGeom prst="rect">
            <a:avLst/>
          </a:prstGeom>
          <a:solidFill>
            <a:srgbClr val="0A0A0A"/>
          </a:solidFill>
          <a:ln/>
        </p:spPr>
      </p:sp>
      <p:sp>
        <p:nvSpPr>
          <p:cNvPr id="9" name="Shape 7"/>
          <p:cNvSpPr/>
          <p:nvPr/>
        </p:nvSpPr>
        <p:spPr>
          <a:xfrm>
            <a:off x="1609725" y="4838382"/>
            <a:ext cx="6877050" cy="9525"/>
          </a:xfrm>
          <a:prstGeom prst="rect">
            <a:avLst/>
          </a:prstGeom>
          <a:solidFill>
            <a:srgbClr val="D9D9D6"/>
          </a:solidFill>
          <a:ln/>
        </p:spPr>
      </p:sp>
      <p:sp>
        <p:nvSpPr>
          <p:cNvPr id="10" name="Text 8"/>
          <p:cNvSpPr/>
          <p:nvPr/>
        </p:nvSpPr>
        <p:spPr>
          <a:xfrm>
            <a:off x="1609725" y="4411186"/>
            <a:ext cx="7083362"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Deploy frequency</a:t>
            </a:r>
            <a:endParaRPr lang="en-US" sz="1950" dirty="0"/>
          </a:p>
        </p:txBody>
      </p:sp>
      <p:sp>
        <p:nvSpPr>
          <p:cNvPr id="11" name="Shape 9"/>
          <p:cNvSpPr/>
          <p:nvPr/>
        </p:nvSpPr>
        <p:spPr>
          <a:xfrm>
            <a:off x="1609725" y="5408454"/>
            <a:ext cx="6877050" cy="9525"/>
          </a:xfrm>
          <a:prstGeom prst="rect">
            <a:avLst/>
          </a:prstGeom>
          <a:solidFill>
            <a:srgbClr val="D9D9D6"/>
          </a:solidFill>
          <a:ln/>
        </p:spPr>
      </p:sp>
      <p:sp>
        <p:nvSpPr>
          <p:cNvPr id="12" name="Text 10"/>
          <p:cNvSpPr/>
          <p:nvPr/>
        </p:nvSpPr>
        <p:spPr>
          <a:xfrm>
            <a:off x="1609725" y="4981258"/>
            <a:ext cx="7083362"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Lead time for changes</a:t>
            </a:r>
            <a:endParaRPr lang="en-US" sz="1950" dirty="0"/>
          </a:p>
        </p:txBody>
      </p:sp>
      <p:sp>
        <p:nvSpPr>
          <p:cNvPr id="13" name="Shape 11"/>
          <p:cNvSpPr/>
          <p:nvPr/>
        </p:nvSpPr>
        <p:spPr>
          <a:xfrm>
            <a:off x="1609725" y="5978525"/>
            <a:ext cx="6877050" cy="9525"/>
          </a:xfrm>
          <a:prstGeom prst="rect">
            <a:avLst/>
          </a:prstGeom>
          <a:solidFill>
            <a:srgbClr val="D9D9D6"/>
          </a:solidFill>
          <a:ln/>
        </p:spPr>
      </p:sp>
      <p:sp>
        <p:nvSpPr>
          <p:cNvPr id="14" name="Text 12"/>
          <p:cNvSpPr/>
          <p:nvPr/>
        </p:nvSpPr>
        <p:spPr>
          <a:xfrm>
            <a:off x="1609725" y="5551329"/>
            <a:ext cx="7083362"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Change fail rate</a:t>
            </a:r>
            <a:endParaRPr lang="en-US" sz="1950" dirty="0"/>
          </a:p>
        </p:txBody>
      </p:sp>
      <p:sp>
        <p:nvSpPr>
          <p:cNvPr id="15" name="Shape 13"/>
          <p:cNvSpPr/>
          <p:nvPr/>
        </p:nvSpPr>
        <p:spPr>
          <a:xfrm>
            <a:off x="1609725" y="6548596"/>
            <a:ext cx="6877050" cy="9525"/>
          </a:xfrm>
          <a:prstGeom prst="rect">
            <a:avLst/>
          </a:prstGeom>
          <a:solidFill>
            <a:srgbClr val="D9D9D6"/>
          </a:solidFill>
          <a:ln/>
        </p:spPr>
      </p:sp>
      <p:sp>
        <p:nvSpPr>
          <p:cNvPr id="16" name="Text 14"/>
          <p:cNvSpPr/>
          <p:nvPr/>
        </p:nvSpPr>
        <p:spPr>
          <a:xfrm>
            <a:off x="1609725" y="6121400"/>
            <a:ext cx="7083362"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Mean time to restore</a:t>
            </a:r>
            <a:endParaRPr lang="en-US" sz="1950" dirty="0"/>
          </a:p>
        </p:txBody>
      </p:sp>
      <p:sp>
        <p:nvSpPr>
          <p:cNvPr id="17" name="Text 15"/>
          <p:cNvSpPr/>
          <p:nvPr/>
        </p:nvSpPr>
        <p:spPr>
          <a:xfrm>
            <a:off x="1609725" y="7010083"/>
            <a:ext cx="7083362"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6B6B6B"/>
                </a:solidFill>
                <a:latin typeface="Arial" pitchFamily="34" charset="0"/>
                <a:ea typeface="Arial" pitchFamily="34" charset="-122"/>
                <a:cs typeface="Arial" pitchFamily="34" charset="-120"/>
              </a:rPr>
              <a:t>A proposed 5th metric — Mean Time to Value, idea approval to measurable business outcome — is gaining traction as AI collapses lead time. Not yet canonical.</a:t>
            </a:r>
            <a:endParaRPr lang="en-US" sz="1950" dirty="0"/>
          </a:p>
        </p:txBody>
      </p:sp>
      <p:sp>
        <p:nvSpPr>
          <p:cNvPr id="18" name="Shape 16"/>
          <p:cNvSpPr/>
          <p:nvPr/>
        </p:nvSpPr>
        <p:spPr>
          <a:xfrm>
            <a:off x="9334500" y="2577624"/>
            <a:ext cx="7810500" cy="5939314"/>
          </a:xfrm>
          <a:prstGeom prst="rect">
            <a:avLst/>
          </a:prstGeom>
          <a:solidFill>
            <a:srgbClr val="FAFAF7"/>
          </a:solidFill>
          <a:ln w="9525">
            <a:solidFill>
              <a:srgbClr val="D9D9D6"/>
            </a:solidFill>
            <a:prstDash val="solid"/>
          </a:ln>
        </p:spPr>
      </p:sp>
      <p:sp>
        <p:nvSpPr>
          <p:cNvPr id="19" name="Text 17"/>
          <p:cNvSpPr/>
          <p:nvPr/>
        </p:nvSpPr>
        <p:spPr>
          <a:xfrm>
            <a:off x="9801225" y="3044349"/>
            <a:ext cx="7083362"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SPACE · 2021</a:t>
            </a:r>
            <a:endParaRPr lang="en-US" sz="1800" dirty="0"/>
          </a:p>
        </p:txBody>
      </p:sp>
      <p:sp>
        <p:nvSpPr>
          <p:cNvPr id="20" name="Text 18"/>
          <p:cNvSpPr/>
          <p:nvPr/>
        </p:nvSpPr>
        <p:spPr>
          <a:xfrm>
            <a:off x="9801225" y="3477736"/>
            <a:ext cx="7083362" cy="552450"/>
          </a:xfrm>
          <a:prstGeom prst="rect">
            <a:avLst/>
          </a:prstGeom>
          <a:noFill/>
          <a:ln/>
        </p:spPr>
        <p:txBody>
          <a:bodyPr wrap="square" lIns="25400" tIns="25400" rIns="25400" bIns="25400" rtlCol="0" anchor="t">
            <a:normAutofit/>
          </a:bodyPr>
          <a:lstStyle/>
          <a:p>
            <a:pPr algn="l" indent="0" marL="0">
              <a:buNone/>
            </a:pPr>
            <a:r>
              <a:rPr lang="en-US" sz="3300" b="1" spc="-49" kern="0" dirty="0">
                <a:solidFill>
                  <a:srgbClr val="0A0A0A"/>
                </a:solidFill>
                <a:latin typeface="Arial" pitchFamily="34" charset="0"/>
                <a:ea typeface="Arial" pitchFamily="34" charset="-122"/>
                <a:cs typeface="Arial" pitchFamily="34" charset="-120"/>
              </a:rPr>
              <a:t>Developer productivity</a:t>
            </a:r>
            <a:endParaRPr lang="en-US" sz="3300" dirty="0"/>
          </a:p>
        </p:txBody>
      </p:sp>
      <p:sp>
        <p:nvSpPr>
          <p:cNvPr id="21" name="Shape 19"/>
          <p:cNvSpPr/>
          <p:nvPr/>
        </p:nvSpPr>
        <p:spPr>
          <a:xfrm>
            <a:off x="9801225" y="4258786"/>
            <a:ext cx="6877050" cy="19050"/>
          </a:xfrm>
          <a:prstGeom prst="rect">
            <a:avLst/>
          </a:prstGeom>
          <a:solidFill>
            <a:srgbClr val="0A0A0A"/>
          </a:solidFill>
          <a:ln/>
        </p:spPr>
      </p:sp>
      <p:sp>
        <p:nvSpPr>
          <p:cNvPr id="22" name="Shape 20"/>
          <p:cNvSpPr/>
          <p:nvPr/>
        </p:nvSpPr>
        <p:spPr>
          <a:xfrm>
            <a:off x="9801225" y="4838382"/>
            <a:ext cx="6877050" cy="9525"/>
          </a:xfrm>
          <a:prstGeom prst="rect">
            <a:avLst/>
          </a:prstGeom>
          <a:solidFill>
            <a:srgbClr val="D9D9D6"/>
          </a:solidFill>
          <a:ln/>
        </p:spPr>
      </p:sp>
      <p:sp>
        <p:nvSpPr>
          <p:cNvPr id="23" name="Text 21"/>
          <p:cNvSpPr/>
          <p:nvPr/>
        </p:nvSpPr>
        <p:spPr>
          <a:xfrm>
            <a:off x="9801225" y="4411186"/>
            <a:ext cx="7083362"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Satisfaction &amp; well-being</a:t>
            </a:r>
            <a:endParaRPr lang="en-US" sz="1950" dirty="0"/>
          </a:p>
        </p:txBody>
      </p:sp>
      <p:sp>
        <p:nvSpPr>
          <p:cNvPr id="24" name="Shape 22"/>
          <p:cNvSpPr/>
          <p:nvPr/>
        </p:nvSpPr>
        <p:spPr>
          <a:xfrm>
            <a:off x="9801225" y="5408454"/>
            <a:ext cx="6877050" cy="9525"/>
          </a:xfrm>
          <a:prstGeom prst="rect">
            <a:avLst/>
          </a:prstGeom>
          <a:solidFill>
            <a:srgbClr val="D9D9D6"/>
          </a:solidFill>
          <a:ln/>
        </p:spPr>
      </p:sp>
      <p:sp>
        <p:nvSpPr>
          <p:cNvPr id="25" name="Text 23"/>
          <p:cNvSpPr/>
          <p:nvPr/>
        </p:nvSpPr>
        <p:spPr>
          <a:xfrm>
            <a:off x="9801225" y="4981258"/>
            <a:ext cx="7083362"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Performance</a:t>
            </a:r>
            <a:endParaRPr lang="en-US" sz="1950" dirty="0"/>
          </a:p>
        </p:txBody>
      </p:sp>
      <p:sp>
        <p:nvSpPr>
          <p:cNvPr id="26" name="Shape 24"/>
          <p:cNvSpPr/>
          <p:nvPr/>
        </p:nvSpPr>
        <p:spPr>
          <a:xfrm>
            <a:off x="9801225" y="5978525"/>
            <a:ext cx="6877050" cy="9525"/>
          </a:xfrm>
          <a:prstGeom prst="rect">
            <a:avLst/>
          </a:prstGeom>
          <a:solidFill>
            <a:srgbClr val="D9D9D6"/>
          </a:solidFill>
          <a:ln/>
        </p:spPr>
      </p:sp>
      <p:sp>
        <p:nvSpPr>
          <p:cNvPr id="27" name="Text 25"/>
          <p:cNvSpPr/>
          <p:nvPr/>
        </p:nvSpPr>
        <p:spPr>
          <a:xfrm>
            <a:off x="9801225" y="5551329"/>
            <a:ext cx="7083362"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Activity</a:t>
            </a:r>
            <a:endParaRPr lang="en-US" sz="1950" dirty="0"/>
          </a:p>
        </p:txBody>
      </p:sp>
      <p:sp>
        <p:nvSpPr>
          <p:cNvPr id="28" name="Shape 26"/>
          <p:cNvSpPr/>
          <p:nvPr/>
        </p:nvSpPr>
        <p:spPr>
          <a:xfrm>
            <a:off x="9801225" y="6548596"/>
            <a:ext cx="6877050" cy="9525"/>
          </a:xfrm>
          <a:prstGeom prst="rect">
            <a:avLst/>
          </a:prstGeom>
          <a:solidFill>
            <a:srgbClr val="D9D9D6"/>
          </a:solidFill>
          <a:ln/>
        </p:spPr>
      </p:sp>
      <p:sp>
        <p:nvSpPr>
          <p:cNvPr id="29" name="Text 27"/>
          <p:cNvSpPr/>
          <p:nvPr/>
        </p:nvSpPr>
        <p:spPr>
          <a:xfrm>
            <a:off x="9801225" y="6121400"/>
            <a:ext cx="7083362"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Communication</a:t>
            </a:r>
            <a:endParaRPr lang="en-US" sz="1950" dirty="0"/>
          </a:p>
        </p:txBody>
      </p:sp>
      <p:sp>
        <p:nvSpPr>
          <p:cNvPr id="30" name="Shape 28"/>
          <p:cNvSpPr/>
          <p:nvPr/>
        </p:nvSpPr>
        <p:spPr>
          <a:xfrm>
            <a:off x="9801225" y="7118668"/>
            <a:ext cx="6877050" cy="9525"/>
          </a:xfrm>
          <a:prstGeom prst="rect">
            <a:avLst/>
          </a:prstGeom>
          <a:solidFill>
            <a:srgbClr val="D9D9D6"/>
          </a:solidFill>
          <a:ln/>
        </p:spPr>
      </p:sp>
      <p:sp>
        <p:nvSpPr>
          <p:cNvPr id="31" name="Text 29"/>
          <p:cNvSpPr/>
          <p:nvPr/>
        </p:nvSpPr>
        <p:spPr>
          <a:xfrm>
            <a:off x="9801225" y="6691471"/>
            <a:ext cx="7083362"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Efficiency &amp; flow</a:t>
            </a:r>
            <a:endParaRPr lang="en-US" sz="1950" dirty="0"/>
          </a:p>
        </p:txBody>
      </p:sp>
      <p:sp>
        <p:nvSpPr>
          <p:cNvPr id="32" name="Text 30"/>
          <p:cNvSpPr/>
          <p:nvPr/>
        </p:nvSpPr>
        <p:spPr>
          <a:xfrm>
            <a:off x="9801225" y="7356793"/>
            <a:ext cx="7083362"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6B6B6B"/>
                </a:solidFill>
                <a:latin typeface="Arial" pitchFamily="34" charset="0"/>
                <a:ea typeface="Arial" pitchFamily="34" charset="-122"/>
                <a:cs typeface="Arial" pitchFamily="34" charset="-120"/>
              </a:rPr>
              <a:t>Captured: the human side. Missed: the economic side and the AI dimension.</a:t>
            </a:r>
            <a:endParaRPr lang="en-US" sz="1950" dirty="0"/>
          </a:p>
        </p:txBody>
      </p:sp>
      <p:sp>
        <p:nvSpPr>
          <p:cNvPr id="33" name="Shape 31"/>
          <p:cNvSpPr/>
          <p:nvPr/>
        </p:nvSpPr>
        <p:spPr>
          <a:xfrm>
            <a:off x="1143000" y="8626475"/>
            <a:ext cx="16002000" cy="9525"/>
          </a:xfrm>
          <a:prstGeom prst="rect">
            <a:avLst/>
          </a:prstGeom>
          <a:solidFill>
            <a:srgbClr val="D9D9D6"/>
          </a:solidFill>
          <a:ln/>
        </p:spPr>
      </p:sp>
      <p:sp>
        <p:nvSpPr>
          <p:cNvPr id="34" name="Text 32"/>
          <p:cNvSpPr/>
          <p:nvPr/>
        </p:nvSpPr>
        <p:spPr>
          <a:xfrm>
            <a:off x="1143000" y="8807450"/>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35" name="Text 33"/>
          <p:cNvSpPr/>
          <p:nvPr/>
        </p:nvSpPr>
        <p:spPr>
          <a:xfrm>
            <a:off x="8433118" y="8807450"/>
            <a:ext cx="3445862"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III · FRAMEWORKS</a:t>
            </a:r>
            <a:endParaRPr lang="en-US" sz="1800" dirty="0"/>
          </a:p>
        </p:txBody>
      </p:sp>
      <p:sp>
        <p:nvSpPr>
          <p:cNvPr id="36" name="Text 34"/>
          <p:cNvSpPr/>
          <p:nvPr/>
        </p:nvSpPr>
        <p:spPr>
          <a:xfrm>
            <a:off x="16190595" y="8807450"/>
            <a:ext cx="103060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16 / 28</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7269321"/>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12 · THE GAP</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What DORA and SPACE miss in the AI era.</a:t>
            </a:r>
            <a:endParaRPr lang="en-US" sz="4800" dirty="0"/>
          </a:p>
        </p:txBody>
      </p:sp>
      <p:sp>
        <p:nvSpPr>
          <p:cNvPr id="5" name="Shape 3"/>
          <p:cNvSpPr/>
          <p:nvPr/>
        </p:nvSpPr>
        <p:spPr>
          <a:xfrm>
            <a:off x="1143000" y="2577624"/>
            <a:ext cx="7772400" cy="9525"/>
          </a:xfrm>
          <a:prstGeom prst="rect">
            <a:avLst/>
          </a:prstGeom>
          <a:solidFill>
            <a:srgbClr val="D9D9D6"/>
          </a:solidFill>
          <a:ln/>
        </p:spPr>
      </p:sp>
      <p:sp>
        <p:nvSpPr>
          <p:cNvPr id="6" name="Text 4"/>
          <p:cNvSpPr/>
          <p:nvPr/>
        </p:nvSpPr>
        <p:spPr>
          <a:xfrm>
            <a:off x="1143000" y="2815749"/>
            <a:ext cx="647700" cy="144097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0 1</a:t>
            </a:r>
            <a:endParaRPr lang="en-US" sz="2100" dirty="0"/>
          </a:p>
        </p:txBody>
      </p:sp>
      <p:sp>
        <p:nvSpPr>
          <p:cNvPr id="7" name="Text 5"/>
          <p:cNvSpPr/>
          <p:nvPr/>
        </p:nvSpPr>
        <p:spPr>
          <a:xfrm>
            <a:off x="2057400" y="2815749"/>
            <a:ext cx="7063740"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AI leverage</a:t>
            </a:r>
            <a:endParaRPr lang="en-US" sz="3300" dirty="0"/>
          </a:p>
        </p:txBody>
      </p:sp>
      <p:sp>
        <p:nvSpPr>
          <p:cNvPr id="8" name="Text 6"/>
          <p:cNvSpPr/>
          <p:nvPr/>
        </p:nvSpPr>
        <p:spPr>
          <a:xfrm>
            <a:off x="2057400" y="3418522"/>
            <a:ext cx="706374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How much of the improvement is tool-driven versus team-driven? Neither framework has a handle.</a:t>
            </a:r>
            <a:endParaRPr lang="en-US" sz="2250" dirty="0"/>
          </a:p>
        </p:txBody>
      </p:sp>
      <p:sp>
        <p:nvSpPr>
          <p:cNvPr id="9" name="Shape 7"/>
          <p:cNvSpPr/>
          <p:nvPr/>
        </p:nvSpPr>
        <p:spPr>
          <a:xfrm>
            <a:off x="9372600" y="2577624"/>
            <a:ext cx="7772400" cy="9525"/>
          </a:xfrm>
          <a:prstGeom prst="rect">
            <a:avLst/>
          </a:prstGeom>
          <a:solidFill>
            <a:srgbClr val="D9D9D6"/>
          </a:solidFill>
          <a:ln/>
        </p:spPr>
      </p:sp>
      <p:sp>
        <p:nvSpPr>
          <p:cNvPr id="10" name="Text 8"/>
          <p:cNvSpPr/>
          <p:nvPr/>
        </p:nvSpPr>
        <p:spPr>
          <a:xfrm>
            <a:off x="9372600" y="2815749"/>
            <a:ext cx="647700" cy="144097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0 2</a:t>
            </a:r>
            <a:endParaRPr lang="en-US" sz="2100" dirty="0"/>
          </a:p>
        </p:txBody>
      </p:sp>
      <p:sp>
        <p:nvSpPr>
          <p:cNvPr id="11" name="Text 9"/>
          <p:cNvSpPr/>
          <p:nvPr/>
        </p:nvSpPr>
        <p:spPr>
          <a:xfrm>
            <a:off x="10287000" y="2815749"/>
            <a:ext cx="7063740"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Economic value</a:t>
            </a:r>
            <a:endParaRPr lang="en-US" sz="3300" dirty="0"/>
          </a:p>
        </p:txBody>
      </p:sp>
      <p:sp>
        <p:nvSpPr>
          <p:cNvPr id="12" name="Text 10"/>
          <p:cNvSpPr/>
          <p:nvPr/>
        </p:nvSpPr>
        <p:spPr>
          <a:xfrm>
            <a:off x="10287000" y="3418522"/>
            <a:ext cx="706374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Neither maps to revenue, margin, or cost avoided. Leaders must translate twice.</a:t>
            </a:r>
            <a:endParaRPr lang="en-US" sz="2250" dirty="0"/>
          </a:p>
        </p:txBody>
      </p:sp>
      <p:sp>
        <p:nvSpPr>
          <p:cNvPr id="13" name="Shape 11"/>
          <p:cNvSpPr/>
          <p:nvPr/>
        </p:nvSpPr>
        <p:spPr>
          <a:xfrm>
            <a:off x="1143000" y="4675822"/>
            <a:ext cx="7772400" cy="9525"/>
          </a:xfrm>
          <a:prstGeom prst="rect">
            <a:avLst/>
          </a:prstGeom>
          <a:solidFill>
            <a:srgbClr val="D9D9D6"/>
          </a:solidFill>
          <a:ln/>
        </p:spPr>
      </p:sp>
      <p:sp>
        <p:nvSpPr>
          <p:cNvPr id="14" name="Text 12"/>
          <p:cNvSpPr/>
          <p:nvPr/>
        </p:nvSpPr>
        <p:spPr>
          <a:xfrm>
            <a:off x="1143000" y="4913948"/>
            <a:ext cx="647700" cy="144097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0 3</a:t>
            </a:r>
            <a:endParaRPr lang="en-US" sz="2100" dirty="0"/>
          </a:p>
        </p:txBody>
      </p:sp>
      <p:sp>
        <p:nvSpPr>
          <p:cNvPr id="15" name="Text 13"/>
          <p:cNvSpPr/>
          <p:nvPr/>
        </p:nvSpPr>
        <p:spPr>
          <a:xfrm>
            <a:off x="2057400" y="4913948"/>
            <a:ext cx="7063740"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Cognitive load</a:t>
            </a:r>
            <a:endParaRPr lang="en-US" sz="3300" dirty="0"/>
          </a:p>
        </p:txBody>
      </p:sp>
      <p:sp>
        <p:nvSpPr>
          <p:cNvPr id="16" name="Text 14"/>
          <p:cNvSpPr/>
          <p:nvPr/>
        </p:nvSpPr>
        <p:spPr>
          <a:xfrm>
            <a:off x="2057400" y="5516721"/>
            <a:ext cx="706374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Review burden, onboarding time, and context-switching are rising; not captured.</a:t>
            </a:r>
            <a:endParaRPr lang="en-US" sz="2250" dirty="0"/>
          </a:p>
        </p:txBody>
      </p:sp>
      <p:sp>
        <p:nvSpPr>
          <p:cNvPr id="17" name="Shape 15"/>
          <p:cNvSpPr/>
          <p:nvPr/>
        </p:nvSpPr>
        <p:spPr>
          <a:xfrm>
            <a:off x="9372600" y="4675822"/>
            <a:ext cx="7772400" cy="9525"/>
          </a:xfrm>
          <a:prstGeom prst="rect">
            <a:avLst/>
          </a:prstGeom>
          <a:solidFill>
            <a:srgbClr val="D9D9D6"/>
          </a:solidFill>
          <a:ln/>
        </p:spPr>
      </p:sp>
      <p:sp>
        <p:nvSpPr>
          <p:cNvPr id="18" name="Text 16"/>
          <p:cNvSpPr/>
          <p:nvPr/>
        </p:nvSpPr>
        <p:spPr>
          <a:xfrm>
            <a:off x="9372600" y="4913948"/>
            <a:ext cx="647700" cy="144097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0 4</a:t>
            </a:r>
            <a:endParaRPr lang="en-US" sz="2100" dirty="0"/>
          </a:p>
        </p:txBody>
      </p:sp>
      <p:sp>
        <p:nvSpPr>
          <p:cNvPr id="19" name="Text 17"/>
          <p:cNvSpPr/>
          <p:nvPr/>
        </p:nvSpPr>
        <p:spPr>
          <a:xfrm>
            <a:off x="10287000" y="4913948"/>
            <a:ext cx="7063740"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Quality half-life</a:t>
            </a:r>
            <a:endParaRPr lang="en-US" sz="3300" dirty="0"/>
          </a:p>
        </p:txBody>
      </p:sp>
      <p:sp>
        <p:nvSpPr>
          <p:cNvPr id="20" name="Text 18"/>
          <p:cNvSpPr/>
          <p:nvPr/>
        </p:nvSpPr>
        <p:spPr>
          <a:xfrm>
            <a:off x="10287000" y="5516721"/>
            <a:ext cx="706374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AI-written code ages differently. Defect curves and refactor cost require new tracking.</a:t>
            </a:r>
            <a:endParaRPr lang="en-US" sz="2250" dirty="0"/>
          </a:p>
        </p:txBody>
      </p:sp>
      <p:sp>
        <p:nvSpPr>
          <p:cNvPr id="21" name="Shape 19"/>
          <p:cNvSpPr/>
          <p:nvPr/>
        </p:nvSpPr>
        <p:spPr>
          <a:xfrm>
            <a:off x="1143000" y="6426359"/>
            <a:ext cx="16002000" cy="9525"/>
          </a:xfrm>
          <a:prstGeom prst="rect">
            <a:avLst/>
          </a:prstGeom>
          <a:solidFill>
            <a:srgbClr val="D9D9D6"/>
          </a:solidFill>
          <a:ln/>
        </p:spPr>
      </p:sp>
      <p:sp>
        <p:nvSpPr>
          <p:cNvPr id="22" name="Text 20"/>
          <p:cNvSpPr/>
          <p:nvPr/>
        </p:nvSpPr>
        <p:spPr>
          <a:xfrm>
            <a:off x="1143000" y="6607334"/>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23" name="Text 21"/>
          <p:cNvSpPr/>
          <p:nvPr/>
        </p:nvSpPr>
        <p:spPr>
          <a:xfrm>
            <a:off x="8439785" y="6607334"/>
            <a:ext cx="3445862"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III · FRAMEWORKS</a:t>
            </a:r>
            <a:endParaRPr lang="en-US" sz="1800" dirty="0"/>
          </a:p>
        </p:txBody>
      </p:sp>
      <p:sp>
        <p:nvSpPr>
          <p:cNvPr id="24" name="Text 22"/>
          <p:cNvSpPr/>
          <p:nvPr/>
        </p:nvSpPr>
        <p:spPr>
          <a:xfrm>
            <a:off x="16203930" y="6607334"/>
            <a:ext cx="1017270"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17 / 28</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8062913"/>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13 · PROPOSED FRAMEWORK</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Three lenses for the AI-assisted organization.</a:t>
            </a:r>
            <a:endParaRPr lang="en-US" sz="4800" dirty="0"/>
          </a:p>
        </p:txBody>
      </p:sp>
      <p:sp>
        <p:nvSpPr>
          <p:cNvPr id="5" name="Shape 3"/>
          <p:cNvSpPr/>
          <p:nvPr/>
        </p:nvSpPr>
        <p:spPr>
          <a:xfrm>
            <a:off x="1143000" y="2653824"/>
            <a:ext cx="5080000" cy="19050"/>
          </a:xfrm>
          <a:prstGeom prst="rect">
            <a:avLst/>
          </a:prstGeom>
          <a:solidFill>
            <a:srgbClr val="001E5C"/>
          </a:solidFill>
          <a:ln/>
        </p:spPr>
      </p:sp>
      <p:sp>
        <p:nvSpPr>
          <p:cNvPr id="6" name="Text 4"/>
          <p:cNvSpPr/>
          <p:nvPr/>
        </p:nvSpPr>
        <p:spPr>
          <a:xfrm>
            <a:off x="1143000" y="2939574"/>
            <a:ext cx="523240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LENS 01</a:t>
            </a:r>
            <a:endParaRPr lang="en-US" sz="1800" dirty="0"/>
          </a:p>
        </p:txBody>
      </p:sp>
      <p:sp>
        <p:nvSpPr>
          <p:cNvPr id="7" name="Text 5"/>
          <p:cNvSpPr/>
          <p:nvPr/>
        </p:nvSpPr>
        <p:spPr>
          <a:xfrm>
            <a:off x="1143000" y="3411061"/>
            <a:ext cx="5232400"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35" kern="0" dirty="0">
                <a:solidFill>
                  <a:srgbClr val="0A0A0A"/>
                </a:solidFill>
                <a:latin typeface="Arial" pitchFamily="34" charset="0"/>
                <a:ea typeface="Arial" pitchFamily="34" charset="-122"/>
                <a:cs typeface="Arial" pitchFamily="34" charset="-120"/>
              </a:rPr>
              <a:t>Flow</a:t>
            </a:r>
            <a:endParaRPr lang="en-US" sz="5400" dirty="0"/>
          </a:p>
        </p:txBody>
      </p:sp>
      <p:sp>
        <p:nvSpPr>
          <p:cNvPr id="8" name="Text 6"/>
          <p:cNvSpPr/>
          <p:nvPr/>
        </p:nvSpPr>
        <p:spPr>
          <a:xfrm>
            <a:off x="1143000" y="4192111"/>
            <a:ext cx="523240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6B6B6B"/>
                </a:solidFill>
                <a:latin typeface="Arial" pitchFamily="34" charset="0"/>
                <a:ea typeface="Arial" pitchFamily="34" charset="-122"/>
                <a:cs typeface="Arial" pitchFamily="34" charset="-120"/>
              </a:rPr>
              <a:t>How the work moves</a:t>
            </a:r>
            <a:endParaRPr lang="en-US" sz="2250" dirty="0"/>
          </a:p>
        </p:txBody>
      </p:sp>
      <p:sp>
        <p:nvSpPr>
          <p:cNvPr id="9" name="Shape 7"/>
          <p:cNvSpPr/>
          <p:nvPr/>
        </p:nvSpPr>
        <p:spPr>
          <a:xfrm>
            <a:off x="1143000" y="4830128"/>
            <a:ext cx="5080000" cy="9525"/>
          </a:xfrm>
          <a:prstGeom prst="rect">
            <a:avLst/>
          </a:prstGeom>
          <a:solidFill>
            <a:srgbClr val="D9D9D6"/>
          </a:solidFill>
          <a:ln/>
        </p:spPr>
      </p:sp>
      <p:sp>
        <p:nvSpPr>
          <p:cNvPr id="10" name="Text 8"/>
          <p:cNvSpPr/>
          <p:nvPr/>
        </p:nvSpPr>
        <p:spPr>
          <a:xfrm>
            <a:off x="1143000" y="4973003"/>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Throughput with quality</a:t>
            </a:r>
            <a:endParaRPr lang="en-US" sz="1950" dirty="0"/>
          </a:p>
        </p:txBody>
      </p:sp>
      <p:sp>
        <p:nvSpPr>
          <p:cNvPr id="11" name="Shape 9"/>
          <p:cNvSpPr/>
          <p:nvPr/>
        </p:nvSpPr>
        <p:spPr>
          <a:xfrm>
            <a:off x="1143000" y="5400199"/>
            <a:ext cx="5080000" cy="9525"/>
          </a:xfrm>
          <a:prstGeom prst="rect">
            <a:avLst/>
          </a:prstGeom>
          <a:solidFill>
            <a:srgbClr val="D9D9D6"/>
          </a:solidFill>
          <a:ln/>
        </p:spPr>
      </p:sp>
      <p:sp>
        <p:nvSpPr>
          <p:cNvPr id="12" name="Text 10"/>
          <p:cNvSpPr/>
          <p:nvPr/>
        </p:nvSpPr>
        <p:spPr>
          <a:xfrm>
            <a:off x="1143000" y="5543074"/>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Rework ratio</a:t>
            </a:r>
            <a:endParaRPr lang="en-US" sz="1950" dirty="0"/>
          </a:p>
        </p:txBody>
      </p:sp>
      <p:sp>
        <p:nvSpPr>
          <p:cNvPr id="13" name="Shape 11"/>
          <p:cNvSpPr/>
          <p:nvPr/>
        </p:nvSpPr>
        <p:spPr>
          <a:xfrm>
            <a:off x="1143000" y="5970270"/>
            <a:ext cx="5080000" cy="9525"/>
          </a:xfrm>
          <a:prstGeom prst="rect">
            <a:avLst/>
          </a:prstGeom>
          <a:solidFill>
            <a:srgbClr val="D9D9D6"/>
          </a:solidFill>
          <a:ln/>
        </p:spPr>
      </p:sp>
      <p:sp>
        <p:nvSpPr>
          <p:cNvPr id="14" name="Text 12"/>
          <p:cNvSpPr/>
          <p:nvPr/>
        </p:nvSpPr>
        <p:spPr>
          <a:xfrm>
            <a:off x="1143000" y="6113145"/>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Change fail rate</a:t>
            </a:r>
            <a:endParaRPr lang="en-US" sz="1950" dirty="0"/>
          </a:p>
        </p:txBody>
      </p:sp>
      <p:sp>
        <p:nvSpPr>
          <p:cNvPr id="15" name="Shape 13"/>
          <p:cNvSpPr/>
          <p:nvPr/>
        </p:nvSpPr>
        <p:spPr>
          <a:xfrm>
            <a:off x="1143000" y="6540341"/>
            <a:ext cx="5080000" cy="9525"/>
          </a:xfrm>
          <a:prstGeom prst="rect">
            <a:avLst/>
          </a:prstGeom>
          <a:solidFill>
            <a:srgbClr val="D9D9D6"/>
          </a:solidFill>
          <a:ln/>
        </p:spPr>
      </p:sp>
      <p:sp>
        <p:nvSpPr>
          <p:cNvPr id="16" name="Text 14"/>
          <p:cNvSpPr/>
          <p:nvPr/>
        </p:nvSpPr>
        <p:spPr>
          <a:xfrm>
            <a:off x="1143000" y="6683216"/>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Defect half-life</a:t>
            </a:r>
            <a:endParaRPr lang="en-US" sz="1950" dirty="0"/>
          </a:p>
        </p:txBody>
      </p:sp>
      <p:sp>
        <p:nvSpPr>
          <p:cNvPr id="17" name="Shape 15"/>
          <p:cNvSpPr/>
          <p:nvPr/>
        </p:nvSpPr>
        <p:spPr>
          <a:xfrm>
            <a:off x="6604000" y="2653824"/>
            <a:ext cx="5080000" cy="19050"/>
          </a:xfrm>
          <a:prstGeom prst="rect">
            <a:avLst/>
          </a:prstGeom>
          <a:solidFill>
            <a:srgbClr val="001E5C"/>
          </a:solidFill>
          <a:ln/>
        </p:spPr>
      </p:sp>
      <p:sp>
        <p:nvSpPr>
          <p:cNvPr id="18" name="Text 16"/>
          <p:cNvSpPr/>
          <p:nvPr/>
        </p:nvSpPr>
        <p:spPr>
          <a:xfrm>
            <a:off x="6604000" y="2939574"/>
            <a:ext cx="523240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LENS 02</a:t>
            </a:r>
            <a:endParaRPr lang="en-US" sz="1800" dirty="0"/>
          </a:p>
        </p:txBody>
      </p:sp>
      <p:sp>
        <p:nvSpPr>
          <p:cNvPr id="19" name="Text 17"/>
          <p:cNvSpPr/>
          <p:nvPr/>
        </p:nvSpPr>
        <p:spPr>
          <a:xfrm>
            <a:off x="6604000" y="3411061"/>
            <a:ext cx="5232400"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35" kern="0" dirty="0">
                <a:solidFill>
                  <a:srgbClr val="0A0A0A"/>
                </a:solidFill>
                <a:latin typeface="Arial" pitchFamily="34" charset="0"/>
                <a:ea typeface="Arial" pitchFamily="34" charset="-122"/>
                <a:cs typeface="Arial" pitchFamily="34" charset="-120"/>
              </a:rPr>
              <a:t>Experience</a:t>
            </a:r>
            <a:endParaRPr lang="en-US" sz="5400" dirty="0"/>
          </a:p>
        </p:txBody>
      </p:sp>
      <p:sp>
        <p:nvSpPr>
          <p:cNvPr id="20" name="Text 18"/>
          <p:cNvSpPr/>
          <p:nvPr/>
        </p:nvSpPr>
        <p:spPr>
          <a:xfrm>
            <a:off x="6604000" y="4192111"/>
            <a:ext cx="523240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6B6B6B"/>
                </a:solidFill>
                <a:latin typeface="Arial" pitchFamily="34" charset="0"/>
                <a:ea typeface="Arial" pitchFamily="34" charset="-122"/>
                <a:cs typeface="Arial" pitchFamily="34" charset="-120"/>
              </a:rPr>
              <a:t>How the team feels</a:t>
            </a:r>
            <a:endParaRPr lang="en-US" sz="2250" dirty="0"/>
          </a:p>
        </p:txBody>
      </p:sp>
      <p:sp>
        <p:nvSpPr>
          <p:cNvPr id="21" name="Shape 19"/>
          <p:cNvSpPr/>
          <p:nvPr/>
        </p:nvSpPr>
        <p:spPr>
          <a:xfrm>
            <a:off x="6604000" y="4830128"/>
            <a:ext cx="5080000" cy="9525"/>
          </a:xfrm>
          <a:prstGeom prst="rect">
            <a:avLst/>
          </a:prstGeom>
          <a:solidFill>
            <a:srgbClr val="D9D9D6"/>
          </a:solidFill>
          <a:ln/>
        </p:spPr>
      </p:sp>
      <p:sp>
        <p:nvSpPr>
          <p:cNvPr id="22" name="Text 20"/>
          <p:cNvSpPr/>
          <p:nvPr/>
        </p:nvSpPr>
        <p:spPr>
          <a:xfrm>
            <a:off x="6604000" y="4973003"/>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Perceived productivity</a:t>
            </a:r>
            <a:endParaRPr lang="en-US" sz="1950" dirty="0"/>
          </a:p>
        </p:txBody>
      </p:sp>
      <p:sp>
        <p:nvSpPr>
          <p:cNvPr id="23" name="Shape 21"/>
          <p:cNvSpPr/>
          <p:nvPr/>
        </p:nvSpPr>
        <p:spPr>
          <a:xfrm>
            <a:off x="6604000" y="5400199"/>
            <a:ext cx="5080000" cy="9525"/>
          </a:xfrm>
          <a:prstGeom prst="rect">
            <a:avLst/>
          </a:prstGeom>
          <a:solidFill>
            <a:srgbClr val="D9D9D6"/>
          </a:solidFill>
          <a:ln/>
        </p:spPr>
      </p:sp>
      <p:sp>
        <p:nvSpPr>
          <p:cNvPr id="24" name="Text 22"/>
          <p:cNvSpPr/>
          <p:nvPr/>
        </p:nvSpPr>
        <p:spPr>
          <a:xfrm>
            <a:off x="6604000" y="5543074"/>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Cognitive load</a:t>
            </a:r>
            <a:endParaRPr lang="en-US" sz="1950" dirty="0"/>
          </a:p>
        </p:txBody>
      </p:sp>
      <p:sp>
        <p:nvSpPr>
          <p:cNvPr id="25" name="Shape 23"/>
          <p:cNvSpPr/>
          <p:nvPr/>
        </p:nvSpPr>
        <p:spPr>
          <a:xfrm>
            <a:off x="6604000" y="5970270"/>
            <a:ext cx="5080000" cy="9525"/>
          </a:xfrm>
          <a:prstGeom prst="rect">
            <a:avLst/>
          </a:prstGeom>
          <a:solidFill>
            <a:srgbClr val="D9D9D6"/>
          </a:solidFill>
          <a:ln/>
        </p:spPr>
      </p:sp>
      <p:sp>
        <p:nvSpPr>
          <p:cNvPr id="26" name="Text 24"/>
          <p:cNvSpPr/>
          <p:nvPr/>
        </p:nvSpPr>
        <p:spPr>
          <a:xfrm>
            <a:off x="6604000" y="6113145"/>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Onboarding time</a:t>
            </a:r>
            <a:endParaRPr lang="en-US" sz="1950" dirty="0"/>
          </a:p>
        </p:txBody>
      </p:sp>
      <p:sp>
        <p:nvSpPr>
          <p:cNvPr id="27" name="Shape 25"/>
          <p:cNvSpPr/>
          <p:nvPr/>
        </p:nvSpPr>
        <p:spPr>
          <a:xfrm>
            <a:off x="6604000" y="6540341"/>
            <a:ext cx="5080000" cy="9525"/>
          </a:xfrm>
          <a:prstGeom prst="rect">
            <a:avLst/>
          </a:prstGeom>
          <a:solidFill>
            <a:srgbClr val="D9D9D6"/>
          </a:solidFill>
          <a:ln/>
        </p:spPr>
      </p:sp>
      <p:sp>
        <p:nvSpPr>
          <p:cNvPr id="28" name="Text 26"/>
          <p:cNvSpPr/>
          <p:nvPr/>
        </p:nvSpPr>
        <p:spPr>
          <a:xfrm>
            <a:off x="6604000" y="6683216"/>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AI trust index</a:t>
            </a:r>
            <a:endParaRPr lang="en-US" sz="1950" dirty="0"/>
          </a:p>
        </p:txBody>
      </p:sp>
      <p:sp>
        <p:nvSpPr>
          <p:cNvPr id="29" name="Shape 27"/>
          <p:cNvSpPr/>
          <p:nvPr/>
        </p:nvSpPr>
        <p:spPr>
          <a:xfrm>
            <a:off x="12065000" y="2653824"/>
            <a:ext cx="5080000" cy="19050"/>
          </a:xfrm>
          <a:prstGeom prst="rect">
            <a:avLst/>
          </a:prstGeom>
          <a:solidFill>
            <a:srgbClr val="001E5C"/>
          </a:solidFill>
          <a:ln/>
        </p:spPr>
      </p:sp>
      <p:sp>
        <p:nvSpPr>
          <p:cNvPr id="30" name="Text 28"/>
          <p:cNvSpPr/>
          <p:nvPr/>
        </p:nvSpPr>
        <p:spPr>
          <a:xfrm>
            <a:off x="12065000" y="2939574"/>
            <a:ext cx="523240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LENS 03</a:t>
            </a:r>
            <a:endParaRPr lang="en-US" sz="1800" dirty="0"/>
          </a:p>
        </p:txBody>
      </p:sp>
      <p:sp>
        <p:nvSpPr>
          <p:cNvPr id="31" name="Text 29"/>
          <p:cNvSpPr/>
          <p:nvPr/>
        </p:nvSpPr>
        <p:spPr>
          <a:xfrm>
            <a:off x="12065000" y="3411061"/>
            <a:ext cx="5232400"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35" kern="0" dirty="0">
                <a:solidFill>
                  <a:srgbClr val="0A0A0A"/>
                </a:solidFill>
                <a:latin typeface="Arial" pitchFamily="34" charset="0"/>
                <a:ea typeface="Arial" pitchFamily="34" charset="-122"/>
                <a:cs typeface="Arial" pitchFamily="34" charset="-120"/>
              </a:rPr>
              <a:t>Impact</a:t>
            </a:r>
            <a:endParaRPr lang="en-US" sz="5400" dirty="0"/>
          </a:p>
        </p:txBody>
      </p:sp>
      <p:sp>
        <p:nvSpPr>
          <p:cNvPr id="32" name="Text 30"/>
          <p:cNvSpPr/>
          <p:nvPr/>
        </p:nvSpPr>
        <p:spPr>
          <a:xfrm>
            <a:off x="12065000" y="4192111"/>
            <a:ext cx="523240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6B6B6B"/>
                </a:solidFill>
                <a:latin typeface="Arial" pitchFamily="34" charset="0"/>
                <a:ea typeface="Arial" pitchFamily="34" charset="-122"/>
                <a:cs typeface="Arial" pitchFamily="34" charset="-120"/>
              </a:rPr>
              <a:t>What the business gets</a:t>
            </a:r>
            <a:endParaRPr lang="en-US" sz="2250" dirty="0"/>
          </a:p>
        </p:txBody>
      </p:sp>
      <p:sp>
        <p:nvSpPr>
          <p:cNvPr id="33" name="Shape 31"/>
          <p:cNvSpPr/>
          <p:nvPr/>
        </p:nvSpPr>
        <p:spPr>
          <a:xfrm>
            <a:off x="12065000" y="4830128"/>
            <a:ext cx="5080000" cy="9525"/>
          </a:xfrm>
          <a:prstGeom prst="rect">
            <a:avLst/>
          </a:prstGeom>
          <a:solidFill>
            <a:srgbClr val="D9D9D6"/>
          </a:solidFill>
          <a:ln/>
        </p:spPr>
      </p:sp>
      <p:sp>
        <p:nvSpPr>
          <p:cNvPr id="34" name="Text 32"/>
          <p:cNvSpPr/>
          <p:nvPr/>
        </p:nvSpPr>
        <p:spPr>
          <a:xfrm>
            <a:off x="12065000" y="4973003"/>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Value delivered per quarter</a:t>
            </a:r>
            <a:endParaRPr lang="en-US" sz="1950" dirty="0"/>
          </a:p>
        </p:txBody>
      </p:sp>
      <p:sp>
        <p:nvSpPr>
          <p:cNvPr id="35" name="Shape 33"/>
          <p:cNvSpPr/>
          <p:nvPr/>
        </p:nvSpPr>
        <p:spPr>
          <a:xfrm>
            <a:off x="12065000" y="5400199"/>
            <a:ext cx="5080000" cy="9525"/>
          </a:xfrm>
          <a:prstGeom prst="rect">
            <a:avLst/>
          </a:prstGeom>
          <a:solidFill>
            <a:srgbClr val="D9D9D6"/>
          </a:solidFill>
          <a:ln/>
        </p:spPr>
      </p:sp>
      <p:sp>
        <p:nvSpPr>
          <p:cNvPr id="36" name="Text 34"/>
          <p:cNvSpPr/>
          <p:nvPr/>
        </p:nvSpPr>
        <p:spPr>
          <a:xfrm>
            <a:off x="12065000" y="5543074"/>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Adoption &amp; retention</a:t>
            </a:r>
            <a:endParaRPr lang="en-US" sz="1950" dirty="0"/>
          </a:p>
        </p:txBody>
      </p:sp>
      <p:sp>
        <p:nvSpPr>
          <p:cNvPr id="37" name="Shape 35"/>
          <p:cNvSpPr/>
          <p:nvPr/>
        </p:nvSpPr>
        <p:spPr>
          <a:xfrm>
            <a:off x="12065000" y="5970270"/>
            <a:ext cx="5080000" cy="9525"/>
          </a:xfrm>
          <a:prstGeom prst="rect">
            <a:avLst/>
          </a:prstGeom>
          <a:solidFill>
            <a:srgbClr val="D9D9D6"/>
          </a:solidFill>
          <a:ln/>
        </p:spPr>
      </p:sp>
      <p:sp>
        <p:nvSpPr>
          <p:cNvPr id="38" name="Text 36"/>
          <p:cNvSpPr/>
          <p:nvPr/>
        </p:nvSpPr>
        <p:spPr>
          <a:xfrm>
            <a:off x="12065000" y="6113145"/>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Cost per engineer-week</a:t>
            </a:r>
            <a:endParaRPr lang="en-US" sz="1950" dirty="0"/>
          </a:p>
        </p:txBody>
      </p:sp>
      <p:sp>
        <p:nvSpPr>
          <p:cNvPr id="39" name="Shape 37"/>
          <p:cNvSpPr/>
          <p:nvPr/>
        </p:nvSpPr>
        <p:spPr>
          <a:xfrm>
            <a:off x="12065000" y="6540341"/>
            <a:ext cx="5080000" cy="9525"/>
          </a:xfrm>
          <a:prstGeom prst="rect">
            <a:avLst/>
          </a:prstGeom>
          <a:solidFill>
            <a:srgbClr val="D9D9D6"/>
          </a:solidFill>
          <a:ln/>
        </p:spPr>
      </p:sp>
      <p:sp>
        <p:nvSpPr>
          <p:cNvPr id="40" name="Text 38"/>
          <p:cNvSpPr/>
          <p:nvPr/>
        </p:nvSpPr>
        <p:spPr>
          <a:xfrm>
            <a:off x="12065000" y="6683216"/>
            <a:ext cx="523240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ROI on AI spend</a:t>
            </a:r>
            <a:endParaRPr lang="en-US" sz="1950" dirty="0"/>
          </a:p>
        </p:txBody>
      </p:sp>
      <p:sp>
        <p:nvSpPr>
          <p:cNvPr id="41" name="Shape 39"/>
          <p:cNvSpPr/>
          <p:nvPr/>
        </p:nvSpPr>
        <p:spPr>
          <a:xfrm>
            <a:off x="1143000" y="7219950"/>
            <a:ext cx="16002000" cy="9525"/>
          </a:xfrm>
          <a:prstGeom prst="rect">
            <a:avLst/>
          </a:prstGeom>
          <a:solidFill>
            <a:srgbClr val="D9D9D6"/>
          </a:solidFill>
          <a:ln/>
        </p:spPr>
      </p:sp>
      <p:sp>
        <p:nvSpPr>
          <p:cNvPr id="42" name="Text 40"/>
          <p:cNvSpPr/>
          <p:nvPr/>
        </p:nvSpPr>
        <p:spPr>
          <a:xfrm>
            <a:off x="1143000" y="7400925"/>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43" name="Text 41"/>
          <p:cNvSpPr/>
          <p:nvPr/>
        </p:nvSpPr>
        <p:spPr>
          <a:xfrm>
            <a:off x="8433276" y="7400925"/>
            <a:ext cx="3445862"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III · FRAMEWORKS</a:t>
            </a:r>
            <a:endParaRPr lang="en-US" sz="1800" dirty="0"/>
          </a:p>
        </p:txBody>
      </p:sp>
      <p:sp>
        <p:nvSpPr>
          <p:cNvPr id="44" name="Text 42"/>
          <p:cNvSpPr/>
          <p:nvPr/>
        </p:nvSpPr>
        <p:spPr>
          <a:xfrm>
            <a:off x="16190754" y="7400925"/>
            <a:ext cx="103044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18 / 28</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7604919"/>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14 · LENS 01 — FLOW</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Throughput, adjusted for quality.</a:t>
            </a:r>
            <a:endParaRPr lang="en-US" sz="4800" dirty="0"/>
          </a:p>
        </p:txBody>
      </p:sp>
      <p:sp>
        <p:nvSpPr>
          <p:cNvPr id="5" name="Text 3"/>
          <p:cNvSpPr/>
          <p:nvPr/>
        </p:nvSpPr>
        <p:spPr>
          <a:xfrm>
            <a:off x="1143000" y="2577624"/>
            <a:ext cx="7927086"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DORA's four keys remain the floor. Pair them with two AI-era additions:</a:t>
            </a:r>
            <a:endParaRPr lang="en-US" sz="2250" dirty="0"/>
          </a:p>
        </p:txBody>
      </p:sp>
      <p:sp>
        <p:nvSpPr>
          <p:cNvPr id="6" name="Shape 4"/>
          <p:cNvSpPr/>
          <p:nvPr/>
        </p:nvSpPr>
        <p:spPr>
          <a:xfrm>
            <a:off x="1143000" y="3644424"/>
            <a:ext cx="7696200" cy="9525"/>
          </a:xfrm>
          <a:prstGeom prst="rect">
            <a:avLst/>
          </a:prstGeom>
          <a:solidFill>
            <a:srgbClr val="D9D9D6"/>
          </a:solidFill>
          <a:ln/>
        </p:spPr>
      </p:sp>
      <p:sp>
        <p:nvSpPr>
          <p:cNvPr id="7" name="Text 5"/>
          <p:cNvSpPr/>
          <p:nvPr/>
        </p:nvSpPr>
        <p:spPr>
          <a:xfrm>
            <a:off x="1143000" y="3920649"/>
            <a:ext cx="7927086" cy="55245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A0A0A"/>
                </a:solidFill>
                <a:latin typeface="Arial" pitchFamily="34" charset="0"/>
                <a:ea typeface="Arial" pitchFamily="34" charset="-122"/>
                <a:cs typeface="Arial" pitchFamily="34" charset="-120"/>
              </a:rPr>
              <a:t>Rework ratio</a:t>
            </a:r>
            <a:endParaRPr lang="en-US" sz="3300" dirty="0"/>
          </a:p>
        </p:txBody>
      </p:sp>
      <p:sp>
        <p:nvSpPr>
          <p:cNvPr id="8" name="Text 6"/>
          <p:cNvSpPr/>
          <p:nvPr/>
        </p:nvSpPr>
        <p:spPr>
          <a:xfrm>
            <a:off x="1143000" y="4530249"/>
            <a:ext cx="7927086" cy="38481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Share of shipped code modified within 30 days.</a:t>
            </a:r>
            <a:endParaRPr lang="en-US" sz="1950" dirty="0"/>
          </a:p>
        </p:txBody>
      </p:sp>
      <p:sp>
        <p:nvSpPr>
          <p:cNvPr id="9" name="Shape 7"/>
          <p:cNvSpPr/>
          <p:nvPr/>
        </p:nvSpPr>
        <p:spPr>
          <a:xfrm>
            <a:off x="1143000" y="6642894"/>
            <a:ext cx="7696200" cy="9525"/>
          </a:xfrm>
          <a:prstGeom prst="rect">
            <a:avLst/>
          </a:prstGeom>
          <a:solidFill>
            <a:srgbClr val="D9D9D6"/>
          </a:solidFill>
          <a:ln/>
        </p:spPr>
      </p:sp>
      <p:sp>
        <p:nvSpPr>
          <p:cNvPr id="10" name="Shape 8"/>
          <p:cNvSpPr/>
          <p:nvPr/>
        </p:nvSpPr>
        <p:spPr>
          <a:xfrm>
            <a:off x="1143000" y="5143659"/>
            <a:ext cx="7696200" cy="9525"/>
          </a:xfrm>
          <a:prstGeom prst="rect">
            <a:avLst/>
          </a:prstGeom>
          <a:solidFill>
            <a:srgbClr val="D9D9D6"/>
          </a:solidFill>
          <a:ln/>
        </p:spPr>
      </p:sp>
      <p:sp>
        <p:nvSpPr>
          <p:cNvPr id="11" name="Text 9"/>
          <p:cNvSpPr/>
          <p:nvPr/>
        </p:nvSpPr>
        <p:spPr>
          <a:xfrm>
            <a:off x="1143000" y="5419884"/>
            <a:ext cx="7927086" cy="55245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A0A0A"/>
                </a:solidFill>
                <a:latin typeface="Arial" pitchFamily="34" charset="0"/>
                <a:ea typeface="Arial" pitchFamily="34" charset="-122"/>
                <a:cs typeface="Arial" pitchFamily="34" charset="-120"/>
              </a:rPr>
              <a:t>Defect half-life</a:t>
            </a:r>
            <a:endParaRPr lang="en-US" sz="3300" dirty="0"/>
          </a:p>
        </p:txBody>
      </p:sp>
      <p:sp>
        <p:nvSpPr>
          <p:cNvPr id="12" name="Text 10"/>
          <p:cNvSpPr/>
          <p:nvPr/>
        </p:nvSpPr>
        <p:spPr>
          <a:xfrm>
            <a:off x="1143000" y="6029484"/>
            <a:ext cx="7927086" cy="38481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Time until 50% of a cohort's bugs surface.</a:t>
            </a:r>
            <a:endParaRPr lang="en-US" sz="1950" dirty="0"/>
          </a:p>
        </p:txBody>
      </p:sp>
      <p:sp>
        <p:nvSpPr>
          <p:cNvPr id="13" name="Shape 11"/>
          <p:cNvSpPr/>
          <p:nvPr/>
        </p:nvSpPr>
        <p:spPr>
          <a:xfrm>
            <a:off x="9448800" y="2577624"/>
            <a:ext cx="7696200" cy="4074795"/>
          </a:xfrm>
          <a:prstGeom prst="rect">
            <a:avLst/>
          </a:prstGeom>
          <a:solidFill>
            <a:srgbClr val="F2F2EF"/>
          </a:solidFill>
          <a:ln/>
        </p:spPr>
      </p:sp>
      <p:sp>
        <p:nvSpPr>
          <p:cNvPr id="14" name="Text 12"/>
          <p:cNvSpPr/>
          <p:nvPr/>
        </p:nvSpPr>
        <p:spPr>
          <a:xfrm>
            <a:off x="9982200" y="3115310"/>
            <a:ext cx="6828282"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PROPOSED COMPOSITE</a:t>
            </a:r>
            <a:endParaRPr lang="en-US" sz="1800" dirty="0"/>
          </a:p>
        </p:txBody>
      </p:sp>
      <p:sp>
        <p:nvSpPr>
          <p:cNvPr id="15" name="Text 13"/>
          <p:cNvSpPr/>
          <p:nvPr/>
        </p:nvSpPr>
        <p:spPr>
          <a:xfrm>
            <a:off x="12042139" y="3662997"/>
            <a:ext cx="2585720" cy="776287"/>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A0A0A"/>
                </a:solidFill>
                <a:latin typeface="Arial" pitchFamily="34" charset="0"/>
                <a:ea typeface="Arial" pitchFamily="34" charset="-122"/>
                <a:cs typeface="Arial" pitchFamily="34" charset="-120"/>
              </a:rPr>
              <a:t>Ship rate</a:t>
            </a:r>
            <a:endParaRPr lang="en-US" sz="4800" dirty="0"/>
          </a:p>
        </p:txBody>
      </p:sp>
      <p:sp>
        <p:nvSpPr>
          <p:cNvPr id="16" name="Shape 14"/>
          <p:cNvSpPr/>
          <p:nvPr/>
        </p:nvSpPr>
        <p:spPr>
          <a:xfrm>
            <a:off x="12058650" y="4553585"/>
            <a:ext cx="2476500" cy="19050"/>
          </a:xfrm>
          <a:prstGeom prst="rect">
            <a:avLst/>
          </a:prstGeom>
          <a:solidFill>
            <a:srgbClr val="0A0A0A"/>
          </a:solidFill>
          <a:ln/>
        </p:spPr>
      </p:sp>
      <p:sp>
        <p:nvSpPr>
          <p:cNvPr id="17" name="Text 15"/>
          <p:cNvSpPr/>
          <p:nvPr/>
        </p:nvSpPr>
        <p:spPr>
          <a:xfrm>
            <a:off x="11844338" y="4725035"/>
            <a:ext cx="2992279" cy="776287"/>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A0A0A"/>
                </a:solidFill>
                <a:latin typeface="Arial" pitchFamily="34" charset="0"/>
                <a:ea typeface="Arial" pitchFamily="34" charset="-122"/>
                <a:cs typeface="Arial" pitchFamily="34" charset="-120"/>
              </a:rPr>
              <a:t>1 + rework</a:t>
            </a:r>
            <a:endParaRPr lang="en-US" sz="4800" dirty="0"/>
          </a:p>
        </p:txBody>
      </p:sp>
      <p:sp>
        <p:nvSpPr>
          <p:cNvPr id="18" name="Text 16"/>
          <p:cNvSpPr/>
          <p:nvPr/>
        </p:nvSpPr>
        <p:spPr>
          <a:xfrm>
            <a:off x="9882759" y="5768022"/>
            <a:ext cx="6828282" cy="384810"/>
          </a:xfrm>
          <a:prstGeom prst="rect">
            <a:avLst/>
          </a:prstGeom>
          <a:noFill/>
          <a:ln/>
        </p:spPr>
        <p:txBody>
          <a:bodyPr wrap="square" lIns="25400" tIns="25400" rIns="25400" bIns="25400" rtlCol="0" anchor="t">
            <a:normAutofit/>
          </a:bodyPr>
          <a:lstStyle/>
          <a:p>
            <a:pPr algn="ctr" indent="0" marL="0">
              <a:lnSpc>
                <a:spcPct val="140000"/>
              </a:lnSpc>
              <a:buNone/>
            </a:pPr>
            <a:r>
              <a:rPr lang="en-US" sz="1950" dirty="0">
                <a:solidFill>
                  <a:srgbClr val="2B2B2B"/>
                </a:solidFill>
                <a:latin typeface="Arial" pitchFamily="34" charset="0"/>
                <a:ea typeface="Arial" pitchFamily="34" charset="-122"/>
                <a:cs typeface="Arial" pitchFamily="34" charset="-120"/>
              </a:rPr>
              <a:t>A denominator that penalizes debt makes speed honest.</a:t>
            </a:r>
            <a:endParaRPr lang="en-US" sz="1950" dirty="0"/>
          </a:p>
        </p:txBody>
      </p:sp>
      <p:sp>
        <p:nvSpPr>
          <p:cNvPr id="19" name="Shape 17"/>
          <p:cNvSpPr/>
          <p:nvPr/>
        </p:nvSpPr>
        <p:spPr>
          <a:xfrm>
            <a:off x="1143000" y="6761956"/>
            <a:ext cx="16002000" cy="9525"/>
          </a:xfrm>
          <a:prstGeom prst="rect">
            <a:avLst/>
          </a:prstGeom>
          <a:solidFill>
            <a:srgbClr val="D9D9D6"/>
          </a:solidFill>
          <a:ln/>
        </p:spPr>
      </p:sp>
      <p:sp>
        <p:nvSpPr>
          <p:cNvPr id="20" name="Text 18"/>
          <p:cNvSpPr/>
          <p:nvPr/>
        </p:nvSpPr>
        <p:spPr>
          <a:xfrm>
            <a:off x="1143000" y="6942931"/>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21" name="Text 19"/>
          <p:cNvSpPr/>
          <p:nvPr/>
        </p:nvSpPr>
        <p:spPr>
          <a:xfrm>
            <a:off x="8433118" y="6942931"/>
            <a:ext cx="3445862"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III · FRAMEWORKS</a:t>
            </a:r>
            <a:endParaRPr lang="en-US" sz="1800" dirty="0"/>
          </a:p>
        </p:txBody>
      </p:sp>
      <p:sp>
        <p:nvSpPr>
          <p:cNvPr id="22" name="Text 20"/>
          <p:cNvSpPr/>
          <p:nvPr/>
        </p:nvSpPr>
        <p:spPr>
          <a:xfrm>
            <a:off x="16190595" y="6942931"/>
            <a:ext cx="103060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19 / 28</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8564087"/>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15 · LENS 02 — EXPERIENCE</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The qualitative signals dashboards miss.</a:t>
            </a:r>
            <a:endParaRPr lang="en-US" sz="4800" dirty="0"/>
          </a:p>
        </p:txBody>
      </p:sp>
      <p:sp>
        <p:nvSpPr>
          <p:cNvPr id="5" name="Shape 3"/>
          <p:cNvSpPr/>
          <p:nvPr/>
        </p:nvSpPr>
        <p:spPr>
          <a:xfrm>
            <a:off x="1143000" y="2577624"/>
            <a:ext cx="7810500" cy="5033963"/>
          </a:xfrm>
          <a:prstGeom prst="rect">
            <a:avLst/>
          </a:prstGeom>
          <a:solidFill>
            <a:srgbClr val="FAFAF7"/>
          </a:solidFill>
          <a:ln w="9525">
            <a:solidFill>
              <a:srgbClr val="D9D9D6"/>
            </a:solidFill>
            <a:prstDash val="solid"/>
          </a:ln>
        </p:spPr>
      </p:sp>
      <p:sp>
        <p:nvSpPr>
          <p:cNvPr id="6" name="Text 4"/>
          <p:cNvSpPr/>
          <p:nvPr/>
        </p:nvSpPr>
        <p:spPr>
          <a:xfrm>
            <a:off x="1609725" y="3044349"/>
            <a:ext cx="7083362"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SURVEY · QUARTERLY</a:t>
            </a:r>
            <a:endParaRPr lang="en-US" sz="1800" dirty="0"/>
          </a:p>
        </p:txBody>
      </p:sp>
      <p:sp>
        <p:nvSpPr>
          <p:cNvPr id="7" name="Text 5"/>
          <p:cNvSpPr/>
          <p:nvPr/>
        </p:nvSpPr>
        <p:spPr>
          <a:xfrm>
            <a:off x="1609725" y="3477736"/>
            <a:ext cx="7083362" cy="552450"/>
          </a:xfrm>
          <a:prstGeom prst="rect">
            <a:avLst/>
          </a:prstGeom>
          <a:noFill/>
          <a:ln/>
        </p:spPr>
        <p:txBody>
          <a:bodyPr wrap="square" lIns="25400" tIns="25400" rIns="25400" bIns="25400" rtlCol="0" anchor="t">
            <a:normAutofit/>
          </a:bodyPr>
          <a:lstStyle/>
          <a:p>
            <a:pPr algn="l" indent="0" marL="0">
              <a:buNone/>
            </a:pPr>
            <a:r>
              <a:rPr lang="en-US" sz="3300" b="1" spc="-49" kern="0" dirty="0">
                <a:solidFill>
                  <a:srgbClr val="0A0A0A"/>
                </a:solidFill>
                <a:latin typeface="Arial" pitchFamily="34" charset="0"/>
                <a:ea typeface="Arial" pitchFamily="34" charset="-122"/>
                <a:cs typeface="Arial" pitchFamily="34" charset="-120"/>
              </a:rPr>
              <a:t>Five questions, 90 seconds.</a:t>
            </a:r>
            <a:endParaRPr lang="en-US" sz="3300" dirty="0"/>
          </a:p>
        </p:txBody>
      </p:sp>
      <p:sp>
        <p:nvSpPr>
          <p:cNvPr id="8" name="Shape 6"/>
          <p:cNvSpPr/>
          <p:nvPr/>
        </p:nvSpPr>
        <p:spPr>
          <a:xfrm>
            <a:off x="1609725" y="4220686"/>
            <a:ext cx="6877050" cy="19050"/>
          </a:xfrm>
          <a:prstGeom prst="rect">
            <a:avLst/>
          </a:prstGeom>
          <a:solidFill>
            <a:srgbClr val="0A0A0A"/>
          </a:solidFill>
          <a:ln/>
        </p:spPr>
      </p:sp>
      <p:sp>
        <p:nvSpPr>
          <p:cNvPr id="9" name="Shape 7"/>
          <p:cNvSpPr/>
          <p:nvPr/>
        </p:nvSpPr>
        <p:spPr>
          <a:xfrm>
            <a:off x="1609725" y="4811236"/>
            <a:ext cx="6877050" cy="9525"/>
          </a:xfrm>
          <a:prstGeom prst="rect">
            <a:avLst/>
          </a:prstGeom>
          <a:solidFill>
            <a:srgbClr val="D9D9D6"/>
          </a:solidFill>
          <a:ln/>
        </p:spPr>
      </p:sp>
      <p:sp>
        <p:nvSpPr>
          <p:cNvPr id="10" name="Text 8"/>
          <p:cNvSpPr/>
          <p:nvPr/>
        </p:nvSpPr>
        <p:spPr>
          <a:xfrm>
            <a:off x="1609725" y="4373086"/>
            <a:ext cx="4191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6B6B6B"/>
                </a:solidFill>
                <a:latin typeface="Arial" pitchFamily="34" charset="0"/>
                <a:ea typeface="Arial" pitchFamily="34" charset="-122"/>
                <a:cs typeface="Arial" pitchFamily="34" charset="-120"/>
              </a:rPr>
              <a:t>Q 1</a:t>
            </a:r>
            <a:endParaRPr lang="en-US" sz="1950" dirty="0"/>
          </a:p>
        </p:txBody>
      </p:sp>
      <p:sp>
        <p:nvSpPr>
          <p:cNvPr id="11" name="Text 9"/>
          <p:cNvSpPr/>
          <p:nvPr/>
        </p:nvSpPr>
        <p:spPr>
          <a:xfrm>
            <a:off x="2143125" y="4373086"/>
            <a:ext cx="4510002" cy="342900"/>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I shipped something valuable this week.</a:t>
            </a:r>
            <a:endParaRPr lang="en-US" sz="1950" dirty="0"/>
          </a:p>
        </p:txBody>
      </p:sp>
      <p:sp>
        <p:nvSpPr>
          <p:cNvPr id="12" name="Shape 10"/>
          <p:cNvSpPr/>
          <p:nvPr/>
        </p:nvSpPr>
        <p:spPr>
          <a:xfrm>
            <a:off x="1609725" y="5392261"/>
            <a:ext cx="6877050" cy="9525"/>
          </a:xfrm>
          <a:prstGeom prst="rect">
            <a:avLst/>
          </a:prstGeom>
          <a:solidFill>
            <a:srgbClr val="D9D9D6"/>
          </a:solidFill>
          <a:ln/>
        </p:spPr>
      </p:sp>
      <p:sp>
        <p:nvSpPr>
          <p:cNvPr id="13" name="Text 11"/>
          <p:cNvSpPr/>
          <p:nvPr/>
        </p:nvSpPr>
        <p:spPr>
          <a:xfrm>
            <a:off x="1609725" y="4954112"/>
            <a:ext cx="421958"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6B6B6B"/>
                </a:solidFill>
                <a:latin typeface="Arial" pitchFamily="34" charset="0"/>
                <a:ea typeface="Arial" pitchFamily="34" charset="-122"/>
                <a:cs typeface="Arial" pitchFamily="34" charset="-120"/>
              </a:rPr>
              <a:t>Q 2</a:t>
            </a:r>
            <a:endParaRPr lang="en-US" sz="1950" dirty="0"/>
          </a:p>
        </p:txBody>
      </p:sp>
      <p:sp>
        <p:nvSpPr>
          <p:cNvPr id="14" name="Text 12"/>
          <p:cNvSpPr/>
          <p:nvPr/>
        </p:nvSpPr>
        <p:spPr>
          <a:xfrm>
            <a:off x="2145983" y="4954112"/>
            <a:ext cx="4424321" cy="342900"/>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I spent more time building than waiting.</a:t>
            </a:r>
            <a:endParaRPr lang="en-US" sz="1950" dirty="0"/>
          </a:p>
        </p:txBody>
      </p:sp>
      <p:sp>
        <p:nvSpPr>
          <p:cNvPr id="15" name="Shape 13"/>
          <p:cNvSpPr/>
          <p:nvPr/>
        </p:nvSpPr>
        <p:spPr>
          <a:xfrm>
            <a:off x="1609725" y="5973287"/>
            <a:ext cx="6877050" cy="9525"/>
          </a:xfrm>
          <a:prstGeom prst="rect">
            <a:avLst/>
          </a:prstGeom>
          <a:solidFill>
            <a:srgbClr val="D9D9D6"/>
          </a:solidFill>
          <a:ln/>
        </p:spPr>
      </p:sp>
      <p:sp>
        <p:nvSpPr>
          <p:cNvPr id="16" name="Text 14"/>
          <p:cNvSpPr/>
          <p:nvPr/>
        </p:nvSpPr>
        <p:spPr>
          <a:xfrm>
            <a:off x="1609725" y="5535137"/>
            <a:ext cx="425291"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6B6B6B"/>
                </a:solidFill>
                <a:latin typeface="Arial" pitchFamily="34" charset="0"/>
                <a:ea typeface="Arial" pitchFamily="34" charset="-122"/>
                <a:cs typeface="Arial" pitchFamily="34" charset="-120"/>
              </a:rPr>
              <a:t>Q 3</a:t>
            </a:r>
            <a:endParaRPr lang="en-US" sz="1950" dirty="0"/>
          </a:p>
        </p:txBody>
      </p:sp>
      <p:sp>
        <p:nvSpPr>
          <p:cNvPr id="17" name="Text 15"/>
          <p:cNvSpPr/>
          <p:nvPr/>
        </p:nvSpPr>
        <p:spPr>
          <a:xfrm>
            <a:off x="2149316" y="5535137"/>
            <a:ext cx="3784660" cy="342900"/>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I trust the AI tools in my workflow.</a:t>
            </a:r>
            <a:endParaRPr lang="en-US" sz="1950" dirty="0"/>
          </a:p>
        </p:txBody>
      </p:sp>
      <p:sp>
        <p:nvSpPr>
          <p:cNvPr id="18" name="Shape 16"/>
          <p:cNvSpPr/>
          <p:nvPr/>
        </p:nvSpPr>
        <p:spPr>
          <a:xfrm>
            <a:off x="1609725" y="6554312"/>
            <a:ext cx="6877050" cy="9525"/>
          </a:xfrm>
          <a:prstGeom prst="rect">
            <a:avLst/>
          </a:prstGeom>
          <a:solidFill>
            <a:srgbClr val="D9D9D6"/>
          </a:solidFill>
          <a:ln/>
        </p:spPr>
      </p:sp>
      <p:sp>
        <p:nvSpPr>
          <p:cNvPr id="19" name="Text 17"/>
          <p:cNvSpPr/>
          <p:nvPr/>
        </p:nvSpPr>
        <p:spPr>
          <a:xfrm>
            <a:off x="1609725" y="6116162"/>
            <a:ext cx="432594"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6B6B6B"/>
                </a:solidFill>
                <a:latin typeface="Arial" pitchFamily="34" charset="0"/>
                <a:ea typeface="Arial" pitchFamily="34" charset="-122"/>
                <a:cs typeface="Arial" pitchFamily="34" charset="-120"/>
              </a:rPr>
              <a:t>Q 4</a:t>
            </a:r>
            <a:endParaRPr lang="en-US" sz="1950" dirty="0"/>
          </a:p>
        </p:txBody>
      </p:sp>
      <p:sp>
        <p:nvSpPr>
          <p:cNvPr id="20" name="Text 18"/>
          <p:cNvSpPr/>
          <p:nvPr/>
        </p:nvSpPr>
        <p:spPr>
          <a:xfrm>
            <a:off x="2156619" y="6116162"/>
            <a:ext cx="432441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Code review is a good use of my time.</a:t>
            </a:r>
            <a:endParaRPr lang="en-US" sz="1950" dirty="0"/>
          </a:p>
        </p:txBody>
      </p:sp>
      <p:sp>
        <p:nvSpPr>
          <p:cNvPr id="21" name="Shape 19"/>
          <p:cNvSpPr/>
          <p:nvPr/>
        </p:nvSpPr>
        <p:spPr>
          <a:xfrm>
            <a:off x="1609725" y="7135337"/>
            <a:ext cx="6877050" cy="9525"/>
          </a:xfrm>
          <a:prstGeom prst="rect">
            <a:avLst/>
          </a:prstGeom>
          <a:solidFill>
            <a:srgbClr val="D9D9D6"/>
          </a:solidFill>
          <a:ln/>
        </p:spPr>
      </p:sp>
      <p:sp>
        <p:nvSpPr>
          <p:cNvPr id="22" name="Text 20"/>
          <p:cNvSpPr/>
          <p:nvPr/>
        </p:nvSpPr>
        <p:spPr>
          <a:xfrm>
            <a:off x="1609725" y="6697187"/>
            <a:ext cx="419259"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6B6B6B"/>
                </a:solidFill>
                <a:latin typeface="Arial" pitchFamily="34" charset="0"/>
                <a:ea typeface="Arial" pitchFamily="34" charset="-122"/>
                <a:cs typeface="Arial" pitchFamily="34" charset="-120"/>
              </a:rPr>
              <a:t>Q 5</a:t>
            </a:r>
            <a:endParaRPr lang="en-US" sz="1950" dirty="0"/>
          </a:p>
        </p:txBody>
      </p:sp>
      <p:sp>
        <p:nvSpPr>
          <p:cNvPr id="23" name="Text 21"/>
          <p:cNvSpPr/>
          <p:nvPr/>
        </p:nvSpPr>
        <p:spPr>
          <a:xfrm>
            <a:off x="2143284" y="6697187"/>
            <a:ext cx="4607782" cy="342900"/>
          </a:xfrm>
          <a:prstGeom prst="rect">
            <a:avLst/>
          </a:prstGeom>
          <a:noFill/>
          <a:ln/>
        </p:spPr>
        <p:txBody>
          <a:bodyPr wrap="square" lIns="25400" tIns="25400" rIns="25400" bIns="25400" rtlCol="0" anchor="t">
            <a:normAutofit/>
          </a:bodyPr>
          <a:lstStyle/>
          <a:p>
            <a:pPr algn="l" indent="0" marL="0">
              <a:buNone/>
            </a:pPr>
            <a:r>
              <a:rPr lang="en-US" sz="1950" dirty="0">
                <a:solidFill>
                  <a:srgbClr val="2B2B2B"/>
                </a:solidFill>
                <a:latin typeface="Arial" pitchFamily="34" charset="0"/>
                <a:ea typeface="Arial" pitchFamily="34" charset="-122"/>
                <a:cs typeface="Arial" pitchFamily="34" charset="-120"/>
              </a:rPr>
              <a:t>I would recommend this team to a friend.</a:t>
            </a:r>
            <a:endParaRPr lang="en-US" sz="1950" dirty="0"/>
          </a:p>
        </p:txBody>
      </p:sp>
      <p:sp>
        <p:nvSpPr>
          <p:cNvPr id="24" name="Shape 22"/>
          <p:cNvSpPr/>
          <p:nvPr/>
        </p:nvSpPr>
        <p:spPr>
          <a:xfrm>
            <a:off x="9334500" y="2577624"/>
            <a:ext cx="7810500" cy="5033963"/>
          </a:xfrm>
          <a:prstGeom prst="rect">
            <a:avLst/>
          </a:prstGeom>
          <a:solidFill>
            <a:srgbClr val="F2F2EF"/>
          </a:solidFill>
          <a:ln w="9525">
            <a:solidFill>
              <a:srgbClr val="D9D9D6"/>
            </a:solidFill>
            <a:prstDash val="solid"/>
          </a:ln>
        </p:spPr>
      </p:sp>
      <p:sp>
        <p:nvSpPr>
          <p:cNvPr id="25" name="Text 23"/>
          <p:cNvSpPr/>
          <p:nvPr/>
        </p:nvSpPr>
        <p:spPr>
          <a:xfrm>
            <a:off x="9801225" y="3044349"/>
            <a:ext cx="7083362"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TELEMETRY · CONTINUOUS</a:t>
            </a:r>
            <a:endParaRPr lang="en-US" sz="1800" dirty="0"/>
          </a:p>
        </p:txBody>
      </p:sp>
      <p:sp>
        <p:nvSpPr>
          <p:cNvPr id="26" name="Text 24"/>
          <p:cNvSpPr/>
          <p:nvPr/>
        </p:nvSpPr>
        <p:spPr>
          <a:xfrm>
            <a:off x="9801225" y="3477736"/>
            <a:ext cx="7083362" cy="552450"/>
          </a:xfrm>
          <a:prstGeom prst="rect">
            <a:avLst/>
          </a:prstGeom>
          <a:noFill/>
          <a:ln/>
        </p:spPr>
        <p:txBody>
          <a:bodyPr wrap="square" lIns="25400" tIns="25400" rIns="25400" bIns="25400" rtlCol="0" anchor="t">
            <a:normAutofit/>
          </a:bodyPr>
          <a:lstStyle/>
          <a:p>
            <a:pPr algn="l" indent="0" marL="0">
              <a:buNone/>
            </a:pPr>
            <a:r>
              <a:rPr lang="en-US" sz="3300" b="1" spc="-49" kern="0" dirty="0">
                <a:solidFill>
                  <a:srgbClr val="0A0A0A"/>
                </a:solidFill>
                <a:latin typeface="Arial" pitchFamily="34" charset="0"/>
                <a:ea typeface="Arial" pitchFamily="34" charset="-122"/>
                <a:cs typeface="Arial" pitchFamily="34" charset="-120"/>
              </a:rPr>
              <a:t>Signals worth watching.</a:t>
            </a:r>
            <a:endParaRPr lang="en-US" sz="3300" dirty="0"/>
          </a:p>
        </p:txBody>
      </p:sp>
      <p:sp>
        <p:nvSpPr>
          <p:cNvPr id="27" name="Shape 25"/>
          <p:cNvSpPr/>
          <p:nvPr/>
        </p:nvSpPr>
        <p:spPr>
          <a:xfrm>
            <a:off x="9801225" y="4220686"/>
            <a:ext cx="6877050" cy="19050"/>
          </a:xfrm>
          <a:prstGeom prst="rect">
            <a:avLst/>
          </a:prstGeom>
          <a:solidFill>
            <a:srgbClr val="0A0A0A"/>
          </a:solidFill>
          <a:ln/>
        </p:spPr>
      </p:sp>
      <p:sp>
        <p:nvSpPr>
          <p:cNvPr id="28" name="Shape 26"/>
          <p:cNvSpPr/>
          <p:nvPr/>
        </p:nvSpPr>
        <p:spPr>
          <a:xfrm>
            <a:off x="9801225" y="4800282"/>
            <a:ext cx="6877050" cy="9525"/>
          </a:xfrm>
          <a:prstGeom prst="rect">
            <a:avLst/>
          </a:prstGeom>
          <a:solidFill>
            <a:srgbClr val="D9D9D6"/>
          </a:solidFill>
          <a:ln/>
        </p:spPr>
      </p:sp>
      <p:sp>
        <p:nvSpPr>
          <p:cNvPr id="29" name="Text 27"/>
          <p:cNvSpPr/>
          <p:nvPr/>
        </p:nvSpPr>
        <p:spPr>
          <a:xfrm>
            <a:off x="9801225" y="4373086"/>
            <a:ext cx="2864085"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Context-switch frequency</a:t>
            </a:r>
            <a:endParaRPr lang="en-US" sz="1950" dirty="0"/>
          </a:p>
        </p:txBody>
      </p:sp>
      <p:sp>
        <p:nvSpPr>
          <p:cNvPr id="30" name="Text 28"/>
          <p:cNvSpPr/>
          <p:nvPr/>
        </p:nvSpPr>
        <p:spPr>
          <a:xfrm>
            <a:off x="13873872" y="4373086"/>
            <a:ext cx="2804403" cy="331946"/>
          </a:xfrm>
          <a:prstGeom prst="rect">
            <a:avLst/>
          </a:prstGeom>
          <a:noFill/>
          <a:ln/>
        </p:spPr>
        <p:txBody>
          <a:bodyPr wrap="square" lIns="25400" tIns="25400" rIns="25400" bIns="25400" rtlCol="0" anchor="t">
            <a:normAutofit/>
          </a:bodyPr>
          <a:lstStyle/>
          <a:p>
            <a:pPr algn="r" indent="0" marL="0">
              <a:buNone/>
            </a:pPr>
            <a:r>
              <a:rPr lang="en-US" sz="1800" dirty="0">
                <a:solidFill>
                  <a:srgbClr val="6B6B6B"/>
                </a:solidFill>
                <a:latin typeface="Arial" pitchFamily="34" charset="0"/>
                <a:ea typeface="Arial" pitchFamily="34" charset="-122"/>
                <a:cs typeface="Arial" pitchFamily="34" charset="-120"/>
              </a:rPr>
              <a:t>Interrupts / focused hour</a:t>
            </a:r>
            <a:endParaRPr lang="en-US" sz="1800" dirty="0"/>
          </a:p>
        </p:txBody>
      </p:sp>
      <p:sp>
        <p:nvSpPr>
          <p:cNvPr id="31" name="Shape 29"/>
          <p:cNvSpPr/>
          <p:nvPr/>
        </p:nvSpPr>
        <p:spPr>
          <a:xfrm>
            <a:off x="9801225" y="5370354"/>
            <a:ext cx="6877050" cy="9525"/>
          </a:xfrm>
          <a:prstGeom prst="rect">
            <a:avLst/>
          </a:prstGeom>
          <a:solidFill>
            <a:srgbClr val="D9D9D6"/>
          </a:solidFill>
          <a:ln/>
        </p:spPr>
      </p:sp>
      <p:sp>
        <p:nvSpPr>
          <p:cNvPr id="32" name="Text 30"/>
          <p:cNvSpPr/>
          <p:nvPr/>
        </p:nvSpPr>
        <p:spPr>
          <a:xfrm>
            <a:off x="9801225" y="4943158"/>
            <a:ext cx="1742122"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Review latency</a:t>
            </a:r>
            <a:endParaRPr lang="en-US" sz="1950" dirty="0"/>
          </a:p>
        </p:txBody>
      </p:sp>
      <p:sp>
        <p:nvSpPr>
          <p:cNvPr id="33" name="Text 31"/>
          <p:cNvSpPr/>
          <p:nvPr/>
        </p:nvSpPr>
        <p:spPr>
          <a:xfrm>
            <a:off x="14126369" y="4943158"/>
            <a:ext cx="2551906" cy="331946"/>
          </a:xfrm>
          <a:prstGeom prst="rect">
            <a:avLst/>
          </a:prstGeom>
          <a:noFill/>
          <a:ln/>
        </p:spPr>
        <p:txBody>
          <a:bodyPr wrap="square" lIns="25400" tIns="25400" rIns="25400" bIns="25400" rtlCol="0" anchor="t">
            <a:normAutofit/>
          </a:bodyPr>
          <a:lstStyle/>
          <a:p>
            <a:pPr algn="r" indent="0" marL="0">
              <a:buNone/>
            </a:pPr>
            <a:r>
              <a:rPr lang="en-US" sz="1800" dirty="0">
                <a:solidFill>
                  <a:srgbClr val="6B6B6B"/>
                </a:solidFill>
                <a:latin typeface="Arial" pitchFamily="34" charset="0"/>
                <a:ea typeface="Arial" pitchFamily="34" charset="-122"/>
                <a:cs typeface="Arial" pitchFamily="34" charset="-120"/>
              </a:rPr>
              <a:t>PR open → first review</a:t>
            </a:r>
            <a:endParaRPr lang="en-US" sz="1800" dirty="0"/>
          </a:p>
        </p:txBody>
      </p:sp>
      <p:sp>
        <p:nvSpPr>
          <p:cNvPr id="34" name="Shape 32"/>
          <p:cNvSpPr/>
          <p:nvPr/>
        </p:nvSpPr>
        <p:spPr>
          <a:xfrm>
            <a:off x="9801225" y="5940425"/>
            <a:ext cx="6877050" cy="9525"/>
          </a:xfrm>
          <a:prstGeom prst="rect">
            <a:avLst/>
          </a:prstGeom>
          <a:solidFill>
            <a:srgbClr val="D9D9D6"/>
          </a:solidFill>
          <a:ln/>
        </p:spPr>
      </p:sp>
      <p:sp>
        <p:nvSpPr>
          <p:cNvPr id="35" name="Text 33"/>
          <p:cNvSpPr/>
          <p:nvPr/>
        </p:nvSpPr>
        <p:spPr>
          <a:xfrm>
            <a:off x="9801225" y="5513229"/>
            <a:ext cx="1907381"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Onboarding time</a:t>
            </a:r>
            <a:endParaRPr lang="en-US" sz="1950" dirty="0"/>
          </a:p>
        </p:txBody>
      </p:sp>
      <p:sp>
        <p:nvSpPr>
          <p:cNvPr id="36" name="Text 34"/>
          <p:cNvSpPr/>
          <p:nvPr/>
        </p:nvSpPr>
        <p:spPr>
          <a:xfrm>
            <a:off x="13496812" y="5513229"/>
            <a:ext cx="3181463" cy="331946"/>
          </a:xfrm>
          <a:prstGeom prst="rect">
            <a:avLst/>
          </a:prstGeom>
          <a:noFill/>
          <a:ln/>
        </p:spPr>
        <p:txBody>
          <a:bodyPr wrap="square" lIns="25400" tIns="25400" rIns="25400" bIns="25400" rtlCol="0" anchor="t">
            <a:normAutofit/>
          </a:bodyPr>
          <a:lstStyle/>
          <a:p>
            <a:pPr algn="r" indent="0" marL="0">
              <a:buNone/>
            </a:pPr>
            <a:r>
              <a:rPr lang="en-US" sz="1800" dirty="0">
                <a:solidFill>
                  <a:srgbClr val="6B6B6B"/>
                </a:solidFill>
                <a:latin typeface="Arial" pitchFamily="34" charset="0"/>
                <a:ea typeface="Arial" pitchFamily="34" charset="-122"/>
                <a:cs typeface="Arial" pitchFamily="34" charset="-120"/>
              </a:rPr>
              <a:t>Days to first merged change</a:t>
            </a:r>
            <a:endParaRPr lang="en-US" sz="1800" dirty="0"/>
          </a:p>
        </p:txBody>
      </p:sp>
      <p:sp>
        <p:nvSpPr>
          <p:cNvPr id="37" name="Shape 35"/>
          <p:cNvSpPr/>
          <p:nvPr/>
        </p:nvSpPr>
        <p:spPr>
          <a:xfrm>
            <a:off x="9801225" y="6510496"/>
            <a:ext cx="6877050" cy="9525"/>
          </a:xfrm>
          <a:prstGeom prst="rect">
            <a:avLst/>
          </a:prstGeom>
          <a:solidFill>
            <a:srgbClr val="D9D9D6"/>
          </a:solidFill>
          <a:ln/>
        </p:spPr>
      </p:sp>
      <p:sp>
        <p:nvSpPr>
          <p:cNvPr id="38" name="Text 36"/>
          <p:cNvSpPr/>
          <p:nvPr/>
        </p:nvSpPr>
        <p:spPr>
          <a:xfrm>
            <a:off x="9801225" y="6083300"/>
            <a:ext cx="1521460"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AI trust index</a:t>
            </a:r>
            <a:endParaRPr lang="en-US" sz="1950" dirty="0"/>
          </a:p>
        </p:txBody>
      </p:sp>
      <p:sp>
        <p:nvSpPr>
          <p:cNvPr id="39" name="Text 37"/>
          <p:cNvSpPr/>
          <p:nvPr/>
        </p:nvSpPr>
        <p:spPr>
          <a:xfrm>
            <a:off x="13833975" y="6083300"/>
            <a:ext cx="2844300" cy="331946"/>
          </a:xfrm>
          <a:prstGeom prst="rect">
            <a:avLst/>
          </a:prstGeom>
          <a:noFill/>
          <a:ln/>
        </p:spPr>
        <p:txBody>
          <a:bodyPr wrap="square" lIns="25400" tIns="25400" rIns="25400" bIns="25400" rtlCol="0" anchor="t">
            <a:normAutofit/>
          </a:bodyPr>
          <a:lstStyle/>
          <a:p>
            <a:pPr algn="r" indent="0" marL="0">
              <a:buNone/>
            </a:pPr>
            <a:r>
              <a:rPr lang="en-US" sz="1800" dirty="0">
                <a:solidFill>
                  <a:srgbClr val="6B6B6B"/>
                </a:solidFill>
                <a:latin typeface="Arial" pitchFamily="34" charset="0"/>
                <a:ea typeface="Arial" pitchFamily="34" charset="-122"/>
                <a:cs typeface="Arial" pitchFamily="34" charset="-120"/>
              </a:rPr>
              <a:t>% suggestions inspected</a:t>
            </a:r>
            <a:endParaRPr lang="en-US" sz="1800" dirty="0"/>
          </a:p>
        </p:txBody>
      </p:sp>
      <p:sp>
        <p:nvSpPr>
          <p:cNvPr id="40" name="Shape 38"/>
          <p:cNvSpPr/>
          <p:nvPr/>
        </p:nvSpPr>
        <p:spPr>
          <a:xfrm>
            <a:off x="9801225" y="7080568"/>
            <a:ext cx="6877050" cy="9525"/>
          </a:xfrm>
          <a:prstGeom prst="rect">
            <a:avLst/>
          </a:prstGeom>
          <a:solidFill>
            <a:srgbClr val="D9D9D6"/>
          </a:solidFill>
          <a:ln/>
        </p:spPr>
      </p:sp>
      <p:sp>
        <p:nvSpPr>
          <p:cNvPr id="41" name="Text 39"/>
          <p:cNvSpPr/>
          <p:nvPr/>
        </p:nvSpPr>
        <p:spPr>
          <a:xfrm>
            <a:off x="9801225" y="6653371"/>
            <a:ext cx="1480979" cy="331946"/>
          </a:xfrm>
          <a:prstGeom prst="rect">
            <a:avLst/>
          </a:prstGeom>
          <a:noFill/>
          <a:ln/>
        </p:spPr>
        <p:txBody>
          <a:bodyPr wrap="square" lIns="25400" tIns="25400" rIns="25400" bIns="25400" rtlCol="0" anchor="t">
            <a:normAutofit/>
          </a:bodyPr>
          <a:lstStyle/>
          <a:p>
            <a:pPr algn="l" indent="0" marL="0">
              <a:buNone/>
            </a:pPr>
            <a:r>
              <a:rPr lang="en-US" sz="1950" dirty="0">
                <a:solidFill>
                  <a:srgbClr val="0A0A0A"/>
                </a:solidFill>
                <a:latin typeface="Arial" pitchFamily="34" charset="0"/>
                <a:ea typeface="Arial" pitchFamily="34" charset="-122"/>
                <a:cs typeface="Arial" pitchFamily="34" charset="-120"/>
              </a:rPr>
              <a:t>Incident load</a:t>
            </a:r>
            <a:endParaRPr lang="en-US" sz="1950" dirty="0"/>
          </a:p>
        </p:txBody>
      </p:sp>
      <p:sp>
        <p:nvSpPr>
          <p:cNvPr id="42" name="Text 40"/>
          <p:cNvSpPr/>
          <p:nvPr/>
        </p:nvSpPr>
        <p:spPr>
          <a:xfrm>
            <a:off x="13414075" y="6653371"/>
            <a:ext cx="3264200" cy="331946"/>
          </a:xfrm>
          <a:prstGeom prst="rect">
            <a:avLst/>
          </a:prstGeom>
          <a:noFill/>
          <a:ln/>
        </p:spPr>
        <p:txBody>
          <a:bodyPr wrap="square" lIns="25400" tIns="25400" rIns="25400" bIns="25400" rtlCol="0" anchor="t">
            <a:normAutofit/>
          </a:bodyPr>
          <a:lstStyle/>
          <a:p>
            <a:pPr algn="r" indent="0" marL="0">
              <a:buNone/>
            </a:pPr>
            <a:r>
              <a:rPr lang="en-US" sz="1800" dirty="0">
                <a:solidFill>
                  <a:srgbClr val="6B6B6B"/>
                </a:solidFill>
                <a:latin typeface="Arial" pitchFamily="34" charset="0"/>
                <a:ea typeface="Arial" pitchFamily="34" charset="-122"/>
                <a:cs typeface="Arial" pitchFamily="34" charset="-120"/>
              </a:rPr>
              <a:t>On-call hours / engineer / qtr</a:t>
            </a:r>
            <a:endParaRPr lang="en-US" sz="1800" dirty="0"/>
          </a:p>
        </p:txBody>
      </p:sp>
      <p:sp>
        <p:nvSpPr>
          <p:cNvPr id="43" name="Shape 41"/>
          <p:cNvSpPr/>
          <p:nvPr/>
        </p:nvSpPr>
        <p:spPr>
          <a:xfrm>
            <a:off x="1143000" y="7721124"/>
            <a:ext cx="16002000" cy="9525"/>
          </a:xfrm>
          <a:prstGeom prst="rect">
            <a:avLst/>
          </a:prstGeom>
          <a:solidFill>
            <a:srgbClr val="D9D9D6"/>
          </a:solidFill>
          <a:ln/>
        </p:spPr>
      </p:sp>
      <p:sp>
        <p:nvSpPr>
          <p:cNvPr id="44" name="Text 42"/>
          <p:cNvSpPr/>
          <p:nvPr/>
        </p:nvSpPr>
        <p:spPr>
          <a:xfrm>
            <a:off x="1143000" y="7902099"/>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45" name="Text 43"/>
          <p:cNvSpPr/>
          <p:nvPr/>
        </p:nvSpPr>
        <p:spPr>
          <a:xfrm>
            <a:off x="8408352" y="7902099"/>
            <a:ext cx="3445862"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III · FRAMEWORKS</a:t>
            </a:r>
            <a:endParaRPr lang="en-US" sz="1800" dirty="0"/>
          </a:p>
        </p:txBody>
      </p:sp>
      <p:sp>
        <p:nvSpPr>
          <p:cNvPr id="46" name="Text 44"/>
          <p:cNvSpPr/>
          <p:nvPr/>
        </p:nvSpPr>
        <p:spPr>
          <a:xfrm>
            <a:off x="16141065" y="7902099"/>
            <a:ext cx="108013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20 / 28</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8152765"/>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16 · LENS 03 — IMPACT</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The line back to the business.</a:t>
            </a:r>
            <a:endParaRPr lang="en-US" sz="4800" dirty="0"/>
          </a:p>
        </p:txBody>
      </p:sp>
      <p:sp>
        <p:nvSpPr>
          <p:cNvPr id="5" name="Shape 3"/>
          <p:cNvSpPr/>
          <p:nvPr/>
        </p:nvSpPr>
        <p:spPr>
          <a:xfrm>
            <a:off x="1143000" y="2577624"/>
            <a:ext cx="5130800" cy="3896042"/>
          </a:xfrm>
          <a:prstGeom prst="rect">
            <a:avLst/>
          </a:prstGeom>
          <a:solidFill>
            <a:srgbClr val="FAFAF7"/>
          </a:solidFill>
          <a:ln/>
        </p:spPr>
      </p:sp>
      <p:sp>
        <p:nvSpPr>
          <p:cNvPr id="6" name="Shape 4"/>
          <p:cNvSpPr/>
          <p:nvPr/>
        </p:nvSpPr>
        <p:spPr>
          <a:xfrm>
            <a:off x="1143000" y="6464141"/>
            <a:ext cx="5130800" cy="9525"/>
          </a:xfrm>
          <a:prstGeom prst="rect">
            <a:avLst/>
          </a:prstGeom>
          <a:solidFill>
            <a:srgbClr val="D9D9D6"/>
          </a:solidFill>
          <a:ln/>
        </p:spPr>
      </p:sp>
      <p:sp>
        <p:nvSpPr>
          <p:cNvPr id="7" name="Shape 5"/>
          <p:cNvSpPr/>
          <p:nvPr/>
        </p:nvSpPr>
        <p:spPr>
          <a:xfrm>
            <a:off x="1143000" y="2577624"/>
            <a:ext cx="5130800" cy="38100"/>
          </a:xfrm>
          <a:prstGeom prst="rect">
            <a:avLst/>
          </a:prstGeom>
          <a:solidFill>
            <a:srgbClr val="001E5C"/>
          </a:solidFill>
          <a:ln/>
        </p:spPr>
      </p:sp>
      <p:sp>
        <p:nvSpPr>
          <p:cNvPr id="8" name="Shape 6"/>
          <p:cNvSpPr/>
          <p:nvPr/>
        </p:nvSpPr>
        <p:spPr>
          <a:xfrm>
            <a:off x="1143000" y="2577624"/>
            <a:ext cx="9525" cy="3896042"/>
          </a:xfrm>
          <a:prstGeom prst="rect">
            <a:avLst/>
          </a:prstGeom>
          <a:solidFill>
            <a:srgbClr val="D9D9D6"/>
          </a:solidFill>
          <a:ln/>
        </p:spPr>
      </p:sp>
      <p:sp>
        <p:nvSpPr>
          <p:cNvPr id="9" name="Shape 7"/>
          <p:cNvSpPr/>
          <p:nvPr/>
        </p:nvSpPr>
        <p:spPr>
          <a:xfrm>
            <a:off x="6264275" y="2577624"/>
            <a:ext cx="9525" cy="3896042"/>
          </a:xfrm>
          <a:prstGeom prst="rect">
            <a:avLst/>
          </a:prstGeom>
          <a:solidFill>
            <a:srgbClr val="D9D9D6"/>
          </a:solidFill>
          <a:ln/>
        </p:spPr>
      </p:sp>
      <p:sp>
        <p:nvSpPr>
          <p:cNvPr id="10" name="Text 8"/>
          <p:cNvSpPr/>
          <p:nvPr/>
        </p:nvSpPr>
        <p:spPr>
          <a:xfrm>
            <a:off x="1609725" y="3072924"/>
            <a:ext cx="4323271"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VALUE</a:t>
            </a:r>
            <a:endParaRPr lang="en-US" sz="1800" dirty="0"/>
          </a:p>
        </p:txBody>
      </p:sp>
      <p:sp>
        <p:nvSpPr>
          <p:cNvPr id="11" name="Text 9"/>
          <p:cNvSpPr/>
          <p:nvPr/>
        </p:nvSpPr>
        <p:spPr>
          <a:xfrm>
            <a:off x="1609725" y="3582511"/>
            <a:ext cx="4323271" cy="1108075"/>
          </a:xfrm>
          <a:prstGeom prst="rect">
            <a:avLst/>
          </a:prstGeom>
          <a:noFill/>
          <a:ln/>
        </p:spPr>
        <p:txBody>
          <a:bodyPr wrap="square" lIns="25400" tIns="25400" rIns="25400" bIns="25400" rtlCol="0" anchor="t">
            <a:normAutofit/>
          </a:bodyPr>
          <a:lstStyle/>
          <a:p>
            <a:pPr algn="l" indent="0" marL="0">
              <a:lnSpc>
                <a:spcPct val="108013"/>
              </a:lnSpc>
              <a:buNone/>
            </a:pPr>
            <a:r>
              <a:rPr lang="en-US" sz="3900" b="1" spc="-78" kern="0" dirty="0">
                <a:solidFill>
                  <a:srgbClr val="0A0A0A"/>
                </a:solidFill>
                <a:latin typeface="Arial" pitchFamily="34" charset="0"/>
                <a:ea typeface="Arial" pitchFamily="34" charset="-122"/>
                <a:cs typeface="Arial" pitchFamily="34" charset="-120"/>
              </a:rPr>
              <a:t>Features adopted per quarter</a:t>
            </a:r>
            <a:endParaRPr lang="en-US" sz="3900" dirty="0"/>
          </a:p>
        </p:txBody>
      </p:sp>
      <p:sp>
        <p:nvSpPr>
          <p:cNvPr id="12" name="Shape 10"/>
          <p:cNvSpPr/>
          <p:nvPr/>
        </p:nvSpPr>
        <p:spPr>
          <a:xfrm>
            <a:off x="1609725" y="4999196"/>
            <a:ext cx="4197350" cy="9525"/>
          </a:xfrm>
          <a:prstGeom prst="rect">
            <a:avLst/>
          </a:prstGeom>
          <a:solidFill>
            <a:srgbClr val="D9D9D6"/>
          </a:solidFill>
          <a:ln/>
        </p:spPr>
      </p:sp>
      <p:sp>
        <p:nvSpPr>
          <p:cNvPr id="13" name="Text 11"/>
          <p:cNvSpPr/>
          <p:nvPr/>
        </p:nvSpPr>
        <p:spPr>
          <a:xfrm>
            <a:off x="1609725" y="5313521"/>
            <a:ext cx="4323271"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Count shipped features weighted by adoption, not by effort.</a:t>
            </a:r>
            <a:endParaRPr lang="en-US" sz="1950" dirty="0"/>
          </a:p>
        </p:txBody>
      </p:sp>
      <p:sp>
        <p:nvSpPr>
          <p:cNvPr id="14" name="Shape 12"/>
          <p:cNvSpPr/>
          <p:nvPr/>
        </p:nvSpPr>
        <p:spPr>
          <a:xfrm>
            <a:off x="6578600" y="2577624"/>
            <a:ext cx="5130800" cy="3896042"/>
          </a:xfrm>
          <a:prstGeom prst="rect">
            <a:avLst/>
          </a:prstGeom>
          <a:solidFill>
            <a:srgbClr val="FAFAF7"/>
          </a:solidFill>
          <a:ln/>
        </p:spPr>
      </p:sp>
      <p:sp>
        <p:nvSpPr>
          <p:cNvPr id="15" name="Shape 13"/>
          <p:cNvSpPr/>
          <p:nvPr/>
        </p:nvSpPr>
        <p:spPr>
          <a:xfrm>
            <a:off x="6578600" y="6464141"/>
            <a:ext cx="5130800" cy="9525"/>
          </a:xfrm>
          <a:prstGeom prst="rect">
            <a:avLst/>
          </a:prstGeom>
          <a:solidFill>
            <a:srgbClr val="D9D9D6"/>
          </a:solidFill>
          <a:ln/>
        </p:spPr>
      </p:sp>
      <p:sp>
        <p:nvSpPr>
          <p:cNvPr id="16" name="Shape 14"/>
          <p:cNvSpPr/>
          <p:nvPr/>
        </p:nvSpPr>
        <p:spPr>
          <a:xfrm>
            <a:off x="6578600" y="2577624"/>
            <a:ext cx="5130800" cy="38100"/>
          </a:xfrm>
          <a:prstGeom prst="rect">
            <a:avLst/>
          </a:prstGeom>
          <a:solidFill>
            <a:srgbClr val="001E5C"/>
          </a:solidFill>
          <a:ln/>
        </p:spPr>
      </p:sp>
      <p:sp>
        <p:nvSpPr>
          <p:cNvPr id="17" name="Shape 15"/>
          <p:cNvSpPr/>
          <p:nvPr/>
        </p:nvSpPr>
        <p:spPr>
          <a:xfrm>
            <a:off x="6578600" y="2577624"/>
            <a:ext cx="9525" cy="3896042"/>
          </a:xfrm>
          <a:prstGeom prst="rect">
            <a:avLst/>
          </a:prstGeom>
          <a:solidFill>
            <a:srgbClr val="D9D9D6"/>
          </a:solidFill>
          <a:ln/>
        </p:spPr>
      </p:sp>
      <p:sp>
        <p:nvSpPr>
          <p:cNvPr id="18" name="Shape 16"/>
          <p:cNvSpPr/>
          <p:nvPr/>
        </p:nvSpPr>
        <p:spPr>
          <a:xfrm>
            <a:off x="11699875" y="2577624"/>
            <a:ext cx="9525" cy="3896042"/>
          </a:xfrm>
          <a:prstGeom prst="rect">
            <a:avLst/>
          </a:prstGeom>
          <a:solidFill>
            <a:srgbClr val="D9D9D6"/>
          </a:solidFill>
          <a:ln/>
        </p:spPr>
      </p:sp>
      <p:sp>
        <p:nvSpPr>
          <p:cNvPr id="19" name="Text 17"/>
          <p:cNvSpPr/>
          <p:nvPr/>
        </p:nvSpPr>
        <p:spPr>
          <a:xfrm>
            <a:off x="7045325" y="3072924"/>
            <a:ext cx="432327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COST</a:t>
            </a:r>
            <a:endParaRPr lang="en-US" sz="1800" dirty="0"/>
          </a:p>
        </p:txBody>
      </p:sp>
      <p:sp>
        <p:nvSpPr>
          <p:cNvPr id="20" name="Text 18"/>
          <p:cNvSpPr/>
          <p:nvPr/>
        </p:nvSpPr>
        <p:spPr>
          <a:xfrm>
            <a:off x="7045325" y="3582511"/>
            <a:ext cx="4323270" cy="1108075"/>
          </a:xfrm>
          <a:prstGeom prst="rect">
            <a:avLst/>
          </a:prstGeom>
          <a:noFill/>
          <a:ln/>
        </p:spPr>
        <p:txBody>
          <a:bodyPr wrap="square" lIns="25400" tIns="25400" rIns="25400" bIns="25400" rtlCol="0" anchor="t">
            <a:normAutofit/>
          </a:bodyPr>
          <a:lstStyle/>
          <a:p>
            <a:pPr algn="l" indent="0" marL="0">
              <a:lnSpc>
                <a:spcPct val="108013"/>
              </a:lnSpc>
              <a:buNone/>
            </a:pPr>
            <a:r>
              <a:rPr lang="en-US" sz="3900" b="1" spc="-78" kern="0" dirty="0">
                <a:solidFill>
                  <a:srgbClr val="0A0A0A"/>
                </a:solidFill>
                <a:latin typeface="Arial" pitchFamily="34" charset="0"/>
                <a:ea typeface="Arial" pitchFamily="34" charset="-122"/>
                <a:cs typeface="Arial" pitchFamily="34" charset="-120"/>
              </a:rPr>
              <a:t>Cost per engineer-week</a:t>
            </a:r>
            <a:endParaRPr lang="en-US" sz="3900" dirty="0"/>
          </a:p>
        </p:txBody>
      </p:sp>
      <p:sp>
        <p:nvSpPr>
          <p:cNvPr id="21" name="Shape 19"/>
          <p:cNvSpPr/>
          <p:nvPr/>
        </p:nvSpPr>
        <p:spPr>
          <a:xfrm>
            <a:off x="7045325" y="4652486"/>
            <a:ext cx="4197350" cy="9525"/>
          </a:xfrm>
          <a:prstGeom prst="rect">
            <a:avLst/>
          </a:prstGeom>
          <a:solidFill>
            <a:srgbClr val="D9D9D6"/>
          </a:solidFill>
          <a:ln/>
        </p:spPr>
      </p:sp>
      <p:sp>
        <p:nvSpPr>
          <p:cNvPr id="22" name="Text 20"/>
          <p:cNvSpPr/>
          <p:nvPr/>
        </p:nvSpPr>
        <p:spPr>
          <a:xfrm>
            <a:off x="7045325" y="4966811"/>
            <a:ext cx="4323270"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Fully-loaded, including tooling. The denominator leaders quietly care about.</a:t>
            </a:r>
            <a:endParaRPr lang="en-US" sz="1950" dirty="0"/>
          </a:p>
        </p:txBody>
      </p:sp>
      <p:sp>
        <p:nvSpPr>
          <p:cNvPr id="23" name="Shape 21"/>
          <p:cNvSpPr/>
          <p:nvPr/>
        </p:nvSpPr>
        <p:spPr>
          <a:xfrm>
            <a:off x="12014200" y="2577624"/>
            <a:ext cx="5130800" cy="3896042"/>
          </a:xfrm>
          <a:prstGeom prst="rect">
            <a:avLst/>
          </a:prstGeom>
          <a:solidFill>
            <a:srgbClr val="FAFAF7"/>
          </a:solidFill>
          <a:ln/>
        </p:spPr>
      </p:sp>
      <p:sp>
        <p:nvSpPr>
          <p:cNvPr id="24" name="Shape 22"/>
          <p:cNvSpPr/>
          <p:nvPr/>
        </p:nvSpPr>
        <p:spPr>
          <a:xfrm>
            <a:off x="12014200" y="6464141"/>
            <a:ext cx="5130800" cy="9525"/>
          </a:xfrm>
          <a:prstGeom prst="rect">
            <a:avLst/>
          </a:prstGeom>
          <a:solidFill>
            <a:srgbClr val="D9D9D6"/>
          </a:solidFill>
          <a:ln/>
        </p:spPr>
      </p:sp>
      <p:sp>
        <p:nvSpPr>
          <p:cNvPr id="25" name="Shape 23"/>
          <p:cNvSpPr/>
          <p:nvPr/>
        </p:nvSpPr>
        <p:spPr>
          <a:xfrm>
            <a:off x="12014200" y="2577624"/>
            <a:ext cx="5130800" cy="38100"/>
          </a:xfrm>
          <a:prstGeom prst="rect">
            <a:avLst/>
          </a:prstGeom>
          <a:solidFill>
            <a:srgbClr val="001E5C"/>
          </a:solidFill>
          <a:ln/>
        </p:spPr>
      </p:sp>
      <p:sp>
        <p:nvSpPr>
          <p:cNvPr id="26" name="Shape 24"/>
          <p:cNvSpPr/>
          <p:nvPr/>
        </p:nvSpPr>
        <p:spPr>
          <a:xfrm>
            <a:off x="12014200" y="2577624"/>
            <a:ext cx="9525" cy="3896042"/>
          </a:xfrm>
          <a:prstGeom prst="rect">
            <a:avLst/>
          </a:prstGeom>
          <a:solidFill>
            <a:srgbClr val="D9D9D6"/>
          </a:solidFill>
          <a:ln/>
        </p:spPr>
      </p:sp>
      <p:sp>
        <p:nvSpPr>
          <p:cNvPr id="27" name="Shape 25"/>
          <p:cNvSpPr/>
          <p:nvPr/>
        </p:nvSpPr>
        <p:spPr>
          <a:xfrm>
            <a:off x="17135476" y="2577624"/>
            <a:ext cx="9525" cy="3896042"/>
          </a:xfrm>
          <a:prstGeom prst="rect">
            <a:avLst/>
          </a:prstGeom>
          <a:solidFill>
            <a:srgbClr val="D9D9D6"/>
          </a:solidFill>
          <a:ln/>
        </p:spPr>
      </p:sp>
      <p:sp>
        <p:nvSpPr>
          <p:cNvPr id="28" name="Text 26"/>
          <p:cNvSpPr/>
          <p:nvPr/>
        </p:nvSpPr>
        <p:spPr>
          <a:xfrm>
            <a:off x="12480925" y="3072924"/>
            <a:ext cx="4323271"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RETURN</a:t>
            </a:r>
            <a:endParaRPr lang="en-US" sz="1800" dirty="0"/>
          </a:p>
        </p:txBody>
      </p:sp>
      <p:sp>
        <p:nvSpPr>
          <p:cNvPr id="29" name="Text 27"/>
          <p:cNvSpPr/>
          <p:nvPr/>
        </p:nvSpPr>
        <p:spPr>
          <a:xfrm>
            <a:off x="12480925" y="3582511"/>
            <a:ext cx="4323271" cy="573088"/>
          </a:xfrm>
          <a:prstGeom prst="rect">
            <a:avLst/>
          </a:prstGeom>
          <a:noFill/>
          <a:ln/>
        </p:spPr>
        <p:txBody>
          <a:bodyPr wrap="square" lIns="25400" tIns="25400" rIns="25400" bIns="25400" rtlCol="0" anchor="t">
            <a:normAutofit/>
          </a:bodyPr>
          <a:lstStyle/>
          <a:p>
            <a:pPr algn="l" indent="0" marL="0">
              <a:lnSpc>
                <a:spcPct val="108013"/>
              </a:lnSpc>
              <a:buNone/>
            </a:pPr>
            <a:r>
              <a:rPr lang="en-US" sz="3900" b="1" spc="-78" kern="0" dirty="0">
                <a:solidFill>
                  <a:srgbClr val="0A0A0A"/>
                </a:solidFill>
                <a:latin typeface="Arial" pitchFamily="34" charset="0"/>
                <a:ea typeface="Arial" pitchFamily="34" charset="-122"/>
                <a:cs typeface="Arial" pitchFamily="34" charset="-120"/>
              </a:rPr>
              <a:t>ROI on AI tooling</a:t>
            </a:r>
            <a:endParaRPr lang="en-US" sz="3900" dirty="0"/>
          </a:p>
        </p:txBody>
      </p:sp>
      <p:sp>
        <p:nvSpPr>
          <p:cNvPr id="30" name="Shape 28"/>
          <p:cNvSpPr/>
          <p:nvPr/>
        </p:nvSpPr>
        <p:spPr>
          <a:xfrm>
            <a:off x="12480925" y="4999196"/>
            <a:ext cx="4197350" cy="9525"/>
          </a:xfrm>
          <a:prstGeom prst="rect">
            <a:avLst/>
          </a:prstGeom>
          <a:solidFill>
            <a:srgbClr val="D9D9D6"/>
          </a:solidFill>
          <a:ln/>
        </p:spPr>
      </p:sp>
      <p:sp>
        <p:nvSpPr>
          <p:cNvPr id="31" name="Text 29"/>
          <p:cNvSpPr/>
          <p:nvPr/>
        </p:nvSpPr>
        <p:spPr>
          <a:xfrm>
            <a:off x="12480925" y="5313521"/>
            <a:ext cx="4323271"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Return on AI tooling spend. Attribute carefully; confounds are many.</a:t>
            </a:r>
            <a:endParaRPr lang="en-US" sz="1950" dirty="0"/>
          </a:p>
        </p:txBody>
      </p:sp>
      <p:sp>
        <p:nvSpPr>
          <p:cNvPr id="32" name="Text 30"/>
          <p:cNvSpPr/>
          <p:nvPr/>
        </p:nvSpPr>
        <p:spPr>
          <a:xfrm>
            <a:off x="1143000" y="6930866"/>
            <a:ext cx="16482060" cy="307499"/>
          </a:xfrm>
          <a:prstGeom prst="rect">
            <a:avLst/>
          </a:prstGeom>
          <a:noFill/>
          <a:ln/>
        </p:spPr>
        <p:txBody>
          <a:bodyPr wrap="square" lIns="25400" tIns="25400" rIns="25400" bIns="25400" rtlCol="0" anchor="t">
            <a:normAutofit/>
          </a:bodyPr>
          <a:lstStyle/>
          <a:p>
            <a:pPr algn="l" indent="0" marL="0">
              <a:buNone/>
            </a:pPr>
            <a:r>
              <a:rPr lang="en-US" sz="1800" i="1" dirty="0">
                <a:solidFill>
                  <a:srgbClr val="6B6B6B"/>
                </a:solidFill>
                <a:latin typeface="Arial" pitchFamily="34" charset="0"/>
                <a:ea typeface="Arial" pitchFamily="34" charset="-122"/>
                <a:cs typeface="Arial" pitchFamily="34" charset="-120"/>
              </a:rPr>
              <a:t>Three scorecards, not three metrics; each has its own denominator and audience.</a:t>
            </a:r>
            <a:endParaRPr lang="en-US" sz="1800" dirty="0"/>
          </a:p>
        </p:txBody>
      </p:sp>
      <p:sp>
        <p:nvSpPr>
          <p:cNvPr id="33" name="Shape 31"/>
          <p:cNvSpPr/>
          <p:nvPr/>
        </p:nvSpPr>
        <p:spPr>
          <a:xfrm>
            <a:off x="1143000" y="7309803"/>
            <a:ext cx="16002000" cy="9525"/>
          </a:xfrm>
          <a:prstGeom prst="rect">
            <a:avLst/>
          </a:prstGeom>
          <a:solidFill>
            <a:srgbClr val="D9D9D6"/>
          </a:solidFill>
          <a:ln/>
        </p:spPr>
      </p:sp>
      <p:sp>
        <p:nvSpPr>
          <p:cNvPr id="34" name="Text 32"/>
          <p:cNvSpPr/>
          <p:nvPr/>
        </p:nvSpPr>
        <p:spPr>
          <a:xfrm>
            <a:off x="1143000" y="7490778"/>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35" name="Text 33"/>
          <p:cNvSpPr/>
          <p:nvPr/>
        </p:nvSpPr>
        <p:spPr>
          <a:xfrm>
            <a:off x="8434705" y="7490778"/>
            <a:ext cx="3445862"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III · FRAMEWORKS</a:t>
            </a:r>
            <a:endParaRPr lang="en-US" sz="1800" dirty="0"/>
          </a:p>
        </p:txBody>
      </p:sp>
      <p:sp>
        <p:nvSpPr>
          <p:cNvPr id="36" name="Text 34"/>
          <p:cNvSpPr/>
          <p:nvPr/>
        </p:nvSpPr>
        <p:spPr>
          <a:xfrm>
            <a:off x="16193770" y="7490778"/>
            <a:ext cx="1027430"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21 / 28</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10932795"/>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17 · WORKED EXAMPLE</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A balanced quarterly scorecard.</a:t>
            </a:r>
            <a:endParaRPr lang="en-US" sz="4800" dirty="0"/>
          </a:p>
        </p:txBody>
      </p:sp>
      <p:sp>
        <p:nvSpPr>
          <p:cNvPr id="5" name="Shape 3"/>
          <p:cNvSpPr/>
          <p:nvPr/>
        </p:nvSpPr>
        <p:spPr>
          <a:xfrm>
            <a:off x="1143000" y="3068161"/>
            <a:ext cx="16002000" cy="9525"/>
          </a:xfrm>
          <a:prstGeom prst="rect">
            <a:avLst/>
          </a:prstGeom>
          <a:solidFill>
            <a:srgbClr val="0A0A0A"/>
          </a:solidFill>
          <a:ln/>
        </p:spPr>
      </p:sp>
      <p:sp>
        <p:nvSpPr>
          <p:cNvPr id="6" name="Shape 4"/>
          <p:cNvSpPr/>
          <p:nvPr/>
        </p:nvSpPr>
        <p:spPr>
          <a:xfrm>
            <a:off x="1143000" y="2501424"/>
            <a:ext cx="16002000" cy="19050"/>
          </a:xfrm>
          <a:prstGeom prst="rect">
            <a:avLst/>
          </a:prstGeom>
          <a:solidFill>
            <a:srgbClr val="0A0A0A"/>
          </a:solidFill>
          <a:ln/>
        </p:spPr>
      </p:sp>
      <p:sp>
        <p:nvSpPr>
          <p:cNvPr id="7" name="Text 5"/>
          <p:cNvSpPr/>
          <p:nvPr/>
        </p:nvSpPr>
        <p:spPr>
          <a:xfrm>
            <a:off x="1143000" y="2653824"/>
            <a:ext cx="198120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LENS</a:t>
            </a:r>
            <a:endParaRPr lang="en-US" sz="1800" dirty="0"/>
          </a:p>
        </p:txBody>
      </p:sp>
      <p:sp>
        <p:nvSpPr>
          <p:cNvPr id="8" name="Text 6"/>
          <p:cNvSpPr/>
          <p:nvPr/>
        </p:nvSpPr>
        <p:spPr>
          <a:xfrm>
            <a:off x="3048000" y="2653824"/>
            <a:ext cx="5574795"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METRIC</a:t>
            </a:r>
            <a:endParaRPr lang="en-US" sz="1800" dirty="0"/>
          </a:p>
        </p:txBody>
      </p:sp>
      <p:sp>
        <p:nvSpPr>
          <p:cNvPr id="9" name="Text 7"/>
          <p:cNvSpPr/>
          <p:nvPr/>
        </p:nvSpPr>
        <p:spPr>
          <a:xfrm>
            <a:off x="8460423" y="2653824"/>
            <a:ext cx="398202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TARGET</a:t>
            </a:r>
            <a:endParaRPr lang="en-US" sz="1800" dirty="0"/>
          </a:p>
        </p:txBody>
      </p:sp>
      <p:sp>
        <p:nvSpPr>
          <p:cNvPr id="10" name="Text 8"/>
          <p:cNvSpPr/>
          <p:nvPr/>
        </p:nvSpPr>
        <p:spPr>
          <a:xfrm>
            <a:off x="12326462" y="2653824"/>
            <a:ext cx="398202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ACTUAL</a:t>
            </a:r>
            <a:endParaRPr lang="en-US" sz="1800" dirty="0"/>
          </a:p>
        </p:txBody>
      </p:sp>
      <p:sp>
        <p:nvSpPr>
          <p:cNvPr id="11" name="Text 9"/>
          <p:cNvSpPr/>
          <p:nvPr/>
        </p:nvSpPr>
        <p:spPr>
          <a:xfrm>
            <a:off x="16116300" y="2653824"/>
            <a:ext cx="1028700" cy="319088"/>
          </a:xfrm>
          <a:prstGeom prst="rect">
            <a:avLst/>
          </a:prstGeom>
          <a:noFill/>
          <a:ln/>
        </p:spPr>
        <p:txBody>
          <a:bodyPr wrap="square" lIns="25400" tIns="25400" rIns="25400" bIns="25400" rtlCol="0" anchor="t">
            <a:normAutofit/>
          </a:bodyPr>
          <a:lstStyle/>
          <a:p>
            <a:pPr algn="r" indent="0" marL="0">
              <a:buNone/>
            </a:pPr>
            <a:r>
              <a:rPr lang="en-US" sz="1800" b="1" spc="252" kern="0" dirty="0">
                <a:solidFill>
                  <a:srgbClr val="6B6B6B"/>
                </a:solidFill>
                <a:latin typeface="Arial" pitchFamily="34" charset="0"/>
                <a:ea typeface="Arial" pitchFamily="34" charset="-122"/>
                <a:cs typeface="Arial" pitchFamily="34" charset="-120"/>
              </a:rPr>
              <a:t>STATUS</a:t>
            </a:r>
            <a:endParaRPr lang="en-US" sz="1800" dirty="0"/>
          </a:p>
        </p:txBody>
      </p:sp>
      <p:sp>
        <p:nvSpPr>
          <p:cNvPr id="12" name="Shape 10"/>
          <p:cNvSpPr/>
          <p:nvPr/>
        </p:nvSpPr>
        <p:spPr>
          <a:xfrm>
            <a:off x="1143000" y="3849688"/>
            <a:ext cx="16002000" cy="9525"/>
          </a:xfrm>
          <a:prstGeom prst="rect">
            <a:avLst/>
          </a:prstGeom>
          <a:solidFill>
            <a:srgbClr val="D9D9D6"/>
          </a:solidFill>
          <a:ln/>
        </p:spPr>
      </p:sp>
      <p:sp>
        <p:nvSpPr>
          <p:cNvPr id="13" name="Text 11"/>
          <p:cNvSpPr/>
          <p:nvPr/>
        </p:nvSpPr>
        <p:spPr>
          <a:xfrm>
            <a:off x="1143000" y="3311207"/>
            <a:ext cx="1981200" cy="34290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6B6B6B"/>
                </a:solidFill>
                <a:latin typeface="Arial" pitchFamily="34" charset="0"/>
                <a:ea typeface="Arial" pitchFamily="34" charset="-122"/>
                <a:cs typeface="Arial" pitchFamily="34" charset="-120"/>
              </a:rPr>
              <a:t>FLOW</a:t>
            </a:r>
            <a:endParaRPr lang="en-US" sz="1950" dirty="0"/>
          </a:p>
        </p:txBody>
      </p:sp>
      <p:sp>
        <p:nvSpPr>
          <p:cNvPr id="14" name="Text 12"/>
          <p:cNvSpPr/>
          <p:nvPr/>
        </p:nvSpPr>
        <p:spPr>
          <a:xfrm>
            <a:off x="3048000" y="3287395"/>
            <a:ext cx="557479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0A0A0A"/>
                </a:solidFill>
                <a:latin typeface="Arial" pitchFamily="34" charset="0"/>
                <a:ea typeface="Arial" pitchFamily="34" charset="-122"/>
                <a:cs typeface="Arial" pitchFamily="34" charset="-120"/>
              </a:rPr>
              <a:t>Rework ratio</a:t>
            </a:r>
            <a:endParaRPr lang="en-US" sz="2250" dirty="0"/>
          </a:p>
        </p:txBody>
      </p:sp>
      <p:sp>
        <p:nvSpPr>
          <p:cNvPr id="15" name="Text 13"/>
          <p:cNvSpPr/>
          <p:nvPr/>
        </p:nvSpPr>
        <p:spPr>
          <a:xfrm>
            <a:off x="8460423" y="3297079"/>
            <a:ext cx="398202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2B2B2B"/>
                </a:solidFill>
                <a:latin typeface="Arial" pitchFamily="34" charset="0"/>
                <a:ea typeface="Arial" pitchFamily="34" charset="-122"/>
                <a:cs typeface="Arial" pitchFamily="34" charset="-120"/>
              </a:rPr>
              <a:t>&lt; 18%</a:t>
            </a:r>
            <a:endParaRPr lang="en-US" sz="2250" dirty="0"/>
          </a:p>
        </p:txBody>
      </p:sp>
      <p:sp>
        <p:nvSpPr>
          <p:cNvPr id="16" name="Text 14"/>
          <p:cNvSpPr/>
          <p:nvPr/>
        </p:nvSpPr>
        <p:spPr>
          <a:xfrm>
            <a:off x="12326462" y="3287395"/>
            <a:ext cx="398202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22%</a:t>
            </a:r>
            <a:endParaRPr lang="en-US" sz="2250" dirty="0"/>
          </a:p>
        </p:txBody>
      </p:sp>
      <p:sp>
        <p:nvSpPr>
          <p:cNvPr id="17" name="Text 15"/>
          <p:cNvSpPr/>
          <p:nvPr/>
        </p:nvSpPr>
        <p:spPr>
          <a:xfrm>
            <a:off x="16116300" y="3287236"/>
            <a:ext cx="1028700" cy="391001"/>
          </a:xfrm>
          <a:prstGeom prst="rect">
            <a:avLst/>
          </a:prstGeom>
          <a:noFill/>
          <a:ln/>
        </p:spPr>
        <p:txBody>
          <a:bodyPr wrap="square" lIns="25400" tIns="25400" rIns="25400" bIns="25400" rtlCol="0" anchor="t">
            <a:normAutofit/>
          </a:bodyPr>
          <a:lstStyle/>
          <a:p>
            <a:pPr algn="r" indent="0" marL="0">
              <a:buNone/>
            </a:pPr>
            <a:r>
              <a:rPr lang="en-US" sz="2400" dirty="0">
                <a:solidFill>
                  <a:srgbClr val="6B6B6B"/>
                </a:solidFill>
                <a:latin typeface="Arial" pitchFamily="34" charset="0"/>
                <a:ea typeface="Arial" pitchFamily="34" charset="-122"/>
                <a:cs typeface="Arial" pitchFamily="34" charset="-120"/>
              </a:rPr>
              <a:t>○</a:t>
            </a:r>
            <a:endParaRPr lang="en-US" sz="2400" dirty="0"/>
          </a:p>
        </p:txBody>
      </p:sp>
      <p:sp>
        <p:nvSpPr>
          <p:cNvPr id="18" name="Shape 16"/>
          <p:cNvSpPr/>
          <p:nvPr/>
        </p:nvSpPr>
        <p:spPr>
          <a:xfrm>
            <a:off x="1143000" y="4631214"/>
            <a:ext cx="16002000" cy="9525"/>
          </a:xfrm>
          <a:prstGeom prst="rect">
            <a:avLst/>
          </a:prstGeom>
          <a:solidFill>
            <a:srgbClr val="D9D9D6"/>
          </a:solidFill>
          <a:ln/>
        </p:spPr>
      </p:sp>
      <p:sp>
        <p:nvSpPr>
          <p:cNvPr id="19" name="Text 17"/>
          <p:cNvSpPr/>
          <p:nvPr/>
        </p:nvSpPr>
        <p:spPr>
          <a:xfrm>
            <a:off x="1143000" y="4092734"/>
            <a:ext cx="1981200" cy="34290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6B6B6B"/>
                </a:solidFill>
                <a:latin typeface="Arial" pitchFamily="34" charset="0"/>
                <a:ea typeface="Arial" pitchFamily="34" charset="-122"/>
                <a:cs typeface="Arial" pitchFamily="34" charset="-120"/>
              </a:rPr>
              <a:t>FLOW</a:t>
            </a:r>
            <a:endParaRPr lang="en-US" sz="1950" dirty="0"/>
          </a:p>
        </p:txBody>
      </p:sp>
      <p:sp>
        <p:nvSpPr>
          <p:cNvPr id="20" name="Text 18"/>
          <p:cNvSpPr/>
          <p:nvPr/>
        </p:nvSpPr>
        <p:spPr>
          <a:xfrm>
            <a:off x="3048000" y="4068921"/>
            <a:ext cx="557479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0A0A0A"/>
                </a:solidFill>
                <a:latin typeface="Arial" pitchFamily="34" charset="0"/>
                <a:ea typeface="Arial" pitchFamily="34" charset="-122"/>
                <a:cs typeface="Arial" pitchFamily="34" charset="-120"/>
              </a:rPr>
              <a:t>Change fail rate</a:t>
            </a:r>
            <a:endParaRPr lang="en-US" sz="2250" dirty="0"/>
          </a:p>
        </p:txBody>
      </p:sp>
      <p:sp>
        <p:nvSpPr>
          <p:cNvPr id="21" name="Text 19"/>
          <p:cNvSpPr/>
          <p:nvPr/>
        </p:nvSpPr>
        <p:spPr>
          <a:xfrm>
            <a:off x="8460423" y="4078605"/>
            <a:ext cx="398202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2B2B2B"/>
                </a:solidFill>
                <a:latin typeface="Arial" pitchFamily="34" charset="0"/>
                <a:ea typeface="Arial" pitchFamily="34" charset="-122"/>
                <a:cs typeface="Arial" pitchFamily="34" charset="-120"/>
              </a:rPr>
              <a:t>&lt; 10%</a:t>
            </a:r>
            <a:endParaRPr lang="en-US" sz="2250" dirty="0"/>
          </a:p>
        </p:txBody>
      </p:sp>
      <p:sp>
        <p:nvSpPr>
          <p:cNvPr id="22" name="Text 20"/>
          <p:cNvSpPr/>
          <p:nvPr/>
        </p:nvSpPr>
        <p:spPr>
          <a:xfrm>
            <a:off x="12326462" y="4068921"/>
            <a:ext cx="398202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7%</a:t>
            </a:r>
            <a:endParaRPr lang="en-US" sz="2250" dirty="0"/>
          </a:p>
        </p:txBody>
      </p:sp>
      <p:sp>
        <p:nvSpPr>
          <p:cNvPr id="23" name="Text 21"/>
          <p:cNvSpPr/>
          <p:nvPr/>
        </p:nvSpPr>
        <p:spPr>
          <a:xfrm>
            <a:off x="16116300" y="4068763"/>
            <a:ext cx="1028700" cy="391001"/>
          </a:xfrm>
          <a:prstGeom prst="rect">
            <a:avLst/>
          </a:prstGeom>
          <a:noFill/>
          <a:ln/>
        </p:spPr>
        <p:txBody>
          <a:bodyPr wrap="square" lIns="25400" tIns="25400" rIns="25400" bIns="25400" rtlCol="0" anchor="t">
            <a:normAutofit/>
          </a:bodyPr>
          <a:lstStyle/>
          <a:p>
            <a:pPr algn="r" indent="0" marL="0">
              <a:buNone/>
            </a:pPr>
            <a:r>
              <a:rPr lang="en-US" sz="2400" dirty="0">
                <a:solidFill>
                  <a:srgbClr val="0A0A0A"/>
                </a:solidFill>
                <a:latin typeface="Arial" pitchFamily="34" charset="0"/>
                <a:ea typeface="Arial" pitchFamily="34" charset="-122"/>
                <a:cs typeface="Arial" pitchFamily="34" charset="-120"/>
              </a:rPr>
              <a:t>●</a:t>
            </a:r>
            <a:endParaRPr lang="en-US" sz="2400" dirty="0"/>
          </a:p>
        </p:txBody>
      </p:sp>
      <p:sp>
        <p:nvSpPr>
          <p:cNvPr id="24" name="Shape 22"/>
          <p:cNvSpPr/>
          <p:nvPr/>
        </p:nvSpPr>
        <p:spPr>
          <a:xfrm>
            <a:off x="1143000" y="5412740"/>
            <a:ext cx="16002000" cy="9525"/>
          </a:xfrm>
          <a:prstGeom prst="rect">
            <a:avLst/>
          </a:prstGeom>
          <a:solidFill>
            <a:srgbClr val="D9D9D6"/>
          </a:solidFill>
          <a:ln/>
        </p:spPr>
      </p:sp>
      <p:sp>
        <p:nvSpPr>
          <p:cNvPr id="25" name="Text 23"/>
          <p:cNvSpPr/>
          <p:nvPr/>
        </p:nvSpPr>
        <p:spPr>
          <a:xfrm>
            <a:off x="1143000" y="4874260"/>
            <a:ext cx="1981200" cy="34290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6B6B6B"/>
                </a:solidFill>
                <a:latin typeface="Arial" pitchFamily="34" charset="0"/>
                <a:ea typeface="Arial" pitchFamily="34" charset="-122"/>
                <a:cs typeface="Arial" pitchFamily="34" charset="-120"/>
              </a:rPr>
              <a:t>FLOW</a:t>
            </a:r>
            <a:endParaRPr lang="en-US" sz="1950" dirty="0"/>
          </a:p>
        </p:txBody>
      </p:sp>
      <p:sp>
        <p:nvSpPr>
          <p:cNvPr id="26" name="Text 24"/>
          <p:cNvSpPr/>
          <p:nvPr/>
        </p:nvSpPr>
        <p:spPr>
          <a:xfrm>
            <a:off x="3048000" y="4850448"/>
            <a:ext cx="557479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0A0A0A"/>
                </a:solidFill>
                <a:latin typeface="Arial" pitchFamily="34" charset="0"/>
                <a:ea typeface="Arial" pitchFamily="34" charset="-122"/>
                <a:cs typeface="Arial" pitchFamily="34" charset="-120"/>
              </a:rPr>
              <a:t>Defect half-life</a:t>
            </a:r>
            <a:endParaRPr lang="en-US" sz="2250" dirty="0"/>
          </a:p>
        </p:txBody>
      </p:sp>
      <p:sp>
        <p:nvSpPr>
          <p:cNvPr id="27" name="Text 25"/>
          <p:cNvSpPr/>
          <p:nvPr/>
        </p:nvSpPr>
        <p:spPr>
          <a:xfrm>
            <a:off x="8460423" y="4860131"/>
            <a:ext cx="398202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2B2B2B"/>
                </a:solidFill>
                <a:latin typeface="Arial" pitchFamily="34" charset="0"/>
                <a:ea typeface="Arial" pitchFamily="34" charset="-122"/>
                <a:cs typeface="Arial" pitchFamily="34" charset="-120"/>
              </a:rPr>
              <a:t>&gt; 21 days</a:t>
            </a:r>
            <a:endParaRPr lang="en-US" sz="2250" dirty="0"/>
          </a:p>
        </p:txBody>
      </p:sp>
      <p:sp>
        <p:nvSpPr>
          <p:cNvPr id="28" name="Text 26"/>
          <p:cNvSpPr/>
          <p:nvPr/>
        </p:nvSpPr>
        <p:spPr>
          <a:xfrm>
            <a:off x="12326462" y="4850448"/>
            <a:ext cx="398202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14d</a:t>
            </a:r>
            <a:endParaRPr lang="en-US" sz="2250" dirty="0"/>
          </a:p>
        </p:txBody>
      </p:sp>
      <p:sp>
        <p:nvSpPr>
          <p:cNvPr id="29" name="Text 27"/>
          <p:cNvSpPr/>
          <p:nvPr/>
        </p:nvSpPr>
        <p:spPr>
          <a:xfrm>
            <a:off x="16116300" y="4850289"/>
            <a:ext cx="1028700" cy="391001"/>
          </a:xfrm>
          <a:prstGeom prst="rect">
            <a:avLst/>
          </a:prstGeom>
          <a:noFill/>
          <a:ln/>
        </p:spPr>
        <p:txBody>
          <a:bodyPr wrap="square" lIns="25400" tIns="25400" rIns="25400" bIns="25400" rtlCol="0" anchor="t">
            <a:normAutofit/>
          </a:bodyPr>
          <a:lstStyle/>
          <a:p>
            <a:pPr algn="r" indent="0" marL="0">
              <a:buNone/>
            </a:pPr>
            <a:r>
              <a:rPr lang="en-US" sz="2400" dirty="0">
                <a:solidFill>
                  <a:srgbClr val="6B6B6B"/>
                </a:solidFill>
                <a:latin typeface="Arial" pitchFamily="34" charset="0"/>
                <a:ea typeface="Arial" pitchFamily="34" charset="-122"/>
                <a:cs typeface="Arial" pitchFamily="34" charset="-120"/>
              </a:rPr>
              <a:t>○</a:t>
            </a:r>
            <a:endParaRPr lang="en-US" sz="2400" dirty="0"/>
          </a:p>
        </p:txBody>
      </p:sp>
      <p:sp>
        <p:nvSpPr>
          <p:cNvPr id="30" name="Shape 28"/>
          <p:cNvSpPr/>
          <p:nvPr/>
        </p:nvSpPr>
        <p:spPr>
          <a:xfrm>
            <a:off x="1143000" y="6194266"/>
            <a:ext cx="16002000" cy="9525"/>
          </a:xfrm>
          <a:prstGeom prst="rect">
            <a:avLst/>
          </a:prstGeom>
          <a:solidFill>
            <a:srgbClr val="D9D9D6"/>
          </a:solidFill>
          <a:ln/>
        </p:spPr>
      </p:sp>
      <p:sp>
        <p:nvSpPr>
          <p:cNvPr id="31" name="Text 29"/>
          <p:cNvSpPr/>
          <p:nvPr/>
        </p:nvSpPr>
        <p:spPr>
          <a:xfrm>
            <a:off x="1143000" y="5655786"/>
            <a:ext cx="1981200" cy="34290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6B6B6B"/>
                </a:solidFill>
                <a:latin typeface="Arial" pitchFamily="34" charset="0"/>
                <a:ea typeface="Arial" pitchFamily="34" charset="-122"/>
                <a:cs typeface="Arial" pitchFamily="34" charset="-120"/>
              </a:rPr>
              <a:t>EXPERIENCE</a:t>
            </a:r>
            <a:endParaRPr lang="en-US" sz="1950" dirty="0"/>
          </a:p>
        </p:txBody>
      </p:sp>
      <p:sp>
        <p:nvSpPr>
          <p:cNvPr id="32" name="Text 30"/>
          <p:cNvSpPr/>
          <p:nvPr/>
        </p:nvSpPr>
        <p:spPr>
          <a:xfrm>
            <a:off x="3048000" y="5631974"/>
            <a:ext cx="557479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0A0A0A"/>
                </a:solidFill>
                <a:latin typeface="Arial" pitchFamily="34" charset="0"/>
                <a:ea typeface="Arial" pitchFamily="34" charset="-122"/>
                <a:cs typeface="Arial" pitchFamily="34" charset="-120"/>
              </a:rPr>
              <a:t>Review latency (p50)</a:t>
            </a:r>
            <a:endParaRPr lang="en-US" sz="2250" dirty="0"/>
          </a:p>
        </p:txBody>
      </p:sp>
      <p:sp>
        <p:nvSpPr>
          <p:cNvPr id="33" name="Text 31"/>
          <p:cNvSpPr/>
          <p:nvPr/>
        </p:nvSpPr>
        <p:spPr>
          <a:xfrm>
            <a:off x="8460423" y="5641657"/>
            <a:ext cx="398202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2B2B2B"/>
                </a:solidFill>
                <a:latin typeface="Arial" pitchFamily="34" charset="0"/>
                <a:ea typeface="Arial" pitchFamily="34" charset="-122"/>
                <a:cs typeface="Arial" pitchFamily="34" charset="-120"/>
              </a:rPr>
              <a:t>&lt; 4 hours</a:t>
            </a:r>
            <a:endParaRPr lang="en-US" sz="2250" dirty="0"/>
          </a:p>
        </p:txBody>
      </p:sp>
      <p:sp>
        <p:nvSpPr>
          <p:cNvPr id="34" name="Text 32"/>
          <p:cNvSpPr/>
          <p:nvPr/>
        </p:nvSpPr>
        <p:spPr>
          <a:xfrm>
            <a:off x="12326462" y="5631974"/>
            <a:ext cx="398202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6h</a:t>
            </a:r>
            <a:endParaRPr lang="en-US" sz="2250" dirty="0"/>
          </a:p>
        </p:txBody>
      </p:sp>
      <p:sp>
        <p:nvSpPr>
          <p:cNvPr id="35" name="Text 33"/>
          <p:cNvSpPr/>
          <p:nvPr/>
        </p:nvSpPr>
        <p:spPr>
          <a:xfrm>
            <a:off x="16116300" y="5631815"/>
            <a:ext cx="1028700" cy="391001"/>
          </a:xfrm>
          <a:prstGeom prst="rect">
            <a:avLst/>
          </a:prstGeom>
          <a:noFill/>
          <a:ln/>
        </p:spPr>
        <p:txBody>
          <a:bodyPr wrap="square" lIns="25400" tIns="25400" rIns="25400" bIns="25400" rtlCol="0" anchor="t">
            <a:normAutofit/>
          </a:bodyPr>
          <a:lstStyle/>
          <a:p>
            <a:pPr algn="r" indent="0" marL="0">
              <a:buNone/>
            </a:pPr>
            <a:r>
              <a:rPr lang="en-US" sz="2400" dirty="0">
                <a:solidFill>
                  <a:srgbClr val="6B6B6B"/>
                </a:solidFill>
                <a:latin typeface="Arial" pitchFamily="34" charset="0"/>
                <a:ea typeface="Arial" pitchFamily="34" charset="-122"/>
                <a:cs typeface="Arial" pitchFamily="34" charset="-120"/>
              </a:rPr>
              <a:t>○</a:t>
            </a:r>
            <a:endParaRPr lang="en-US" sz="2400" dirty="0"/>
          </a:p>
        </p:txBody>
      </p:sp>
      <p:sp>
        <p:nvSpPr>
          <p:cNvPr id="36" name="Shape 34"/>
          <p:cNvSpPr/>
          <p:nvPr/>
        </p:nvSpPr>
        <p:spPr>
          <a:xfrm>
            <a:off x="1143000" y="6975792"/>
            <a:ext cx="16002000" cy="9525"/>
          </a:xfrm>
          <a:prstGeom prst="rect">
            <a:avLst/>
          </a:prstGeom>
          <a:solidFill>
            <a:srgbClr val="D9D9D6"/>
          </a:solidFill>
          <a:ln/>
        </p:spPr>
      </p:sp>
      <p:sp>
        <p:nvSpPr>
          <p:cNvPr id="37" name="Text 35"/>
          <p:cNvSpPr/>
          <p:nvPr/>
        </p:nvSpPr>
        <p:spPr>
          <a:xfrm>
            <a:off x="1143000" y="6437312"/>
            <a:ext cx="1981200" cy="34290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6B6B6B"/>
                </a:solidFill>
                <a:latin typeface="Arial" pitchFamily="34" charset="0"/>
                <a:ea typeface="Arial" pitchFamily="34" charset="-122"/>
                <a:cs typeface="Arial" pitchFamily="34" charset="-120"/>
              </a:rPr>
              <a:t>EXPERIENCE</a:t>
            </a:r>
            <a:endParaRPr lang="en-US" sz="1950" dirty="0"/>
          </a:p>
        </p:txBody>
      </p:sp>
      <p:sp>
        <p:nvSpPr>
          <p:cNvPr id="38" name="Text 36"/>
          <p:cNvSpPr/>
          <p:nvPr/>
        </p:nvSpPr>
        <p:spPr>
          <a:xfrm>
            <a:off x="3048000" y="6413500"/>
            <a:ext cx="557479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0A0A0A"/>
                </a:solidFill>
                <a:latin typeface="Arial" pitchFamily="34" charset="0"/>
                <a:ea typeface="Arial" pitchFamily="34" charset="-122"/>
                <a:cs typeface="Arial" pitchFamily="34" charset="-120"/>
              </a:rPr>
              <a:t>Onboarding time</a:t>
            </a:r>
            <a:endParaRPr lang="en-US" sz="2250" dirty="0"/>
          </a:p>
        </p:txBody>
      </p:sp>
      <p:sp>
        <p:nvSpPr>
          <p:cNvPr id="39" name="Text 37"/>
          <p:cNvSpPr/>
          <p:nvPr/>
        </p:nvSpPr>
        <p:spPr>
          <a:xfrm>
            <a:off x="8460423" y="6423184"/>
            <a:ext cx="398202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2B2B2B"/>
                </a:solidFill>
                <a:latin typeface="Arial" pitchFamily="34" charset="0"/>
                <a:ea typeface="Arial" pitchFamily="34" charset="-122"/>
                <a:cs typeface="Arial" pitchFamily="34" charset="-120"/>
              </a:rPr>
              <a:t>&lt; 20 days</a:t>
            </a:r>
            <a:endParaRPr lang="en-US" sz="2250" dirty="0"/>
          </a:p>
        </p:txBody>
      </p:sp>
      <p:sp>
        <p:nvSpPr>
          <p:cNvPr id="40" name="Text 38"/>
          <p:cNvSpPr/>
          <p:nvPr/>
        </p:nvSpPr>
        <p:spPr>
          <a:xfrm>
            <a:off x="12326462" y="6413500"/>
            <a:ext cx="398202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16d</a:t>
            </a:r>
            <a:endParaRPr lang="en-US" sz="2250" dirty="0"/>
          </a:p>
        </p:txBody>
      </p:sp>
      <p:sp>
        <p:nvSpPr>
          <p:cNvPr id="41" name="Text 39"/>
          <p:cNvSpPr/>
          <p:nvPr/>
        </p:nvSpPr>
        <p:spPr>
          <a:xfrm>
            <a:off x="16116300" y="6413341"/>
            <a:ext cx="1028700" cy="391001"/>
          </a:xfrm>
          <a:prstGeom prst="rect">
            <a:avLst/>
          </a:prstGeom>
          <a:noFill/>
          <a:ln/>
        </p:spPr>
        <p:txBody>
          <a:bodyPr wrap="square" lIns="25400" tIns="25400" rIns="25400" bIns="25400" rtlCol="0" anchor="t">
            <a:normAutofit/>
          </a:bodyPr>
          <a:lstStyle/>
          <a:p>
            <a:pPr algn="r" indent="0" marL="0">
              <a:buNone/>
            </a:pPr>
            <a:r>
              <a:rPr lang="en-US" sz="2400" dirty="0">
                <a:solidFill>
                  <a:srgbClr val="0A0A0A"/>
                </a:solidFill>
                <a:latin typeface="Arial" pitchFamily="34" charset="0"/>
                <a:ea typeface="Arial" pitchFamily="34" charset="-122"/>
                <a:cs typeface="Arial" pitchFamily="34" charset="-120"/>
              </a:rPr>
              <a:t>●</a:t>
            </a:r>
            <a:endParaRPr lang="en-US" sz="2400" dirty="0"/>
          </a:p>
        </p:txBody>
      </p:sp>
      <p:sp>
        <p:nvSpPr>
          <p:cNvPr id="42" name="Shape 40"/>
          <p:cNvSpPr/>
          <p:nvPr/>
        </p:nvSpPr>
        <p:spPr>
          <a:xfrm>
            <a:off x="1143000" y="7757319"/>
            <a:ext cx="16002000" cy="9525"/>
          </a:xfrm>
          <a:prstGeom prst="rect">
            <a:avLst/>
          </a:prstGeom>
          <a:solidFill>
            <a:srgbClr val="D9D9D6"/>
          </a:solidFill>
          <a:ln/>
        </p:spPr>
      </p:sp>
      <p:sp>
        <p:nvSpPr>
          <p:cNvPr id="43" name="Text 41"/>
          <p:cNvSpPr/>
          <p:nvPr/>
        </p:nvSpPr>
        <p:spPr>
          <a:xfrm>
            <a:off x="1143000" y="7218838"/>
            <a:ext cx="1981200" cy="34290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6B6B6B"/>
                </a:solidFill>
                <a:latin typeface="Arial" pitchFamily="34" charset="0"/>
                <a:ea typeface="Arial" pitchFamily="34" charset="-122"/>
                <a:cs typeface="Arial" pitchFamily="34" charset="-120"/>
              </a:rPr>
              <a:t>EXPERIENCE</a:t>
            </a:r>
            <a:endParaRPr lang="en-US" sz="1950" dirty="0"/>
          </a:p>
        </p:txBody>
      </p:sp>
      <p:sp>
        <p:nvSpPr>
          <p:cNvPr id="44" name="Text 42"/>
          <p:cNvSpPr/>
          <p:nvPr/>
        </p:nvSpPr>
        <p:spPr>
          <a:xfrm>
            <a:off x="3048000" y="7195026"/>
            <a:ext cx="557479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0A0A0A"/>
                </a:solidFill>
                <a:latin typeface="Arial" pitchFamily="34" charset="0"/>
                <a:ea typeface="Arial" pitchFamily="34" charset="-122"/>
                <a:cs typeface="Arial" pitchFamily="34" charset="-120"/>
              </a:rPr>
              <a:t>AI trust index</a:t>
            </a:r>
            <a:endParaRPr lang="en-US" sz="2250" dirty="0"/>
          </a:p>
        </p:txBody>
      </p:sp>
      <p:sp>
        <p:nvSpPr>
          <p:cNvPr id="45" name="Text 43"/>
          <p:cNvSpPr/>
          <p:nvPr/>
        </p:nvSpPr>
        <p:spPr>
          <a:xfrm>
            <a:off x="8460423" y="7204710"/>
            <a:ext cx="398202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2B2B2B"/>
                </a:solidFill>
                <a:latin typeface="Arial" pitchFamily="34" charset="0"/>
                <a:ea typeface="Arial" pitchFamily="34" charset="-122"/>
                <a:cs typeface="Arial" pitchFamily="34" charset="-120"/>
              </a:rPr>
              <a:t>&gt; 60%</a:t>
            </a:r>
            <a:endParaRPr lang="en-US" sz="2250" dirty="0"/>
          </a:p>
        </p:txBody>
      </p:sp>
      <p:sp>
        <p:nvSpPr>
          <p:cNvPr id="46" name="Text 44"/>
          <p:cNvSpPr/>
          <p:nvPr/>
        </p:nvSpPr>
        <p:spPr>
          <a:xfrm>
            <a:off x="12326462" y="7195026"/>
            <a:ext cx="398202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71%</a:t>
            </a:r>
            <a:endParaRPr lang="en-US" sz="2250" dirty="0"/>
          </a:p>
        </p:txBody>
      </p:sp>
      <p:sp>
        <p:nvSpPr>
          <p:cNvPr id="47" name="Text 45"/>
          <p:cNvSpPr/>
          <p:nvPr/>
        </p:nvSpPr>
        <p:spPr>
          <a:xfrm>
            <a:off x="16116300" y="7194868"/>
            <a:ext cx="1028700" cy="391001"/>
          </a:xfrm>
          <a:prstGeom prst="rect">
            <a:avLst/>
          </a:prstGeom>
          <a:noFill/>
          <a:ln/>
        </p:spPr>
        <p:txBody>
          <a:bodyPr wrap="square" lIns="25400" tIns="25400" rIns="25400" bIns="25400" rtlCol="0" anchor="t">
            <a:normAutofit/>
          </a:bodyPr>
          <a:lstStyle/>
          <a:p>
            <a:pPr algn="r" indent="0" marL="0">
              <a:buNone/>
            </a:pPr>
            <a:r>
              <a:rPr lang="en-US" sz="2400" dirty="0">
                <a:solidFill>
                  <a:srgbClr val="0A0A0A"/>
                </a:solidFill>
                <a:latin typeface="Arial" pitchFamily="34" charset="0"/>
                <a:ea typeface="Arial" pitchFamily="34" charset="-122"/>
                <a:cs typeface="Arial" pitchFamily="34" charset="-120"/>
              </a:rPr>
              <a:t>●</a:t>
            </a:r>
            <a:endParaRPr lang="en-US" sz="2400" dirty="0"/>
          </a:p>
        </p:txBody>
      </p:sp>
      <p:sp>
        <p:nvSpPr>
          <p:cNvPr id="48" name="Shape 46"/>
          <p:cNvSpPr/>
          <p:nvPr/>
        </p:nvSpPr>
        <p:spPr>
          <a:xfrm>
            <a:off x="1143000" y="8538845"/>
            <a:ext cx="16002000" cy="9525"/>
          </a:xfrm>
          <a:prstGeom prst="rect">
            <a:avLst/>
          </a:prstGeom>
          <a:solidFill>
            <a:srgbClr val="D9D9D6"/>
          </a:solidFill>
          <a:ln/>
        </p:spPr>
      </p:sp>
      <p:sp>
        <p:nvSpPr>
          <p:cNvPr id="49" name="Text 47"/>
          <p:cNvSpPr/>
          <p:nvPr/>
        </p:nvSpPr>
        <p:spPr>
          <a:xfrm>
            <a:off x="1143000" y="8000365"/>
            <a:ext cx="1981200" cy="34290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6B6B6B"/>
                </a:solidFill>
                <a:latin typeface="Arial" pitchFamily="34" charset="0"/>
                <a:ea typeface="Arial" pitchFamily="34" charset="-122"/>
                <a:cs typeface="Arial" pitchFamily="34" charset="-120"/>
              </a:rPr>
              <a:t>IMPACT</a:t>
            </a:r>
            <a:endParaRPr lang="en-US" sz="1950" dirty="0"/>
          </a:p>
        </p:txBody>
      </p:sp>
      <p:sp>
        <p:nvSpPr>
          <p:cNvPr id="50" name="Text 48"/>
          <p:cNvSpPr/>
          <p:nvPr/>
        </p:nvSpPr>
        <p:spPr>
          <a:xfrm>
            <a:off x="3048000" y="7976553"/>
            <a:ext cx="557479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0A0A0A"/>
                </a:solidFill>
                <a:latin typeface="Arial" pitchFamily="34" charset="0"/>
                <a:ea typeface="Arial" pitchFamily="34" charset="-122"/>
                <a:cs typeface="Arial" pitchFamily="34" charset="-120"/>
              </a:rPr>
              <a:t>Features adopted / qtr</a:t>
            </a:r>
            <a:endParaRPr lang="en-US" sz="2250" dirty="0"/>
          </a:p>
        </p:txBody>
      </p:sp>
      <p:sp>
        <p:nvSpPr>
          <p:cNvPr id="51" name="Text 49"/>
          <p:cNvSpPr/>
          <p:nvPr/>
        </p:nvSpPr>
        <p:spPr>
          <a:xfrm>
            <a:off x="8460423" y="7986236"/>
            <a:ext cx="398202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2B2B2B"/>
                </a:solidFill>
                <a:latin typeface="Arial" pitchFamily="34" charset="0"/>
                <a:ea typeface="Arial" pitchFamily="34" charset="-122"/>
                <a:cs typeface="Arial" pitchFamily="34" charset="-120"/>
              </a:rPr>
              <a:t>&gt; 12</a:t>
            </a:r>
            <a:endParaRPr lang="en-US" sz="2250" dirty="0"/>
          </a:p>
        </p:txBody>
      </p:sp>
      <p:sp>
        <p:nvSpPr>
          <p:cNvPr id="52" name="Text 50"/>
          <p:cNvSpPr/>
          <p:nvPr/>
        </p:nvSpPr>
        <p:spPr>
          <a:xfrm>
            <a:off x="12326462" y="7976553"/>
            <a:ext cx="398202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9</a:t>
            </a:r>
            <a:endParaRPr lang="en-US" sz="2250" dirty="0"/>
          </a:p>
        </p:txBody>
      </p:sp>
      <p:sp>
        <p:nvSpPr>
          <p:cNvPr id="53" name="Text 51"/>
          <p:cNvSpPr/>
          <p:nvPr/>
        </p:nvSpPr>
        <p:spPr>
          <a:xfrm>
            <a:off x="16116300" y="7976394"/>
            <a:ext cx="1028700" cy="391001"/>
          </a:xfrm>
          <a:prstGeom prst="rect">
            <a:avLst/>
          </a:prstGeom>
          <a:noFill/>
          <a:ln/>
        </p:spPr>
        <p:txBody>
          <a:bodyPr wrap="square" lIns="25400" tIns="25400" rIns="25400" bIns="25400" rtlCol="0" anchor="t">
            <a:normAutofit/>
          </a:bodyPr>
          <a:lstStyle/>
          <a:p>
            <a:pPr algn="r" indent="0" marL="0">
              <a:buNone/>
            </a:pPr>
            <a:r>
              <a:rPr lang="en-US" sz="2400" dirty="0">
                <a:solidFill>
                  <a:srgbClr val="6B6B6B"/>
                </a:solidFill>
                <a:latin typeface="Arial" pitchFamily="34" charset="0"/>
                <a:ea typeface="Arial" pitchFamily="34" charset="-122"/>
                <a:cs typeface="Arial" pitchFamily="34" charset="-120"/>
              </a:rPr>
              <a:t>○</a:t>
            </a:r>
            <a:endParaRPr lang="en-US" sz="2400" dirty="0"/>
          </a:p>
        </p:txBody>
      </p:sp>
      <p:sp>
        <p:nvSpPr>
          <p:cNvPr id="54" name="Shape 52"/>
          <p:cNvSpPr/>
          <p:nvPr/>
        </p:nvSpPr>
        <p:spPr>
          <a:xfrm>
            <a:off x="1143000" y="9320371"/>
            <a:ext cx="16002000" cy="9525"/>
          </a:xfrm>
          <a:prstGeom prst="rect">
            <a:avLst/>
          </a:prstGeom>
          <a:solidFill>
            <a:srgbClr val="D9D9D6"/>
          </a:solidFill>
          <a:ln/>
        </p:spPr>
      </p:sp>
      <p:sp>
        <p:nvSpPr>
          <p:cNvPr id="55" name="Text 53"/>
          <p:cNvSpPr/>
          <p:nvPr/>
        </p:nvSpPr>
        <p:spPr>
          <a:xfrm>
            <a:off x="1143000" y="8781891"/>
            <a:ext cx="1981200" cy="34290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6B6B6B"/>
                </a:solidFill>
                <a:latin typeface="Arial" pitchFamily="34" charset="0"/>
                <a:ea typeface="Arial" pitchFamily="34" charset="-122"/>
                <a:cs typeface="Arial" pitchFamily="34" charset="-120"/>
              </a:rPr>
              <a:t>IMPACT</a:t>
            </a:r>
            <a:endParaRPr lang="en-US" sz="1950" dirty="0"/>
          </a:p>
        </p:txBody>
      </p:sp>
      <p:sp>
        <p:nvSpPr>
          <p:cNvPr id="56" name="Text 54"/>
          <p:cNvSpPr/>
          <p:nvPr/>
        </p:nvSpPr>
        <p:spPr>
          <a:xfrm>
            <a:off x="3048000" y="8758079"/>
            <a:ext cx="5574795" cy="390525"/>
          </a:xfrm>
          <a:prstGeom prst="rect">
            <a:avLst/>
          </a:prstGeom>
          <a:noFill/>
          <a:ln/>
        </p:spPr>
        <p:txBody>
          <a:bodyPr wrap="square" lIns="25400" tIns="25400" rIns="25400" bIns="25400" rtlCol="0" anchor="t">
            <a:normAutofit/>
          </a:bodyPr>
          <a:lstStyle/>
          <a:p>
            <a:pPr algn="l" indent="0" marL="0">
              <a:buNone/>
            </a:pPr>
            <a:r>
              <a:rPr lang="en-US" sz="2250" dirty="0">
                <a:solidFill>
                  <a:srgbClr val="0A0A0A"/>
                </a:solidFill>
                <a:latin typeface="Arial" pitchFamily="34" charset="0"/>
                <a:ea typeface="Arial" pitchFamily="34" charset="-122"/>
                <a:cs typeface="Arial" pitchFamily="34" charset="-120"/>
              </a:rPr>
              <a:t>Cost per eng-week</a:t>
            </a:r>
            <a:endParaRPr lang="en-US" sz="2250" dirty="0"/>
          </a:p>
        </p:txBody>
      </p:sp>
      <p:sp>
        <p:nvSpPr>
          <p:cNvPr id="57" name="Text 55"/>
          <p:cNvSpPr/>
          <p:nvPr/>
        </p:nvSpPr>
        <p:spPr>
          <a:xfrm>
            <a:off x="8460423" y="8767763"/>
            <a:ext cx="3982020" cy="371316"/>
          </a:xfrm>
          <a:prstGeom prst="rect">
            <a:avLst/>
          </a:prstGeom>
          <a:noFill/>
          <a:ln/>
        </p:spPr>
        <p:txBody>
          <a:bodyPr wrap="square" lIns="25400" tIns="25400" rIns="25400" bIns="25400" rtlCol="0" anchor="t">
            <a:normAutofit/>
          </a:bodyPr>
          <a:lstStyle/>
          <a:p>
            <a:pPr algn="l" indent="0" marL="0">
              <a:buNone/>
            </a:pPr>
            <a:r>
              <a:rPr lang="en-US" sz="2250" dirty="0">
                <a:solidFill>
                  <a:srgbClr val="2B2B2B"/>
                </a:solidFill>
                <a:latin typeface="Arial" pitchFamily="34" charset="0"/>
                <a:ea typeface="Arial" pitchFamily="34" charset="-122"/>
                <a:cs typeface="Arial" pitchFamily="34" charset="-120"/>
              </a:rPr>
              <a:t>&lt; baseline</a:t>
            </a:r>
            <a:endParaRPr lang="en-US" sz="2250" dirty="0"/>
          </a:p>
        </p:txBody>
      </p:sp>
      <p:sp>
        <p:nvSpPr>
          <p:cNvPr id="58" name="Text 56"/>
          <p:cNvSpPr/>
          <p:nvPr/>
        </p:nvSpPr>
        <p:spPr>
          <a:xfrm>
            <a:off x="12326462" y="8758079"/>
            <a:ext cx="3982020"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−8%</a:t>
            </a:r>
            <a:endParaRPr lang="en-US" sz="2250" dirty="0"/>
          </a:p>
        </p:txBody>
      </p:sp>
      <p:sp>
        <p:nvSpPr>
          <p:cNvPr id="59" name="Text 57"/>
          <p:cNvSpPr/>
          <p:nvPr/>
        </p:nvSpPr>
        <p:spPr>
          <a:xfrm>
            <a:off x="16116300" y="8757920"/>
            <a:ext cx="1028700" cy="391001"/>
          </a:xfrm>
          <a:prstGeom prst="rect">
            <a:avLst/>
          </a:prstGeom>
          <a:noFill/>
          <a:ln/>
        </p:spPr>
        <p:txBody>
          <a:bodyPr wrap="square" lIns="25400" tIns="25400" rIns="25400" bIns="25400" rtlCol="0" anchor="t">
            <a:normAutofit/>
          </a:bodyPr>
          <a:lstStyle/>
          <a:p>
            <a:pPr algn="r" indent="0" marL="0">
              <a:buNone/>
            </a:pPr>
            <a:r>
              <a:rPr lang="en-US" sz="2400" dirty="0">
                <a:solidFill>
                  <a:srgbClr val="0A0A0A"/>
                </a:solidFill>
                <a:latin typeface="Arial" pitchFamily="34" charset="0"/>
                <a:ea typeface="Arial" pitchFamily="34" charset="-122"/>
                <a:cs typeface="Arial" pitchFamily="34" charset="-120"/>
              </a:rPr>
              <a:t>●</a:t>
            </a:r>
            <a:endParaRPr lang="en-US" sz="2400" dirty="0"/>
          </a:p>
        </p:txBody>
      </p:sp>
      <p:sp>
        <p:nvSpPr>
          <p:cNvPr id="60" name="Text 58"/>
          <p:cNvSpPr/>
          <p:nvPr/>
        </p:nvSpPr>
        <p:spPr>
          <a:xfrm>
            <a:off x="1143000" y="9710896"/>
            <a:ext cx="16482060" cy="307499"/>
          </a:xfrm>
          <a:prstGeom prst="rect">
            <a:avLst/>
          </a:prstGeom>
          <a:noFill/>
          <a:ln/>
        </p:spPr>
        <p:txBody>
          <a:bodyPr wrap="square" lIns="25400" tIns="25400" rIns="25400" bIns="25400" rtlCol="0" anchor="t">
            <a:normAutofit/>
          </a:bodyPr>
          <a:lstStyle/>
          <a:p>
            <a:pPr algn="l" indent="0" marL="0">
              <a:buNone/>
            </a:pPr>
            <a:r>
              <a:rPr lang="en-US" sz="1800" i="1" dirty="0">
                <a:solidFill>
                  <a:srgbClr val="6B6B6B"/>
                </a:solidFill>
                <a:latin typeface="Arial" pitchFamily="34" charset="0"/>
                <a:ea typeface="Arial" pitchFamily="34" charset="-122"/>
                <a:cs typeface="Arial" pitchFamily="34" charset="-120"/>
              </a:rPr>
              <a:t>● On / ahead of target · ○ Behind target</a:t>
            </a:r>
            <a:endParaRPr lang="en-US" sz="1800" dirty="0"/>
          </a:p>
        </p:txBody>
      </p:sp>
      <p:sp>
        <p:nvSpPr>
          <p:cNvPr id="61" name="Shape 59"/>
          <p:cNvSpPr/>
          <p:nvPr/>
        </p:nvSpPr>
        <p:spPr>
          <a:xfrm>
            <a:off x="1143000" y="10089833"/>
            <a:ext cx="16002000" cy="9525"/>
          </a:xfrm>
          <a:prstGeom prst="rect">
            <a:avLst/>
          </a:prstGeom>
          <a:solidFill>
            <a:srgbClr val="D9D9D6"/>
          </a:solidFill>
          <a:ln/>
        </p:spPr>
      </p:sp>
      <p:sp>
        <p:nvSpPr>
          <p:cNvPr id="62" name="Text 60"/>
          <p:cNvSpPr/>
          <p:nvPr/>
        </p:nvSpPr>
        <p:spPr>
          <a:xfrm>
            <a:off x="1143000" y="10270808"/>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63" name="Text 61"/>
          <p:cNvSpPr/>
          <p:nvPr/>
        </p:nvSpPr>
        <p:spPr>
          <a:xfrm>
            <a:off x="8411845" y="10270808"/>
            <a:ext cx="3445862"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III · FRAMEWORKS</a:t>
            </a:r>
            <a:endParaRPr lang="en-US" sz="1800" dirty="0"/>
          </a:p>
        </p:txBody>
      </p:sp>
      <p:sp>
        <p:nvSpPr>
          <p:cNvPr id="64" name="Text 62"/>
          <p:cNvSpPr/>
          <p:nvPr/>
        </p:nvSpPr>
        <p:spPr>
          <a:xfrm>
            <a:off x="16147891" y="10270808"/>
            <a:ext cx="1073309"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22 / 28</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5646579"/>
          </a:xfrm>
          <a:prstGeom prst="rect">
            <a:avLst/>
          </a:prstGeom>
          <a:solidFill>
            <a:srgbClr val="FFFFFF"/>
          </a:solidFill>
          <a:ln/>
        </p:spPr>
      </p:sp>
      <p:sp>
        <p:nvSpPr>
          <p:cNvPr id="3" name="Text 1"/>
          <p:cNvSpPr/>
          <p:nvPr/>
        </p:nvSpPr>
        <p:spPr>
          <a:xfrm>
            <a:off x="1143000" y="952500"/>
            <a:ext cx="201295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6B6B6B"/>
                </a:solidFill>
                <a:latin typeface="Arial" pitchFamily="34" charset="0"/>
                <a:ea typeface="Arial" pitchFamily="34" charset="-122"/>
                <a:cs typeface="Arial" pitchFamily="34" charset="-120"/>
              </a:rPr>
              <a:t>PART 4 OF 4</a:t>
            </a:r>
            <a:endParaRPr lang="en-US" sz="1800" dirty="0"/>
          </a:p>
        </p:txBody>
      </p:sp>
      <p:sp>
        <p:nvSpPr>
          <p:cNvPr id="4" name="Shape 2"/>
          <p:cNvSpPr/>
          <p:nvPr/>
        </p:nvSpPr>
        <p:spPr>
          <a:xfrm>
            <a:off x="3384550" y="1166813"/>
            <a:ext cx="11099959" cy="9525"/>
          </a:xfrm>
          <a:prstGeom prst="rect">
            <a:avLst/>
          </a:prstGeom>
          <a:solidFill>
            <a:srgbClr val="D9D9D6"/>
          </a:solidFill>
          <a:ln/>
        </p:spPr>
      </p:sp>
      <p:sp>
        <p:nvSpPr>
          <p:cNvPr id="5" name="Text 3"/>
          <p:cNvSpPr/>
          <p:nvPr/>
        </p:nvSpPr>
        <p:spPr>
          <a:xfrm>
            <a:off x="14789309" y="952500"/>
            <a:ext cx="2431891"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6B6B6B"/>
                </a:solidFill>
                <a:latin typeface="Arial" pitchFamily="34" charset="0"/>
                <a:ea typeface="Arial" pitchFamily="34" charset="-122"/>
                <a:cs typeface="Arial" pitchFamily="34" charset="-120"/>
              </a:rPr>
              <a:t>ORGANIZATION</a:t>
            </a:r>
            <a:endParaRPr lang="en-US" sz="1800" dirty="0"/>
          </a:p>
        </p:txBody>
      </p:sp>
      <p:sp>
        <p:nvSpPr>
          <p:cNvPr id="6" name="Text 4"/>
          <p:cNvSpPr/>
          <p:nvPr/>
        </p:nvSpPr>
        <p:spPr>
          <a:xfrm>
            <a:off x="1143000" y="1233488"/>
            <a:ext cx="16482060" cy="2266950"/>
          </a:xfrm>
          <a:prstGeom prst="rect">
            <a:avLst/>
          </a:prstGeom>
          <a:noFill/>
          <a:ln/>
        </p:spPr>
        <p:txBody>
          <a:bodyPr wrap="square" lIns="25400" tIns="25400" rIns="25400" bIns="25400" rtlCol="0" anchor="t">
            <a:normAutofit/>
          </a:bodyPr>
          <a:lstStyle/>
          <a:p>
            <a:pPr algn="l" indent="0" marL="0">
              <a:lnSpc>
                <a:spcPct val="90000"/>
              </a:lnSpc>
              <a:buNone/>
            </a:pPr>
            <a:r>
              <a:rPr lang="en-US" sz="19500" b="1" spc="-780" kern="0" dirty="0">
                <a:solidFill>
                  <a:srgbClr val="E6E6E2"/>
                </a:solidFill>
                <a:latin typeface="Arial" pitchFamily="34" charset="0"/>
                <a:ea typeface="Arial" pitchFamily="34" charset="-122"/>
                <a:cs typeface="Arial" pitchFamily="34" charset="-120"/>
              </a:rPr>
              <a:t>0 4</a:t>
            </a:r>
            <a:endParaRPr lang="en-US" sz="19500" dirty="0"/>
          </a:p>
        </p:txBody>
      </p:sp>
      <p:sp>
        <p:nvSpPr>
          <p:cNvPr id="7" name="Text 5"/>
          <p:cNvSpPr/>
          <p:nvPr/>
        </p:nvSpPr>
        <p:spPr>
          <a:xfrm>
            <a:off x="1143000" y="3614738"/>
            <a:ext cx="14716125" cy="1107916"/>
          </a:xfrm>
          <a:prstGeom prst="rect">
            <a:avLst/>
          </a:prstGeom>
          <a:noFill/>
          <a:ln/>
        </p:spPr>
        <p:txBody>
          <a:bodyPr wrap="square" lIns="25400" tIns="25400" rIns="25400" bIns="25400" rtlCol="0" anchor="t">
            <a:normAutofit/>
          </a:bodyPr>
          <a:lstStyle/>
          <a:p>
            <a:pPr algn="l" indent="0" marL="0">
              <a:lnSpc>
                <a:spcPct val="107997"/>
              </a:lnSpc>
              <a:buNone/>
            </a:pPr>
            <a:r>
              <a:rPr lang="en-US" sz="7800" b="1" spc="-117" kern="0" dirty="0">
                <a:solidFill>
                  <a:srgbClr val="0A0A0A"/>
                </a:solidFill>
                <a:latin typeface="Arial" pitchFamily="34" charset="0"/>
                <a:ea typeface="Arial" pitchFamily="34" charset="-122"/>
                <a:cs typeface="Arial" pitchFamily="34" charset="-120"/>
              </a:rPr>
              <a:t>The organizational shift.</a:t>
            </a:r>
            <a:endParaRPr lang="en-US" sz="7800" dirty="0"/>
          </a:p>
        </p:txBody>
      </p:sp>
      <p:sp>
        <p:nvSpPr>
          <p:cNvPr id="8" name="Shape 6"/>
          <p:cNvSpPr/>
          <p:nvPr/>
        </p:nvSpPr>
        <p:spPr>
          <a:xfrm>
            <a:off x="1143000" y="4684554"/>
            <a:ext cx="16002000" cy="9525"/>
          </a:xfrm>
          <a:prstGeom prst="rect">
            <a:avLst/>
          </a:prstGeom>
          <a:solidFill>
            <a:srgbClr val="D9D9D6"/>
          </a:solidFill>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8195945"/>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18 · THE SHIFT</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From pyramids to pods.</a:t>
            </a:r>
            <a:endParaRPr lang="en-US" sz="4800" dirty="0"/>
          </a:p>
        </p:txBody>
      </p:sp>
      <p:sp>
        <p:nvSpPr>
          <p:cNvPr id="5" name="Shape 3"/>
          <p:cNvSpPr/>
          <p:nvPr/>
        </p:nvSpPr>
        <p:spPr>
          <a:xfrm>
            <a:off x="1143000" y="2501424"/>
            <a:ext cx="16002000" cy="19050"/>
          </a:xfrm>
          <a:prstGeom prst="rect">
            <a:avLst/>
          </a:prstGeom>
          <a:solidFill>
            <a:srgbClr val="0A0A0A"/>
          </a:solidFill>
          <a:ln/>
        </p:spPr>
      </p:sp>
      <p:sp>
        <p:nvSpPr>
          <p:cNvPr id="6" name="Shape 4"/>
          <p:cNvSpPr/>
          <p:nvPr/>
        </p:nvSpPr>
        <p:spPr>
          <a:xfrm>
            <a:off x="8829675" y="2901474"/>
            <a:ext cx="9525" cy="4341971"/>
          </a:xfrm>
          <a:prstGeom prst="rect">
            <a:avLst/>
          </a:prstGeom>
          <a:solidFill>
            <a:srgbClr val="D9D9D6"/>
          </a:solidFill>
          <a:ln/>
        </p:spPr>
      </p:sp>
      <p:sp>
        <p:nvSpPr>
          <p:cNvPr id="7" name="Text 5"/>
          <p:cNvSpPr/>
          <p:nvPr/>
        </p:nvSpPr>
        <p:spPr>
          <a:xfrm>
            <a:off x="3799046" y="2901474"/>
            <a:ext cx="2145982"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BEFORE · 2022</a:t>
            </a:r>
            <a:endParaRPr lang="en-US" sz="1800" dirty="0"/>
          </a:p>
        </p:txBody>
      </p:sp>
      <p:pic>
        <p:nvPicPr>
          <p:cNvPr id="8" name="Image 0" descr="preencoded.png">    </p:cNvPr>
          <p:cNvPicPr>
            <a:picLocks noChangeAspect="1"/>
          </p:cNvPicPr>
          <p:nvPr/>
        </p:nvPicPr>
        <p:blipFill>
          <a:blip r:embed="rId1"/>
          <a:stretch>
            <a:fillRect/>
          </a:stretch>
        </p:blipFill>
        <p:spPr>
          <a:xfrm>
            <a:off x="2833688" y="3449161"/>
            <a:ext cx="4000500" cy="2600325"/>
          </a:xfrm>
          <a:prstGeom prst="rect">
            <a:avLst/>
          </a:prstGeom>
        </p:spPr>
      </p:pic>
      <p:sp>
        <p:nvSpPr>
          <p:cNvPr id="9" name="Text 6"/>
          <p:cNvSpPr/>
          <p:nvPr/>
        </p:nvSpPr>
        <p:spPr>
          <a:xfrm>
            <a:off x="2466115" y="6316187"/>
            <a:ext cx="4735486" cy="595313"/>
          </a:xfrm>
          <a:prstGeom prst="rect">
            <a:avLst/>
          </a:prstGeom>
          <a:noFill/>
          <a:ln/>
        </p:spPr>
        <p:txBody>
          <a:bodyPr wrap="square" lIns="25400" tIns="25400" rIns="25400" bIns="25400" rtlCol="0" anchor="t">
            <a:normAutofit/>
          </a:bodyPr>
          <a:lstStyle/>
          <a:p>
            <a:pPr algn="ctr" indent="0" marL="0">
              <a:buNone/>
            </a:pPr>
            <a:r>
              <a:rPr lang="en-US" sz="3600" b="1" spc="-72" kern="0" dirty="0">
                <a:solidFill>
                  <a:srgbClr val="0A0A0A"/>
                </a:solidFill>
                <a:latin typeface="Arial" pitchFamily="34" charset="0"/>
                <a:ea typeface="Arial" pitchFamily="34" charset="-122"/>
                <a:cs typeface="Arial" pitchFamily="34" charset="-120"/>
              </a:rPr>
              <a:t>Team of 15</a:t>
            </a:r>
            <a:endParaRPr lang="en-US" sz="3600" dirty="0"/>
          </a:p>
        </p:txBody>
      </p:sp>
      <p:sp>
        <p:nvSpPr>
          <p:cNvPr id="10" name="Text 7"/>
          <p:cNvSpPr/>
          <p:nvPr/>
        </p:nvSpPr>
        <p:spPr>
          <a:xfrm>
            <a:off x="2466115" y="6949599"/>
            <a:ext cx="4735486" cy="331946"/>
          </a:xfrm>
          <a:prstGeom prst="rect">
            <a:avLst/>
          </a:prstGeom>
          <a:noFill/>
          <a:ln/>
        </p:spPr>
        <p:txBody>
          <a:bodyPr wrap="square" lIns="25400" tIns="25400" rIns="25400" bIns="25400" rtlCol="0" anchor="t">
            <a:normAutofit/>
          </a:bodyPr>
          <a:lstStyle/>
          <a:p>
            <a:pPr algn="ctr" indent="0" marL="0">
              <a:buNone/>
            </a:pPr>
            <a:r>
              <a:rPr lang="en-US" sz="1950" dirty="0">
                <a:solidFill>
                  <a:srgbClr val="6B6B6B"/>
                </a:solidFill>
                <a:latin typeface="Arial" pitchFamily="34" charset="0"/>
                <a:ea typeface="Arial" pitchFamily="34" charset="-122"/>
                <a:cs typeface="Arial" pitchFamily="34" charset="-120"/>
              </a:rPr>
              <a:t>PM, tech lead, 2 seniors, 6 mids, 5 juniors</a:t>
            </a:r>
            <a:endParaRPr lang="en-US" sz="1950" dirty="0"/>
          </a:p>
        </p:txBody>
      </p:sp>
      <p:sp>
        <p:nvSpPr>
          <p:cNvPr id="11" name="Text 8"/>
          <p:cNvSpPr/>
          <p:nvPr/>
        </p:nvSpPr>
        <p:spPr>
          <a:xfrm>
            <a:off x="12349797" y="2901474"/>
            <a:ext cx="1970246"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01E5C"/>
                </a:solidFill>
                <a:latin typeface="Arial" pitchFamily="34" charset="0"/>
                <a:ea typeface="Arial" pitchFamily="34" charset="-122"/>
                <a:cs typeface="Arial" pitchFamily="34" charset="-120"/>
              </a:rPr>
              <a:t>AFTER · 2026</a:t>
            </a:r>
            <a:endParaRPr lang="en-US" sz="1800" dirty="0"/>
          </a:p>
        </p:txBody>
      </p:sp>
      <p:pic>
        <p:nvPicPr>
          <p:cNvPr id="12" name="Image 1" descr="preencoded.png">    </p:cNvPr>
          <p:cNvPicPr>
            <a:picLocks noChangeAspect="1"/>
          </p:cNvPicPr>
          <p:nvPr/>
        </p:nvPicPr>
        <p:blipFill>
          <a:blip r:embed="rId2"/>
          <a:stretch>
            <a:fillRect/>
          </a:stretch>
        </p:blipFill>
        <p:spPr>
          <a:xfrm>
            <a:off x="11296650" y="3449161"/>
            <a:ext cx="4000500" cy="2600325"/>
          </a:xfrm>
          <a:prstGeom prst="rect">
            <a:avLst/>
          </a:prstGeom>
        </p:spPr>
      </p:pic>
      <p:sp>
        <p:nvSpPr>
          <p:cNvPr id="13" name="Text 9"/>
          <p:cNvSpPr/>
          <p:nvPr/>
        </p:nvSpPr>
        <p:spPr>
          <a:xfrm>
            <a:off x="10562971" y="6316187"/>
            <a:ext cx="5467858" cy="595313"/>
          </a:xfrm>
          <a:prstGeom prst="rect">
            <a:avLst/>
          </a:prstGeom>
          <a:noFill/>
          <a:ln/>
        </p:spPr>
        <p:txBody>
          <a:bodyPr wrap="square" lIns="25400" tIns="25400" rIns="25400" bIns="25400" rtlCol="0" anchor="t">
            <a:normAutofit/>
          </a:bodyPr>
          <a:lstStyle/>
          <a:p>
            <a:pPr algn="ctr" indent="0" marL="0">
              <a:buNone/>
            </a:pPr>
            <a:r>
              <a:rPr lang="en-US" sz="3600" b="1" spc="-72" kern="0" dirty="0">
                <a:solidFill>
                  <a:srgbClr val="001E5C"/>
                </a:solidFill>
                <a:latin typeface="Arial" pitchFamily="34" charset="0"/>
                <a:ea typeface="Arial" pitchFamily="34" charset="-122"/>
                <a:cs typeface="Arial" pitchFamily="34" charset="-120"/>
              </a:rPr>
              <a:t>Pod of 3</a:t>
            </a:r>
            <a:endParaRPr lang="en-US" sz="3600" dirty="0"/>
          </a:p>
        </p:txBody>
      </p:sp>
      <p:sp>
        <p:nvSpPr>
          <p:cNvPr id="14" name="Text 10"/>
          <p:cNvSpPr/>
          <p:nvPr/>
        </p:nvSpPr>
        <p:spPr>
          <a:xfrm>
            <a:off x="10562971" y="6949599"/>
            <a:ext cx="5467858" cy="331946"/>
          </a:xfrm>
          <a:prstGeom prst="rect">
            <a:avLst/>
          </a:prstGeom>
          <a:noFill/>
          <a:ln/>
        </p:spPr>
        <p:txBody>
          <a:bodyPr wrap="square" lIns="25400" tIns="25400" rIns="25400" bIns="25400" rtlCol="0" anchor="t">
            <a:normAutofit/>
          </a:bodyPr>
          <a:lstStyle/>
          <a:p>
            <a:pPr algn="ctr" indent="0" marL="0">
              <a:buNone/>
            </a:pPr>
            <a:r>
              <a:rPr lang="en-US" sz="1950" dirty="0">
                <a:solidFill>
                  <a:srgbClr val="6B6B6B"/>
                </a:solidFill>
                <a:latin typeface="Arial" pitchFamily="34" charset="0"/>
                <a:ea typeface="Arial" pitchFamily="34" charset="-122"/>
                <a:cs typeface="Arial" pitchFamily="34" charset="-120"/>
              </a:rPr>
              <a:t>Same charter, same surface area, different math</a:t>
            </a:r>
            <a:endParaRPr lang="en-US" sz="1950" dirty="0"/>
          </a:p>
        </p:txBody>
      </p:sp>
      <p:sp>
        <p:nvSpPr>
          <p:cNvPr id="15" name="Shape 11"/>
          <p:cNvSpPr/>
          <p:nvPr/>
        </p:nvSpPr>
        <p:spPr>
          <a:xfrm>
            <a:off x="1143000" y="7352983"/>
            <a:ext cx="16002000" cy="9525"/>
          </a:xfrm>
          <a:prstGeom prst="rect">
            <a:avLst/>
          </a:prstGeom>
          <a:solidFill>
            <a:srgbClr val="D9D9D6"/>
          </a:solidFill>
          <a:ln/>
        </p:spPr>
      </p:sp>
      <p:sp>
        <p:nvSpPr>
          <p:cNvPr id="16" name="Text 12"/>
          <p:cNvSpPr/>
          <p:nvPr/>
        </p:nvSpPr>
        <p:spPr>
          <a:xfrm>
            <a:off x="1143000" y="7533958"/>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17" name="Text 13"/>
          <p:cNvSpPr/>
          <p:nvPr/>
        </p:nvSpPr>
        <p:spPr>
          <a:xfrm>
            <a:off x="8329295" y="7533958"/>
            <a:ext cx="360986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IV · ORGANIZATION</a:t>
            </a:r>
            <a:endParaRPr lang="en-US" sz="1800" dirty="0"/>
          </a:p>
        </p:txBody>
      </p:sp>
      <p:sp>
        <p:nvSpPr>
          <p:cNvPr id="18" name="Text 14"/>
          <p:cNvSpPr/>
          <p:nvPr/>
        </p:nvSpPr>
        <p:spPr>
          <a:xfrm>
            <a:off x="16142176" y="7533958"/>
            <a:ext cx="1079024"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24 / 28</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7314248"/>
          </a:xfrm>
          <a:prstGeom prst="rect">
            <a:avLst/>
          </a:prstGeom>
          <a:solidFill>
            <a:srgbClr val="FAFAF7"/>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19 · THESIS</a:t>
            </a:r>
            <a:endParaRPr lang="en-US" sz="1800" dirty="0"/>
          </a:p>
        </p:txBody>
      </p:sp>
      <p:sp>
        <p:nvSpPr>
          <p:cNvPr id="4" name="Text 2"/>
          <p:cNvSpPr/>
          <p:nvPr/>
        </p:nvSpPr>
        <p:spPr>
          <a:xfrm>
            <a:off x="1143000" y="1233488"/>
            <a:ext cx="15697200" cy="960120"/>
          </a:xfrm>
          <a:prstGeom prst="rect">
            <a:avLst/>
          </a:prstGeom>
          <a:noFill/>
          <a:ln/>
        </p:spPr>
        <p:txBody>
          <a:bodyPr wrap="square" lIns="25400" tIns="25400" rIns="25400" bIns="25400" rtlCol="0" anchor="t">
            <a:normAutofit/>
          </a:bodyPr>
          <a:lstStyle/>
          <a:p>
            <a:pPr algn="l" indent="0" marL="0">
              <a:lnSpc>
                <a:spcPct val="110000"/>
              </a:lnSpc>
              <a:buNone/>
            </a:pPr>
            <a:r>
              <a:rPr lang="en-US" sz="6600" b="1" spc="-99" kern="0" dirty="0">
                <a:solidFill>
                  <a:srgbClr val="0A0A0A"/>
                </a:solidFill>
                <a:latin typeface="Arial" pitchFamily="34" charset="0"/>
                <a:ea typeface="Arial" pitchFamily="34" charset="-122"/>
                <a:cs typeface="Arial" pitchFamily="34" charset="-120"/>
              </a:rPr>
              <a:t>The unit of productivity is shrinking.</a:t>
            </a:r>
            <a:endParaRPr lang="en-US" sz="6600" dirty="0"/>
          </a:p>
        </p:txBody>
      </p:sp>
      <p:sp>
        <p:nvSpPr>
          <p:cNvPr id="5" name="Text 3"/>
          <p:cNvSpPr/>
          <p:nvPr/>
        </p:nvSpPr>
        <p:spPr>
          <a:xfrm>
            <a:off x="1143000" y="2536507"/>
            <a:ext cx="12753975" cy="1426845"/>
          </a:xfrm>
          <a:prstGeom prst="rect">
            <a:avLst/>
          </a:prstGeom>
          <a:noFill/>
          <a:ln/>
        </p:spPr>
        <p:txBody>
          <a:bodyPr wrap="square" lIns="25400" tIns="25400" rIns="25400" bIns="25400" rtlCol="0" anchor="t">
            <a:normAutofit/>
          </a:bodyPr>
          <a:lstStyle/>
          <a:p>
            <a:pPr algn="l" indent="0" marL="0">
              <a:lnSpc>
                <a:spcPct val="135000"/>
              </a:lnSpc>
              <a:buNone/>
            </a:pPr>
            <a:r>
              <a:rPr lang="en-US" sz="2700" dirty="0">
                <a:solidFill>
                  <a:srgbClr val="2B2B2B"/>
                </a:solidFill>
                <a:latin typeface="Arial" pitchFamily="34" charset="0"/>
                <a:ea typeface="Arial" pitchFamily="34" charset="-122"/>
                <a:cs typeface="Arial" pitchFamily="34" charset="-120"/>
              </a:rPr>
              <a:t>A three-person pod with strong AI leverage is beginning to out-ship a fifteen-person team with weak leverage. The manager's role shifts from staffing projects to designing the minimum viable pod.</a:t>
            </a:r>
            <a:endParaRPr lang="en-US" sz="2700" dirty="0"/>
          </a:p>
        </p:txBody>
      </p:sp>
      <p:sp>
        <p:nvSpPr>
          <p:cNvPr id="6" name="Shape 4"/>
          <p:cNvSpPr/>
          <p:nvPr/>
        </p:nvSpPr>
        <p:spPr>
          <a:xfrm>
            <a:off x="1143000" y="3925253"/>
            <a:ext cx="16002000" cy="19050"/>
          </a:xfrm>
          <a:prstGeom prst="rect">
            <a:avLst/>
          </a:prstGeom>
          <a:solidFill>
            <a:srgbClr val="0A0A0A"/>
          </a:solidFill>
          <a:ln/>
        </p:spPr>
      </p:sp>
      <p:sp>
        <p:nvSpPr>
          <p:cNvPr id="7" name="Text 5"/>
          <p:cNvSpPr/>
          <p:nvPr/>
        </p:nvSpPr>
        <p:spPr>
          <a:xfrm>
            <a:off x="1143000" y="4249103"/>
            <a:ext cx="5180076"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b="1" spc="-198" kern="0" dirty="0">
                <a:solidFill>
                  <a:srgbClr val="001E5C"/>
                </a:solidFill>
                <a:latin typeface="Arial" pitchFamily="34" charset="0"/>
                <a:ea typeface="Arial" pitchFamily="34" charset="-122"/>
                <a:cs typeface="Arial" pitchFamily="34" charset="-120"/>
              </a:rPr>
              <a:t>2–5</a:t>
            </a:r>
            <a:endParaRPr lang="en-US" sz="6600" dirty="0"/>
          </a:p>
        </p:txBody>
      </p:sp>
      <p:sp>
        <p:nvSpPr>
          <p:cNvPr id="8" name="Text 6"/>
          <p:cNvSpPr/>
          <p:nvPr/>
        </p:nvSpPr>
        <p:spPr>
          <a:xfrm>
            <a:off x="1143000" y="5239702"/>
            <a:ext cx="5180076"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Engineers per pod</a:t>
            </a:r>
            <a:endParaRPr lang="en-US" sz="2250" dirty="0"/>
          </a:p>
        </p:txBody>
      </p:sp>
      <p:sp>
        <p:nvSpPr>
          <p:cNvPr id="9" name="Text 7"/>
          <p:cNvSpPr/>
          <p:nvPr/>
        </p:nvSpPr>
        <p:spPr>
          <a:xfrm>
            <a:off x="1143000" y="5668327"/>
            <a:ext cx="5180076" cy="73152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Enough for coverage; small enough to stay in head.</a:t>
            </a:r>
            <a:endParaRPr lang="en-US" sz="1950" dirty="0"/>
          </a:p>
        </p:txBody>
      </p:sp>
      <p:sp>
        <p:nvSpPr>
          <p:cNvPr id="10" name="Text 8"/>
          <p:cNvSpPr/>
          <p:nvPr/>
        </p:nvSpPr>
        <p:spPr>
          <a:xfrm>
            <a:off x="6629400" y="4249103"/>
            <a:ext cx="5180076"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b="1" spc="-198" kern="0" dirty="0">
                <a:solidFill>
                  <a:srgbClr val="001E5C"/>
                </a:solidFill>
                <a:latin typeface="Arial" pitchFamily="34" charset="0"/>
                <a:ea typeface="Arial" pitchFamily="34" charset="-122"/>
                <a:cs typeface="Arial" pitchFamily="34" charset="-120"/>
              </a:rPr>
              <a:t>1</a:t>
            </a:r>
            <a:endParaRPr lang="en-US" sz="6600" dirty="0"/>
          </a:p>
        </p:txBody>
      </p:sp>
      <p:sp>
        <p:nvSpPr>
          <p:cNvPr id="11" name="Text 9"/>
          <p:cNvSpPr/>
          <p:nvPr/>
        </p:nvSpPr>
        <p:spPr>
          <a:xfrm>
            <a:off x="6629400" y="5239702"/>
            <a:ext cx="5180076"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Clear owner per surface</a:t>
            </a:r>
            <a:endParaRPr lang="en-US" sz="2250" dirty="0"/>
          </a:p>
        </p:txBody>
      </p:sp>
      <p:sp>
        <p:nvSpPr>
          <p:cNvPr id="12" name="Text 10"/>
          <p:cNvSpPr/>
          <p:nvPr/>
        </p:nvSpPr>
        <p:spPr>
          <a:xfrm>
            <a:off x="6629400" y="5668327"/>
            <a:ext cx="5180076" cy="38481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No shared PM, no shared on-call.</a:t>
            </a:r>
            <a:endParaRPr lang="en-US" sz="1950" dirty="0"/>
          </a:p>
        </p:txBody>
      </p:sp>
      <p:sp>
        <p:nvSpPr>
          <p:cNvPr id="13" name="Text 11"/>
          <p:cNvSpPr/>
          <p:nvPr/>
        </p:nvSpPr>
        <p:spPr>
          <a:xfrm>
            <a:off x="12115800" y="4249103"/>
            <a:ext cx="5180076" cy="876300"/>
          </a:xfrm>
          <a:prstGeom prst="rect">
            <a:avLst/>
          </a:prstGeom>
          <a:noFill/>
          <a:ln/>
        </p:spPr>
        <p:txBody>
          <a:bodyPr wrap="square" lIns="25400" tIns="25400" rIns="25400" bIns="25400" rtlCol="0" anchor="t">
            <a:normAutofit/>
          </a:bodyPr>
          <a:lstStyle/>
          <a:p>
            <a:pPr algn="l" indent="0" marL="0">
              <a:lnSpc>
                <a:spcPct val="100000"/>
              </a:lnSpc>
              <a:buNone/>
            </a:pPr>
            <a:r>
              <a:rPr lang="en-US" sz="6600" b="1" spc="-198" kern="0" dirty="0">
                <a:solidFill>
                  <a:srgbClr val="001E5C"/>
                </a:solidFill>
                <a:latin typeface="Arial" pitchFamily="34" charset="0"/>
                <a:ea typeface="Arial" pitchFamily="34" charset="-122"/>
                <a:cs typeface="Arial" pitchFamily="34" charset="-120"/>
              </a:rPr>
              <a:t>On demand</a:t>
            </a:r>
            <a:endParaRPr lang="en-US" sz="6600" dirty="0"/>
          </a:p>
        </p:txBody>
      </p:sp>
      <p:sp>
        <p:nvSpPr>
          <p:cNvPr id="14" name="Text 12"/>
          <p:cNvSpPr/>
          <p:nvPr/>
        </p:nvSpPr>
        <p:spPr>
          <a:xfrm>
            <a:off x="12115800" y="5239702"/>
            <a:ext cx="5180076" cy="390525"/>
          </a:xfrm>
          <a:prstGeom prst="rect">
            <a:avLst/>
          </a:prstGeom>
          <a:noFill/>
          <a:ln/>
        </p:spPr>
        <p:txBody>
          <a:bodyPr wrap="square" lIns="25400" tIns="25400" rIns="25400" bIns="25400" rtlCol="0" anchor="t">
            <a:normAutofit/>
          </a:bodyPr>
          <a:lstStyle/>
          <a:p>
            <a:pPr algn="l" indent="0" marL="0">
              <a:buNone/>
            </a:pPr>
            <a:r>
              <a:rPr lang="en-US" sz="2250" b="1" dirty="0">
                <a:solidFill>
                  <a:srgbClr val="0A0A0A"/>
                </a:solidFill>
                <a:latin typeface="Arial" pitchFamily="34" charset="0"/>
                <a:ea typeface="Arial" pitchFamily="34" charset="-122"/>
                <a:cs typeface="Arial" pitchFamily="34" charset="-120"/>
              </a:rPr>
              <a:t>Agent capacity</a:t>
            </a:r>
            <a:endParaRPr lang="en-US" sz="2250" dirty="0"/>
          </a:p>
        </p:txBody>
      </p:sp>
      <p:sp>
        <p:nvSpPr>
          <p:cNvPr id="15" name="Text 13"/>
          <p:cNvSpPr/>
          <p:nvPr/>
        </p:nvSpPr>
        <p:spPr>
          <a:xfrm>
            <a:off x="12115800" y="5668327"/>
            <a:ext cx="5180076" cy="38481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Capacity is no longer the binding constraint.</a:t>
            </a:r>
            <a:endParaRPr lang="en-US" sz="1950" dirty="0"/>
          </a:p>
        </p:txBody>
      </p:sp>
      <p:sp>
        <p:nvSpPr>
          <p:cNvPr id="16" name="Shape 14"/>
          <p:cNvSpPr/>
          <p:nvPr/>
        </p:nvSpPr>
        <p:spPr>
          <a:xfrm>
            <a:off x="1143000" y="6471285"/>
            <a:ext cx="16002000" cy="9525"/>
          </a:xfrm>
          <a:prstGeom prst="rect">
            <a:avLst/>
          </a:prstGeom>
          <a:solidFill>
            <a:srgbClr val="D9D9D6"/>
          </a:solidFill>
          <a:ln/>
        </p:spPr>
      </p:sp>
      <p:sp>
        <p:nvSpPr>
          <p:cNvPr id="17" name="Text 15"/>
          <p:cNvSpPr/>
          <p:nvPr/>
        </p:nvSpPr>
        <p:spPr>
          <a:xfrm>
            <a:off x="1143000" y="6652260"/>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18" name="Text 16"/>
          <p:cNvSpPr/>
          <p:nvPr/>
        </p:nvSpPr>
        <p:spPr>
          <a:xfrm>
            <a:off x="8333740" y="6652260"/>
            <a:ext cx="360986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IV · ORGANIZATION</a:t>
            </a:r>
            <a:endParaRPr lang="en-US" sz="1800" dirty="0"/>
          </a:p>
        </p:txBody>
      </p:sp>
      <p:sp>
        <p:nvSpPr>
          <p:cNvPr id="19" name="Text 17"/>
          <p:cNvSpPr/>
          <p:nvPr/>
        </p:nvSpPr>
        <p:spPr>
          <a:xfrm>
            <a:off x="16150907" y="6652260"/>
            <a:ext cx="1070293"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25 / 28</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7821771"/>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20 · FOR MANAGERS</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Four implications, starting Monday.</a:t>
            </a:r>
            <a:endParaRPr lang="en-US" sz="4800" dirty="0"/>
          </a:p>
        </p:txBody>
      </p:sp>
      <p:sp>
        <p:nvSpPr>
          <p:cNvPr id="5" name="Shape 3"/>
          <p:cNvSpPr/>
          <p:nvPr/>
        </p:nvSpPr>
        <p:spPr>
          <a:xfrm>
            <a:off x="1143000" y="2577624"/>
            <a:ext cx="7696200" cy="9525"/>
          </a:xfrm>
          <a:prstGeom prst="rect">
            <a:avLst/>
          </a:prstGeom>
          <a:solidFill>
            <a:srgbClr val="D9D9D6"/>
          </a:solidFill>
          <a:ln/>
        </p:spPr>
      </p:sp>
      <p:sp>
        <p:nvSpPr>
          <p:cNvPr id="6" name="Text 4"/>
          <p:cNvSpPr/>
          <p:nvPr/>
        </p:nvSpPr>
        <p:spPr>
          <a:xfrm>
            <a:off x="1143000" y="2815749"/>
            <a:ext cx="647700" cy="184102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0 1</a:t>
            </a:r>
            <a:endParaRPr lang="en-US" sz="2100" dirty="0"/>
          </a:p>
        </p:txBody>
      </p:sp>
      <p:sp>
        <p:nvSpPr>
          <p:cNvPr id="7" name="Text 5"/>
          <p:cNvSpPr/>
          <p:nvPr/>
        </p:nvSpPr>
        <p:spPr>
          <a:xfrm>
            <a:off x="2057400" y="2815749"/>
            <a:ext cx="6985254"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Coach, rather than assign.</a:t>
            </a:r>
            <a:endParaRPr lang="en-US" sz="3300" dirty="0"/>
          </a:p>
        </p:txBody>
      </p:sp>
      <p:sp>
        <p:nvSpPr>
          <p:cNvPr id="8" name="Text 6"/>
          <p:cNvSpPr/>
          <p:nvPr/>
        </p:nvSpPr>
        <p:spPr>
          <a:xfrm>
            <a:off x="2057400" y="3418522"/>
            <a:ext cx="6985254" cy="123825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In a pod of three, every engineer is senior-adjacent. The management function shifts from staffing to amplifying.</a:t>
            </a:r>
            <a:endParaRPr lang="en-US" sz="2250" dirty="0"/>
          </a:p>
        </p:txBody>
      </p:sp>
      <p:sp>
        <p:nvSpPr>
          <p:cNvPr id="9" name="Shape 7"/>
          <p:cNvSpPr/>
          <p:nvPr/>
        </p:nvSpPr>
        <p:spPr>
          <a:xfrm>
            <a:off x="9448800" y="2577624"/>
            <a:ext cx="7696200" cy="9525"/>
          </a:xfrm>
          <a:prstGeom prst="rect">
            <a:avLst/>
          </a:prstGeom>
          <a:solidFill>
            <a:srgbClr val="D9D9D6"/>
          </a:solidFill>
          <a:ln/>
        </p:spPr>
      </p:sp>
      <p:sp>
        <p:nvSpPr>
          <p:cNvPr id="10" name="Text 8"/>
          <p:cNvSpPr/>
          <p:nvPr/>
        </p:nvSpPr>
        <p:spPr>
          <a:xfrm>
            <a:off x="9448800" y="2815749"/>
            <a:ext cx="647700" cy="184102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0 2</a:t>
            </a:r>
            <a:endParaRPr lang="en-US" sz="2100" dirty="0"/>
          </a:p>
        </p:txBody>
      </p:sp>
      <p:sp>
        <p:nvSpPr>
          <p:cNvPr id="11" name="Text 9"/>
          <p:cNvSpPr/>
          <p:nvPr/>
        </p:nvSpPr>
        <p:spPr>
          <a:xfrm>
            <a:off x="10363200" y="2815749"/>
            <a:ext cx="6985254"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Budget for review, not only build.</a:t>
            </a:r>
            <a:endParaRPr lang="en-US" sz="3300" dirty="0"/>
          </a:p>
        </p:txBody>
      </p:sp>
      <p:sp>
        <p:nvSpPr>
          <p:cNvPr id="12" name="Text 10"/>
          <p:cNvSpPr/>
          <p:nvPr/>
        </p:nvSpPr>
        <p:spPr>
          <a:xfrm>
            <a:off x="10363200" y="3418522"/>
            <a:ext cx="698525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AI halves write-time and doubles review-time. Plan capacity accordingly.</a:t>
            </a:r>
            <a:endParaRPr lang="en-US" sz="2250" dirty="0"/>
          </a:p>
        </p:txBody>
      </p:sp>
      <p:sp>
        <p:nvSpPr>
          <p:cNvPr id="13" name="Shape 11"/>
          <p:cNvSpPr/>
          <p:nvPr/>
        </p:nvSpPr>
        <p:spPr>
          <a:xfrm>
            <a:off x="1143000" y="5228273"/>
            <a:ext cx="7696200" cy="9525"/>
          </a:xfrm>
          <a:prstGeom prst="rect">
            <a:avLst/>
          </a:prstGeom>
          <a:solidFill>
            <a:srgbClr val="D9D9D6"/>
          </a:solidFill>
          <a:ln/>
        </p:spPr>
      </p:sp>
      <p:sp>
        <p:nvSpPr>
          <p:cNvPr id="14" name="Text 12"/>
          <p:cNvSpPr/>
          <p:nvPr/>
        </p:nvSpPr>
        <p:spPr>
          <a:xfrm>
            <a:off x="1143000" y="5466398"/>
            <a:ext cx="647700" cy="144097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0 3</a:t>
            </a:r>
            <a:endParaRPr lang="en-US" sz="2100" dirty="0"/>
          </a:p>
        </p:txBody>
      </p:sp>
      <p:sp>
        <p:nvSpPr>
          <p:cNvPr id="15" name="Text 13"/>
          <p:cNvSpPr/>
          <p:nvPr/>
        </p:nvSpPr>
        <p:spPr>
          <a:xfrm>
            <a:off x="2057400" y="5466398"/>
            <a:ext cx="6985254"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Flatten the reporting tree.</a:t>
            </a:r>
            <a:endParaRPr lang="en-US" sz="3300" dirty="0"/>
          </a:p>
        </p:txBody>
      </p:sp>
      <p:sp>
        <p:nvSpPr>
          <p:cNvPr id="16" name="Text 14"/>
          <p:cNvSpPr/>
          <p:nvPr/>
        </p:nvSpPr>
        <p:spPr>
          <a:xfrm>
            <a:off x="2057400" y="6069171"/>
            <a:ext cx="698525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Fewer managers, broader spans of influence, higher expectations for written clarity.</a:t>
            </a:r>
            <a:endParaRPr lang="en-US" sz="2250" dirty="0"/>
          </a:p>
        </p:txBody>
      </p:sp>
      <p:sp>
        <p:nvSpPr>
          <p:cNvPr id="17" name="Shape 15"/>
          <p:cNvSpPr/>
          <p:nvPr/>
        </p:nvSpPr>
        <p:spPr>
          <a:xfrm>
            <a:off x="9448800" y="5228273"/>
            <a:ext cx="7696200" cy="9525"/>
          </a:xfrm>
          <a:prstGeom prst="rect">
            <a:avLst/>
          </a:prstGeom>
          <a:solidFill>
            <a:srgbClr val="D9D9D6"/>
          </a:solidFill>
          <a:ln/>
        </p:spPr>
      </p:sp>
      <p:sp>
        <p:nvSpPr>
          <p:cNvPr id="18" name="Text 16"/>
          <p:cNvSpPr/>
          <p:nvPr/>
        </p:nvSpPr>
        <p:spPr>
          <a:xfrm>
            <a:off x="9448800" y="5466398"/>
            <a:ext cx="647700" cy="1440974"/>
          </a:xfrm>
          <a:prstGeom prst="rect">
            <a:avLst/>
          </a:prstGeom>
          <a:noFill/>
          <a:ln/>
        </p:spPr>
        <p:txBody>
          <a:bodyPr wrap="square" lIns="25400" tIns="25400" rIns="25400" bIns="25400" rtlCol="0" anchor="t">
            <a:normAutofit/>
          </a:bodyPr>
          <a:lstStyle/>
          <a:p>
            <a:pPr algn="l" indent="0" marL="0">
              <a:buNone/>
            </a:pPr>
            <a:r>
              <a:rPr lang="en-US" sz="2100" b="1" spc="84" kern="0" dirty="0">
                <a:solidFill>
                  <a:srgbClr val="001E5C"/>
                </a:solidFill>
                <a:latin typeface="Arial" pitchFamily="34" charset="0"/>
                <a:ea typeface="Arial" pitchFamily="34" charset="-122"/>
                <a:cs typeface="Arial" pitchFamily="34" charset="-120"/>
              </a:rPr>
              <a:t>0 4</a:t>
            </a:r>
            <a:endParaRPr lang="en-US" sz="2100" dirty="0"/>
          </a:p>
        </p:txBody>
      </p:sp>
      <p:sp>
        <p:nvSpPr>
          <p:cNvPr id="19" name="Text 17"/>
          <p:cNvSpPr/>
          <p:nvPr/>
        </p:nvSpPr>
        <p:spPr>
          <a:xfrm>
            <a:off x="10363200" y="5466398"/>
            <a:ext cx="6985254" cy="507524"/>
          </a:xfrm>
          <a:prstGeom prst="rect">
            <a:avLst/>
          </a:prstGeom>
          <a:noFill/>
          <a:ln/>
        </p:spPr>
        <p:txBody>
          <a:bodyPr wrap="square" lIns="25400" tIns="25400" rIns="25400" bIns="25400" rtlCol="0" anchor="t">
            <a:normAutofit/>
          </a:bodyPr>
          <a:lstStyle/>
          <a:p>
            <a:pPr algn="l" indent="0" marL="0">
              <a:lnSpc>
                <a:spcPct val="112008"/>
              </a:lnSpc>
              <a:buNone/>
            </a:pPr>
            <a:r>
              <a:rPr lang="en-US" sz="3300" b="1" spc="-33" kern="0" dirty="0">
                <a:solidFill>
                  <a:srgbClr val="0A0A0A"/>
                </a:solidFill>
                <a:latin typeface="Arial" pitchFamily="34" charset="0"/>
                <a:ea typeface="Arial" pitchFamily="34" charset="-122"/>
                <a:cs typeface="Arial" pitchFamily="34" charset="-120"/>
              </a:rPr>
              <a:t>Invest in seniors early.</a:t>
            </a:r>
            <a:endParaRPr lang="en-US" sz="3300" dirty="0"/>
          </a:p>
        </p:txBody>
      </p:sp>
      <p:sp>
        <p:nvSpPr>
          <p:cNvPr id="20" name="Text 18"/>
          <p:cNvSpPr/>
          <p:nvPr/>
        </p:nvSpPr>
        <p:spPr>
          <a:xfrm>
            <a:off x="10363200" y="6069171"/>
            <a:ext cx="6985254"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Juniors receive the largest AI lift; seniors catch the mistakes. Hire composition matters.</a:t>
            </a:r>
            <a:endParaRPr lang="en-US" sz="2250" dirty="0"/>
          </a:p>
        </p:txBody>
      </p:sp>
      <p:sp>
        <p:nvSpPr>
          <p:cNvPr id="21" name="Shape 19"/>
          <p:cNvSpPr/>
          <p:nvPr/>
        </p:nvSpPr>
        <p:spPr>
          <a:xfrm>
            <a:off x="1143000" y="6978809"/>
            <a:ext cx="16002000" cy="9525"/>
          </a:xfrm>
          <a:prstGeom prst="rect">
            <a:avLst/>
          </a:prstGeom>
          <a:solidFill>
            <a:srgbClr val="D9D9D6"/>
          </a:solidFill>
          <a:ln/>
        </p:spPr>
      </p:sp>
      <p:sp>
        <p:nvSpPr>
          <p:cNvPr id="22" name="Text 20"/>
          <p:cNvSpPr/>
          <p:nvPr/>
        </p:nvSpPr>
        <p:spPr>
          <a:xfrm>
            <a:off x="1143000" y="7159784"/>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23" name="Text 21"/>
          <p:cNvSpPr/>
          <p:nvPr/>
        </p:nvSpPr>
        <p:spPr>
          <a:xfrm>
            <a:off x="8330565" y="7159784"/>
            <a:ext cx="3609866"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PART IV · ORGANIZATION</a:t>
            </a:r>
            <a:endParaRPr lang="en-US" sz="1800" dirty="0"/>
          </a:p>
        </p:txBody>
      </p:sp>
      <p:sp>
        <p:nvSpPr>
          <p:cNvPr id="24" name="Text 22"/>
          <p:cNvSpPr/>
          <p:nvPr/>
        </p:nvSpPr>
        <p:spPr>
          <a:xfrm>
            <a:off x="16144717" y="7159784"/>
            <a:ext cx="1076484"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26 / 28</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6927691"/>
          </a:xfrm>
          <a:prstGeom prst="rect">
            <a:avLst/>
          </a:prstGeom>
          <a:solidFill>
            <a:srgbClr val="FFFFFF"/>
          </a:solidFill>
          <a:ln/>
        </p:spPr>
      </p:sp>
      <p:sp>
        <p:nvSpPr>
          <p:cNvPr id="3" name="Text 1"/>
          <p:cNvSpPr/>
          <p:nvPr/>
        </p:nvSpPr>
        <p:spPr>
          <a:xfrm>
            <a:off x="1143000" y="952500"/>
            <a:ext cx="1648206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EXHIBIT 21 · IMPLEMENTATION</a:t>
            </a:r>
            <a:endParaRPr lang="en-US" sz="1800" dirty="0"/>
          </a:p>
        </p:txBody>
      </p:sp>
      <p:sp>
        <p:nvSpPr>
          <p:cNvPr id="4" name="Text 2"/>
          <p:cNvSpPr/>
          <p:nvPr/>
        </p:nvSpPr>
        <p:spPr>
          <a:xfrm>
            <a:off x="1143000" y="1462088"/>
            <a:ext cx="14716125" cy="696436"/>
          </a:xfrm>
          <a:prstGeom prst="rect">
            <a:avLst/>
          </a:prstGeom>
          <a:noFill/>
          <a:ln/>
        </p:spPr>
        <p:txBody>
          <a:bodyPr wrap="square" lIns="25400" tIns="25400" rIns="25400" bIns="25400" rtlCol="0" anchor="t">
            <a:normAutofit/>
          </a:bodyPr>
          <a:lstStyle/>
          <a:p>
            <a:pPr algn="l" indent="0" marL="0">
              <a:lnSpc>
                <a:spcPct val="107995"/>
              </a:lnSpc>
              <a:buNone/>
            </a:pPr>
            <a:r>
              <a:rPr lang="en-US" sz="4800" b="1" spc="-72" kern="0" dirty="0">
                <a:solidFill>
                  <a:srgbClr val="0A0A0A"/>
                </a:solidFill>
                <a:latin typeface="Arial" pitchFamily="34" charset="0"/>
                <a:ea typeface="Arial" pitchFamily="34" charset="-122"/>
                <a:cs typeface="Arial" pitchFamily="34" charset="-120"/>
              </a:rPr>
              <a:t>A ninety-day measurement reset.</a:t>
            </a:r>
            <a:endParaRPr lang="en-US" sz="4800" dirty="0"/>
          </a:p>
        </p:txBody>
      </p:sp>
      <p:sp>
        <p:nvSpPr>
          <p:cNvPr id="5" name="Shape 3"/>
          <p:cNvSpPr/>
          <p:nvPr/>
        </p:nvSpPr>
        <p:spPr>
          <a:xfrm>
            <a:off x="1143000" y="2577624"/>
            <a:ext cx="5130800" cy="3397568"/>
          </a:xfrm>
          <a:prstGeom prst="rect">
            <a:avLst/>
          </a:prstGeom>
          <a:solidFill>
            <a:srgbClr val="FAFAF7"/>
          </a:solidFill>
          <a:ln w="9525">
            <a:solidFill>
              <a:srgbClr val="D9D9D6"/>
            </a:solidFill>
            <a:prstDash val="solid"/>
          </a:ln>
        </p:spPr>
      </p:sp>
      <p:sp>
        <p:nvSpPr>
          <p:cNvPr id="6" name="Text 4"/>
          <p:cNvSpPr/>
          <p:nvPr/>
        </p:nvSpPr>
        <p:spPr>
          <a:xfrm>
            <a:off x="1609725" y="3044349"/>
            <a:ext cx="4323271"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A0A0A">
                    <a:alpha val="70000"/>
                  </a:srgbClr>
                </a:solidFill>
                <a:latin typeface="Arial" pitchFamily="34" charset="0"/>
                <a:ea typeface="Arial" pitchFamily="34" charset="-122"/>
                <a:cs typeface="Arial" pitchFamily="34" charset="-120"/>
              </a:rPr>
              <a:t>DAY 0–30</a:t>
            </a:r>
            <a:endParaRPr lang="en-US" sz="1800" dirty="0"/>
          </a:p>
        </p:txBody>
      </p:sp>
      <p:sp>
        <p:nvSpPr>
          <p:cNvPr id="7" name="Text 5"/>
          <p:cNvSpPr/>
          <p:nvPr/>
        </p:nvSpPr>
        <p:spPr>
          <a:xfrm>
            <a:off x="1609725" y="3553936"/>
            <a:ext cx="4323271"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35" kern="0" dirty="0">
                <a:solidFill>
                  <a:srgbClr val="0A0A0A"/>
                </a:solidFill>
                <a:latin typeface="Arial" pitchFamily="34" charset="0"/>
                <a:ea typeface="Arial" pitchFamily="34" charset="-122"/>
                <a:cs typeface="Arial" pitchFamily="34" charset="-120"/>
              </a:rPr>
              <a:t>Audit</a:t>
            </a:r>
            <a:endParaRPr lang="en-US" sz="5400" dirty="0"/>
          </a:p>
        </p:txBody>
      </p:sp>
      <p:sp>
        <p:nvSpPr>
          <p:cNvPr id="8" name="Text 6"/>
          <p:cNvSpPr/>
          <p:nvPr/>
        </p:nvSpPr>
        <p:spPr>
          <a:xfrm>
            <a:off x="1609725" y="4468336"/>
            <a:ext cx="4323271"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Inventory every metric in play. Classify each as activity, output, outcome, or value. Retire the first two.</a:t>
            </a:r>
            <a:endParaRPr lang="en-US" sz="1950" dirty="0"/>
          </a:p>
        </p:txBody>
      </p:sp>
      <p:sp>
        <p:nvSpPr>
          <p:cNvPr id="9" name="Shape 7"/>
          <p:cNvSpPr/>
          <p:nvPr/>
        </p:nvSpPr>
        <p:spPr>
          <a:xfrm>
            <a:off x="6578600" y="2577624"/>
            <a:ext cx="5130800" cy="3397568"/>
          </a:xfrm>
          <a:prstGeom prst="rect">
            <a:avLst/>
          </a:prstGeom>
          <a:solidFill>
            <a:srgbClr val="FAFAF7"/>
          </a:solidFill>
          <a:ln w="9525">
            <a:solidFill>
              <a:srgbClr val="D9D9D6"/>
            </a:solidFill>
            <a:prstDash val="solid"/>
          </a:ln>
        </p:spPr>
      </p:sp>
      <p:sp>
        <p:nvSpPr>
          <p:cNvPr id="10" name="Text 8"/>
          <p:cNvSpPr/>
          <p:nvPr/>
        </p:nvSpPr>
        <p:spPr>
          <a:xfrm>
            <a:off x="7045325" y="3044349"/>
            <a:ext cx="432327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0A0A0A">
                    <a:alpha val="70000"/>
                  </a:srgbClr>
                </a:solidFill>
                <a:latin typeface="Arial" pitchFamily="34" charset="0"/>
                <a:ea typeface="Arial" pitchFamily="34" charset="-122"/>
                <a:cs typeface="Arial" pitchFamily="34" charset="-120"/>
              </a:rPr>
              <a:t>DAY 30–60</a:t>
            </a:r>
            <a:endParaRPr lang="en-US" sz="1800" dirty="0"/>
          </a:p>
        </p:txBody>
      </p:sp>
      <p:sp>
        <p:nvSpPr>
          <p:cNvPr id="11" name="Text 9"/>
          <p:cNvSpPr/>
          <p:nvPr/>
        </p:nvSpPr>
        <p:spPr>
          <a:xfrm>
            <a:off x="7045325" y="3553936"/>
            <a:ext cx="4323270"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35" kern="0" dirty="0">
                <a:solidFill>
                  <a:srgbClr val="0A0A0A"/>
                </a:solidFill>
                <a:latin typeface="Arial" pitchFamily="34" charset="0"/>
                <a:ea typeface="Arial" pitchFamily="34" charset="-122"/>
                <a:cs typeface="Arial" pitchFamily="34" charset="-120"/>
              </a:rPr>
              <a:t>Instrument</a:t>
            </a:r>
            <a:endParaRPr lang="en-US" sz="5400" dirty="0"/>
          </a:p>
        </p:txBody>
      </p:sp>
      <p:sp>
        <p:nvSpPr>
          <p:cNvPr id="12" name="Text 10"/>
          <p:cNvSpPr/>
          <p:nvPr/>
        </p:nvSpPr>
        <p:spPr>
          <a:xfrm>
            <a:off x="7045325" y="4468336"/>
            <a:ext cx="4323270"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2B2B2B"/>
                </a:solidFill>
                <a:latin typeface="Arial" pitchFamily="34" charset="0"/>
                <a:ea typeface="Arial" pitchFamily="34" charset="-122"/>
                <a:cs typeface="Arial" pitchFamily="34" charset="-120"/>
              </a:rPr>
              <a:t>Stand up the three lenses. One metric per lens per team. Publish targets, not vanity numbers.</a:t>
            </a:r>
            <a:endParaRPr lang="en-US" sz="1950" dirty="0"/>
          </a:p>
        </p:txBody>
      </p:sp>
      <p:sp>
        <p:nvSpPr>
          <p:cNvPr id="13" name="Shape 11"/>
          <p:cNvSpPr/>
          <p:nvPr/>
        </p:nvSpPr>
        <p:spPr>
          <a:xfrm>
            <a:off x="12014200" y="2577624"/>
            <a:ext cx="5130800" cy="3397568"/>
          </a:xfrm>
          <a:prstGeom prst="rect">
            <a:avLst/>
          </a:prstGeom>
          <a:solidFill>
            <a:srgbClr val="001E5C"/>
          </a:solidFill>
          <a:ln/>
        </p:spPr>
      </p:sp>
      <p:sp>
        <p:nvSpPr>
          <p:cNvPr id="14" name="Text 12"/>
          <p:cNvSpPr/>
          <p:nvPr/>
        </p:nvSpPr>
        <p:spPr>
          <a:xfrm>
            <a:off x="12471400" y="3034824"/>
            <a:ext cx="4342892"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FFFFFF">
                    <a:alpha val="90000"/>
                  </a:srgbClr>
                </a:solidFill>
                <a:latin typeface="Arial" pitchFamily="34" charset="0"/>
                <a:ea typeface="Arial" pitchFamily="34" charset="-122"/>
                <a:cs typeface="Arial" pitchFamily="34" charset="-120"/>
              </a:rPr>
              <a:t>DAY 60–90</a:t>
            </a:r>
            <a:endParaRPr lang="en-US" sz="1800" dirty="0"/>
          </a:p>
        </p:txBody>
      </p:sp>
      <p:sp>
        <p:nvSpPr>
          <p:cNvPr id="15" name="Text 13"/>
          <p:cNvSpPr/>
          <p:nvPr/>
        </p:nvSpPr>
        <p:spPr>
          <a:xfrm>
            <a:off x="12471400" y="3544411"/>
            <a:ext cx="4342892" cy="723900"/>
          </a:xfrm>
          <a:prstGeom prst="rect">
            <a:avLst/>
          </a:prstGeom>
          <a:noFill/>
          <a:ln/>
        </p:spPr>
        <p:txBody>
          <a:bodyPr wrap="square" lIns="25400" tIns="25400" rIns="25400" bIns="25400" rtlCol="0" anchor="t">
            <a:normAutofit/>
          </a:bodyPr>
          <a:lstStyle/>
          <a:p>
            <a:pPr algn="l" indent="0" marL="0">
              <a:lnSpc>
                <a:spcPct val="100000"/>
              </a:lnSpc>
              <a:buNone/>
            </a:pPr>
            <a:r>
              <a:rPr lang="en-US" sz="5400" b="1" spc="-135" kern="0" dirty="0">
                <a:solidFill>
                  <a:srgbClr val="FFFFFF"/>
                </a:solidFill>
                <a:latin typeface="Arial" pitchFamily="34" charset="0"/>
                <a:ea typeface="Arial" pitchFamily="34" charset="-122"/>
                <a:cs typeface="Arial" pitchFamily="34" charset="-120"/>
              </a:rPr>
              <a:t>Recalibrate</a:t>
            </a:r>
            <a:endParaRPr lang="en-US" sz="5400" dirty="0"/>
          </a:p>
        </p:txBody>
      </p:sp>
      <p:sp>
        <p:nvSpPr>
          <p:cNvPr id="16" name="Text 14"/>
          <p:cNvSpPr/>
          <p:nvPr/>
        </p:nvSpPr>
        <p:spPr>
          <a:xfrm>
            <a:off x="12471400" y="4477861"/>
            <a:ext cx="4342892" cy="1078230"/>
          </a:xfrm>
          <a:prstGeom prst="rect">
            <a:avLst/>
          </a:prstGeom>
          <a:noFill/>
          <a:ln/>
        </p:spPr>
        <p:txBody>
          <a:bodyPr wrap="square" lIns="25400" tIns="25400" rIns="25400" bIns="25400" rtlCol="0" anchor="t">
            <a:normAutofit/>
          </a:bodyPr>
          <a:lstStyle/>
          <a:p>
            <a:pPr algn="l" indent="0" marL="0">
              <a:lnSpc>
                <a:spcPct val="140000"/>
              </a:lnSpc>
              <a:buNone/>
            </a:pPr>
            <a:r>
              <a:rPr lang="en-US" sz="1950" dirty="0">
                <a:solidFill>
                  <a:srgbClr val="FFFFFF">
                    <a:alpha val="90000"/>
                  </a:srgbClr>
                </a:solidFill>
                <a:latin typeface="Arial" pitchFamily="34" charset="0"/>
                <a:ea typeface="Arial" pitchFamily="34" charset="-122"/>
                <a:cs typeface="Arial" pitchFamily="34" charset="-120"/>
              </a:rPr>
              <a:t>Review with pod leads. Kill what does not change behavior. Commit to the remaining set for two quarters.</a:t>
            </a:r>
            <a:endParaRPr lang="en-US" sz="1950" dirty="0"/>
          </a:p>
        </p:txBody>
      </p:sp>
      <p:sp>
        <p:nvSpPr>
          <p:cNvPr id="17" name="Shape 15"/>
          <p:cNvSpPr/>
          <p:nvPr/>
        </p:nvSpPr>
        <p:spPr>
          <a:xfrm>
            <a:off x="1143000" y="6084729"/>
            <a:ext cx="16002000" cy="9525"/>
          </a:xfrm>
          <a:prstGeom prst="rect">
            <a:avLst/>
          </a:prstGeom>
          <a:solidFill>
            <a:srgbClr val="D9D9D6"/>
          </a:solidFill>
          <a:ln/>
        </p:spPr>
      </p:sp>
      <p:sp>
        <p:nvSpPr>
          <p:cNvPr id="18" name="Text 16"/>
          <p:cNvSpPr/>
          <p:nvPr/>
        </p:nvSpPr>
        <p:spPr>
          <a:xfrm>
            <a:off x="1143000" y="6265704"/>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19" name="Text 17"/>
          <p:cNvSpPr/>
          <p:nvPr/>
        </p:nvSpPr>
        <p:spPr>
          <a:xfrm>
            <a:off x="9467850" y="6265704"/>
            <a:ext cx="1319847"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CLOSING</a:t>
            </a:r>
            <a:endParaRPr lang="en-US" sz="1800" dirty="0"/>
          </a:p>
        </p:txBody>
      </p:sp>
      <p:sp>
        <p:nvSpPr>
          <p:cNvPr id="20" name="Text 18"/>
          <p:cNvSpPr/>
          <p:nvPr/>
        </p:nvSpPr>
        <p:spPr>
          <a:xfrm>
            <a:off x="16158051" y="6265704"/>
            <a:ext cx="1063149"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27 / 28</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8288000" cy="10081260"/>
          </a:xfrm>
          <a:prstGeom prst="rect">
            <a:avLst/>
          </a:prstGeom>
          <a:solidFill>
            <a:srgbClr val="FFFFFF"/>
          </a:solidFill>
          <a:ln/>
        </p:spPr>
      </p:sp>
      <p:sp>
        <p:nvSpPr>
          <p:cNvPr id="3" name="Text 1"/>
          <p:cNvSpPr/>
          <p:nvPr/>
        </p:nvSpPr>
        <p:spPr>
          <a:xfrm>
            <a:off x="1143000" y="952500"/>
            <a:ext cx="15697200" cy="319088"/>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001E5C"/>
                </a:solidFill>
                <a:latin typeface="Arial" pitchFamily="34" charset="0"/>
                <a:ea typeface="Arial" pitchFamily="34" charset="-122"/>
                <a:cs typeface="Arial" pitchFamily="34" charset="-120"/>
              </a:rPr>
              <a:t>CLOSING OBSERVATION</a:t>
            </a:r>
            <a:endParaRPr lang="en-US" sz="1800" dirty="0"/>
          </a:p>
        </p:txBody>
      </p:sp>
      <p:sp>
        <p:nvSpPr>
          <p:cNvPr id="4" name="Text 2"/>
          <p:cNvSpPr/>
          <p:nvPr/>
        </p:nvSpPr>
        <p:spPr>
          <a:xfrm>
            <a:off x="1143000" y="1614488"/>
            <a:ext cx="15697200" cy="4975860"/>
          </a:xfrm>
          <a:prstGeom prst="rect">
            <a:avLst/>
          </a:prstGeom>
          <a:noFill/>
          <a:ln/>
        </p:spPr>
        <p:txBody>
          <a:bodyPr wrap="square" lIns="25400" tIns="25400" rIns="25400" bIns="25400" rtlCol="0" anchor="t">
            <a:normAutofit/>
          </a:bodyPr>
          <a:lstStyle/>
          <a:p>
            <a:pPr algn="l" indent="0" marL="0">
              <a:lnSpc>
                <a:spcPct val="108000"/>
              </a:lnSpc>
              <a:buNone/>
            </a:pPr>
            <a:r>
              <a:rPr lang="en-US" sz="9000" b="1" spc="-135" kern="0" dirty="0">
                <a:solidFill>
                  <a:srgbClr val="0A0A0A"/>
                </a:solidFill>
                <a:latin typeface="Arial" pitchFamily="34" charset="0"/>
                <a:ea typeface="Arial" pitchFamily="34" charset="-122"/>
                <a:cs typeface="Arial" pitchFamily="34" charset="-120"/>
              </a:rPr>
              <a:t>Velocity decays. Trust, quality, and customer value compound. Measure for what compounds.</a:t>
            </a:r>
            <a:endParaRPr lang="en-US" sz="9000" dirty="0"/>
          </a:p>
        </p:txBody>
      </p:sp>
      <p:sp>
        <p:nvSpPr>
          <p:cNvPr id="5" name="Text 3"/>
          <p:cNvSpPr/>
          <p:nvPr/>
        </p:nvSpPr>
        <p:spPr>
          <a:xfrm>
            <a:off x="1143000" y="7009448"/>
            <a:ext cx="11772900" cy="838200"/>
          </a:xfrm>
          <a:prstGeom prst="rect">
            <a:avLst/>
          </a:prstGeom>
          <a:noFill/>
          <a:ln/>
        </p:spPr>
        <p:txBody>
          <a:bodyPr wrap="square" lIns="25400" tIns="25400" rIns="25400" bIns="25400" rtlCol="0" anchor="t">
            <a:normAutofit/>
          </a:bodyPr>
          <a:lstStyle/>
          <a:p>
            <a:pPr algn="l" indent="0" marL="0">
              <a:lnSpc>
                <a:spcPct val="140000"/>
              </a:lnSpc>
              <a:buNone/>
            </a:pPr>
            <a:r>
              <a:rPr lang="en-US" sz="2250" dirty="0">
                <a:solidFill>
                  <a:srgbClr val="2B2B2B"/>
                </a:solidFill>
                <a:latin typeface="Arial" pitchFamily="34" charset="0"/>
                <a:ea typeface="Arial" pitchFamily="34" charset="-122"/>
                <a:cs typeface="Arial" pitchFamily="34" charset="-120"/>
              </a:rPr>
              <a:t>The managers who thrive in the AI era pick the compounding metrics — and defend them from the quarterly pressure to ship more.</a:t>
            </a:r>
            <a:endParaRPr lang="en-US" sz="2250" dirty="0"/>
          </a:p>
        </p:txBody>
      </p:sp>
      <p:sp>
        <p:nvSpPr>
          <p:cNvPr id="6" name="Shape 4"/>
          <p:cNvSpPr/>
          <p:nvPr/>
        </p:nvSpPr>
        <p:spPr>
          <a:xfrm>
            <a:off x="1143000" y="8571548"/>
            <a:ext cx="15240000" cy="9525"/>
          </a:xfrm>
          <a:prstGeom prst="rect">
            <a:avLst/>
          </a:prstGeom>
          <a:solidFill>
            <a:srgbClr val="D9D9D6"/>
          </a:solidFill>
          <a:ln/>
        </p:spPr>
      </p:sp>
      <p:sp>
        <p:nvSpPr>
          <p:cNvPr id="7" name="Text 5"/>
          <p:cNvSpPr/>
          <p:nvPr/>
        </p:nvSpPr>
        <p:spPr>
          <a:xfrm>
            <a:off x="1143000" y="8847773"/>
            <a:ext cx="1742599"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THANK YOU</a:t>
            </a:r>
            <a:endParaRPr lang="en-US" sz="1800" dirty="0"/>
          </a:p>
        </p:txBody>
      </p:sp>
      <p:sp>
        <p:nvSpPr>
          <p:cNvPr id="8" name="Text 6"/>
          <p:cNvSpPr/>
          <p:nvPr/>
        </p:nvSpPr>
        <p:spPr>
          <a:xfrm>
            <a:off x="12643961" y="8847773"/>
            <a:ext cx="3851210" cy="319088"/>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6B6B6B"/>
                </a:solidFill>
                <a:latin typeface="Arial" pitchFamily="34" charset="0"/>
                <a:ea typeface="Arial" pitchFamily="34" charset="-122"/>
                <a:cs typeface="Arial" pitchFamily="34" charset="-120"/>
              </a:rPr>
              <a:t>QUESTIONS &amp; DISCUSSION</a:t>
            </a:r>
            <a:endParaRPr lang="en-US" sz="1800" dirty="0"/>
          </a:p>
        </p:txBody>
      </p:sp>
      <p:sp>
        <p:nvSpPr>
          <p:cNvPr id="9" name="Shape 7"/>
          <p:cNvSpPr/>
          <p:nvPr/>
        </p:nvSpPr>
        <p:spPr>
          <a:xfrm>
            <a:off x="1143000" y="9238298"/>
            <a:ext cx="16002000" cy="9525"/>
          </a:xfrm>
          <a:prstGeom prst="rect">
            <a:avLst/>
          </a:prstGeom>
          <a:solidFill>
            <a:srgbClr val="D9D9D6"/>
          </a:solidFill>
          <a:ln/>
        </p:spPr>
      </p:sp>
      <p:sp>
        <p:nvSpPr>
          <p:cNvPr id="10" name="Text 8"/>
          <p:cNvSpPr/>
          <p:nvPr/>
        </p:nvSpPr>
        <p:spPr>
          <a:xfrm>
            <a:off x="1143000" y="9419273"/>
            <a:ext cx="296464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AI OUTLOOK — 2026</a:t>
            </a:r>
            <a:endParaRPr lang="en-US" sz="1800" dirty="0"/>
          </a:p>
        </p:txBody>
      </p:sp>
      <p:sp>
        <p:nvSpPr>
          <p:cNvPr id="11" name="Text 9"/>
          <p:cNvSpPr/>
          <p:nvPr/>
        </p:nvSpPr>
        <p:spPr>
          <a:xfrm>
            <a:off x="9627394" y="9419273"/>
            <a:ext cx="987584"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CLOSE</a:t>
            </a:r>
            <a:endParaRPr lang="en-US" sz="1800" dirty="0"/>
          </a:p>
        </p:txBody>
      </p:sp>
      <p:sp>
        <p:nvSpPr>
          <p:cNvPr id="12" name="Text 10"/>
          <p:cNvSpPr/>
          <p:nvPr/>
        </p:nvSpPr>
        <p:spPr>
          <a:xfrm>
            <a:off x="16144875" y="9419273"/>
            <a:ext cx="1076325" cy="319088"/>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6B6B6B"/>
                </a:solidFill>
                <a:latin typeface="Arial" pitchFamily="34" charset="0"/>
                <a:ea typeface="Arial" pitchFamily="34" charset="-122"/>
                <a:cs typeface="Arial" pitchFamily="34" charset="-120"/>
              </a:rPr>
              <a:t>28 / 28</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2026-04-25T18:35:20Z</dcterms:created>
  <dcterms:modified xsi:type="dcterms:W3CDTF">2026-04-25T18:35:20Z</dcterms:modified>
</cp:coreProperties>
</file>